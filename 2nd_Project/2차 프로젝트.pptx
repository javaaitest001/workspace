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7" r:id="rId3"/>
    <p:sldId id="273" r:id="rId4"/>
    <p:sldId id="268" r:id="rId5"/>
    <p:sldId id="272" r:id="rId6"/>
    <p:sldId id="278" r:id="rId7"/>
    <p:sldId id="274" r:id="rId8"/>
    <p:sldId id="275" r:id="rId9"/>
    <p:sldId id="276" r:id="rId10"/>
    <p:sldId id="277" r:id="rId11"/>
    <p:sldId id="270" r:id="rId12"/>
    <p:sldId id="304" r:id="rId13"/>
    <p:sldId id="305" r:id="rId14"/>
    <p:sldId id="306" r:id="rId15"/>
    <p:sldId id="315" r:id="rId16"/>
    <p:sldId id="316" r:id="rId17"/>
    <p:sldId id="307" r:id="rId18"/>
    <p:sldId id="308" r:id="rId19"/>
    <p:sldId id="309" r:id="rId20"/>
    <p:sldId id="323" r:id="rId21"/>
    <p:sldId id="310" r:id="rId22"/>
    <p:sldId id="325" r:id="rId23"/>
    <p:sldId id="311" r:id="rId24"/>
    <p:sldId id="324" r:id="rId25"/>
    <p:sldId id="322" r:id="rId26"/>
    <p:sldId id="313" r:id="rId27"/>
    <p:sldId id="326" r:id="rId28"/>
    <p:sldId id="280" r:id="rId29"/>
    <p:sldId id="282" r:id="rId30"/>
    <p:sldId id="342" r:id="rId31"/>
    <p:sldId id="303" r:id="rId32"/>
    <p:sldId id="285" r:id="rId33"/>
    <p:sldId id="286" r:id="rId34"/>
    <p:sldId id="283" r:id="rId35"/>
    <p:sldId id="292" r:id="rId36"/>
    <p:sldId id="291" r:id="rId37"/>
    <p:sldId id="287" r:id="rId38"/>
    <p:sldId id="288" r:id="rId39"/>
    <p:sldId id="289" r:id="rId40"/>
    <p:sldId id="290" r:id="rId41"/>
    <p:sldId id="293" r:id="rId42"/>
    <p:sldId id="295" r:id="rId43"/>
    <p:sldId id="294" r:id="rId44"/>
    <p:sldId id="296" r:id="rId45"/>
    <p:sldId id="297" r:id="rId46"/>
    <p:sldId id="299" r:id="rId47"/>
    <p:sldId id="300" r:id="rId48"/>
    <p:sldId id="314" r:id="rId49"/>
    <p:sldId id="320" r:id="rId50"/>
    <p:sldId id="337" r:id="rId51"/>
    <p:sldId id="338" r:id="rId52"/>
    <p:sldId id="317" r:id="rId53"/>
    <p:sldId id="318" r:id="rId54"/>
    <p:sldId id="327" r:id="rId55"/>
    <p:sldId id="328" r:id="rId56"/>
    <p:sldId id="321" r:id="rId57"/>
    <p:sldId id="329" r:id="rId58"/>
    <p:sldId id="339" r:id="rId59"/>
    <p:sldId id="330" r:id="rId60"/>
    <p:sldId id="340" r:id="rId61"/>
    <p:sldId id="341" r:id="rId62"/>
    <p:sldId id="331" r:id="rId63"/>
    <p:sldId id="332" r:id="rId64"/>
    <p:sldId id="345" r:id="rId65"/>
    <p:sldId id="334" r:id="rId66"/>
    <p:sldId id="343" r:id="rId67"/>
    <p:sldId id="344" r:id="rId68"/>
    <p:sldId id="347" r:id="rId69"/>
    <p:sldId id="346" r:id="rId70"/>
    <p:sldId id="348" r:id="rId71"/>
    <p:sldId id="319" r:id="rId7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DF"/>
    <a:srgbClr val="FFB1B1"/>
    <a:srgbClr val="FFFFE1"/>
    <a:srgbClr val="FFFFFF"/>
    <a:srgbClr val="BAC8D3"/>
    <a:srgbClr val="292929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16" autoAdjust="0"/>
    <p:restoredTop sz="94718" autoAdjust="0"/>
  </p:normalViewPr>
  <p:slideViewPr>
    <p:cSldViewPr snapToGrid="0">
      <p:cViewPr varScale="1">
        <p:scale>
          <a:sx n="105" d="100"/>
          <a:sy n="105" d="100"/>
        </p:scale>
        <p:origin x="138" y="3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37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625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78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528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476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69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878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147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002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462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87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2025-11-03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27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9942031E-7F54-7286-C878-2A2107327ABD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dirty="0" err="1">
                <a:solidFill>
                  <a:prstClr val="white"/>
                </a:solidFill>
                <a:ea typeface="Tmon몬소리 Black" panose="02000A03000000000000"/>
              </a:rPr>
              <a:t>피부피부씰</a:t>
            </a:r>
            <a:r>
              <a:rPr lang="en-US" altLang="ko-KR" sz="2400" b="1" dirty="0">
                <a:solidFill>
                  <a:prstClr val="white"/>
                </a:solidFill>
                <a:ea typeface="Tmon몬소리 Black" panose="02000A03000000000000"/>
              </a:rPr>
              <a:t>(</a:t>
            </a:r>
            <a:r>
              <a:rPr lang="en-US" altLang="ko-KR" sz="2400" b="1" dirty="0" err="1">
                <a:solidFill>
                  <a:prstClr val="white"/>
                </a:solidFill>
                <a:ea typeface="Tmon몬소리 Black" panose="02000A03000000000000"/>
              </a:rPr>
              <a:t>SkinSeal</a:t>
            </a:r>
            <a:r>
              <a:rPr lang="en-US" altLang="ko-KR" sz="2400" b="1" dirty="0">
                <a:solidFill>
                  <a:prstClr val="white"/>
                </a:solidFill>
                <a:ea typeface="Tmon몬소리 Black" panose="02000A03000000000000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D81842-B8D0-6DA5-C018-0CABC652CA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297" y="1022548"/>
            <a:ext cx="5593404" cy="5593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277018-0900-5D44-B2AE-3ED7B5D486BE}"/>
              </a:ext>
            </a:extLst>
          </p:cNvPr>
          <p:cNvSpPr txBox="1"/>
          <p:nvPr/>
        </p:nvSpPr>
        <p:spPr>
          <a:xfrm>
            <a:off x="2066420" y="2949858"/>
            <a:ext cx="80591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1524000" algn="l"/>
                <a:tab pos="2419350" algn="l"/>
              </a:tabLst>
              <a:defRPr/>
            </a:pPr>
            <a:r>
              <a:rPr lang="en-US" altLang="ko-KR" sz="6000" b="1" kern="0" dirty="0">
                <a:ln w="15875">
                  <a:noFill/>
                </a:ln>
                <a:solidFill>
                  <a:srgbClr val="99CC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AI</a:t>
            </a:r>
            <a:r>
              <a:rPr lang="ko-KR" altLang="en-US" sz="6000" b="1" kern="0" dirty="0">
                <a:ln w="15875">
                  <a:noFill/>
                </a:ln>
                <a:solidFill>
                  <a:srgbClr val="99CC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를 이용한</a:t>
            </a:r>
            <a:endParaRPr lang="en-US" altLang="ko-KR" sz="6000" b="1" kern="0" dirty="0">
              <a:ln w="15875">
                <a:noFill/>
              </a:ln>
              <a:solidFill>
                <a:srgbClr val="99CCFF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  <a:p>
            <a:pPr algn="ctr">
              <a:tabLst>
                <a:tab pos="1524000" algn="l"/>
                <a:tab pos="2419350" algn="l"/>
              </a:tabLst>
              <a:defRPr/>
            </a:pPr>
            <a:r>
              <a:rPr lang="ko-KR" altLang="en-US" sz="6000" b="1" kern="0" dirty="0">
                <a:ln w="15875">
                  <a:noFill/>
                </a:ln>
                <a:solidFill>
                  <a:srgbClr val="99CC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피부질환 판독</a:t>
            </a:r>
            <a:endParaRPr lang="en-US" altLang="ko-KR" sz="6000" b="1" kern="0" dirty="0">
              <a:ln w="15875">
                <a:noFill/>
              </a:ln>
              <a:solidFill>
                <a:srgbClr val="99CCFF"/>
              </a:solidFill>
              <a:latin typeface="Tmon몬소리 Black" panose="02000A03000000000000" pitchFamily="2" charset="-127"/>
              <a:ea typeface="Tmon몬소리 Black" panose="02000A03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7295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996F7-32E4-F285-9C5D-DC6D3CFC5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위쪽 모서리 1">
            <a:extLst>
              <a:ext uri="{FF2B5EF4-FFF2-40B4-BE49-F238E27FC236}">
                <a16:creationId xmlns:a16="http://schemas.microsoft.com/office/drawing/2014/main" id="{5D656331-C61E-B65F-CAB6-854B4B2A838B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en-US" altLang="ko-KR" sz="2400" b="1" dirty="0">
                <a:solidFill>
                  <a:prstClr val="white"/>
                </a:solidFill>
                <a:ea typeface="Tmon몬소리 Black" panose="02000A03000000000000"/>
              </a:rPr>
              <a:t> CONTENTS </a:t>
            </a:r>
            <a:endParaRPr lang="ko-KR" altLang="en-US" sz="2000" dirty="0">
              <a:solidFill>
                <a:prstClr val="white"/>
              </a:solidFill>
              <a:ea typeface="Tmon몬소리 Black" panose="02000A03000000000000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5E104071-7EF2-0DCE-5F86-5DC1B87BC97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6AFB7D1-0BEF-0000-9140-C3D8FEBA9D6B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C0F96DD8-2DF8-EA68-48BB-9602DB646DD8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B68F56B-C036-BDFE-613E-0521D8BE8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12E81C8E-AB64-C595-B34F-6262A742CDD1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6CF2DE99-3F67-5623-4AFE-4F60CEA506C5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673D0E2-EB05-4198-2CF2-850D4DC5409B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6591234-63A9-4672-9F62-CBB6C86C240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29C5972C-F7E5-487C-771C-EE1D12FA51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6D84A475-CEFE-EB35-6545-F35B5685E8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B8E9F710-78B0-A638-35C4-F4CEDD3C77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48A367F3-7D1B-A714-A613-24454C6A32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B0B27AA7-0A3B-D747-0EEE-66F7DAD923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50AA519F-F7A7-7D0A-3D68-CF2CF7109D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6A3509EE-893E-F761-C996-00F21B6B54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72F5B549-A020-2B6B-C063-6EF247C61EE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3816FE56-E8FD-9335-0D5D-42E70152A974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6A6B4F3-AEB8-04FF-07AE-8C31AC7DBC33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75D778C7-18F3-D831-D51D-693ABD57BE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48DD786-F78E-B5CA-4BDC-69E6BA4CF75F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35" name="모서리가 둥근 직사각형 10">
            <a:extLst>
              <a:ext uri="{FF2B5EF4-FFF2-40B4-BE49-F238E27FC236}">
                <a16:creationId xmlns:a16="http://schemas.microsoft.com/office/drawing/2014/main" id="{1EAF6526-F4CA-59B4-C74D-3E7B5936239E}"/>
              </a:ext>
            </a:extLst>
          </p:cNvPr>
          <p:cNvSpPr/>
          <p:nvPr/>
        </p:nvSpPr>
        <p:spPr>
          <a:xfrm>
            <a:off x="1374610" y="3467872"/>
            <a:ext cx="1323935" cy="372052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1400" b="1" dirty="0">
                <a:solidFill>
                  <a:prstClr val="white"/>
                </a:solidFill>
              </a:rPr>
              <a:t>CONTENTS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C6AFC15-EED6-E86D-97B3-F836B92D70C2}"/>
              </a:ext>
            </a:extLst>
          </p:cNvPr>
          <p:cNvSpPr/>
          <p:nvPr/>
        </p:nvSpPr>
        <p:spPr>
          <a:xfrm>
            <a:off x="789634" y="3995889"/>
            <a:ext cx="2521142" cy="1054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프로젝트</a:t>
            </a:r>
            <a:endParaRPr lang="en-US" altLang="ko-KR" sz="25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defRPr/>
            </a:pPr>
            <a:r>
              <a:rPr lang="ko-KR" altLang="en-US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개요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6A9C88D-5290-CFE1-E267-9D10DE31A5CC}"/>
              </a:ext>
            </a:extLst>
          </p:cNvPr>
          <p:cNvSpPr/>
          <p:nvPr/>
        </p:nvSpPr>
        <p:spPr>
          <a:xfrm>
            <a:off x="3612210" y="4092070"/>
            <a:ext cx="252114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프로젝트</a:t>
            </a:r>
            <a:endParaRPr lang="en-US" altLang="ko-KR" sz="25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defRPr/>
            </a:pPr>
            <a:r>
              <a:rPr lang="ko-KR" altLang="en-US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설계도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8A3DD5C-9E8D-E7E8-B067-77C26874ADB9}"/>
              </a:ext>
            </a:extLst>
          </p:cNvPr>
          <p:cNvSpPr/>
          <p:nvPr/>
        </p:nvSpPr>
        <p:spPr>
          <a:xfrm>
            <a:off x="6397434" y="4099122"/>
            <a:ext cx="252114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프로젝트</a:t>
            </a:r>
            <a:endParaRPr lang="en-US" altLang="ko-KR" sz="25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defRPr/>
            </a:pPr>
            <a:r>
              <a:rPr lang="ko-KR" altLang="en-US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계획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E7C3726-1E27-CE72-D6BB-0AD7FD510955}"/>
              </a:ext>
            </a:extLst>
          </p:cNvPr>
          <p:cNvSpPr/>
          <p:nvPr/>
        </p:nvSpPr>
        <p:spPr>
          <a:xfrm>
            <a:off x="9040004" y="4099122"/>
            <a:ext cx="252114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프로젝트</a:t>
            </a:r>
            <a:endParaRPr lang="en-US" altLang="ko-KR" sz="25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defRPr/>
            </a:pPr>
            <a:r>
              <a:rPr lang="ko-KR" altLang="en-US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구현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F7C9BF2-9466-C0A8-2A6A-5E398DFE0B99}"/>
              </a:ext>
            </a:extLst>
          </p:cNvPr>
          <p:cNvGrpSpPr/>
          <p:nvPr/>
        </p:nvGrpSpPr>
        <p:grpSpPr>
          <a:xfrm>
            <a:off x="1578567" y="5313947"/>
            <a:ext cx="990664" cy="180097"/>
            <a:chOff x="1553985" y="5313947"/>
            <a:chExt cx="990664" cy="180097"/>
          </a:xfrm>
        </p:grpSpPr>
        <p:sp>
          <p:nvSpPr>
            <p:cNvPr id="44" name="모서리가 둥근 직사각형 10">
              <a:extLst>
                <a:ext uri="{FF2B5EF4-FFF2-40B4-BE49-F238E27FC236}">
                  <a16:creationId xmlns:a16="http://schemas.microsoft.com/office/drawing/2014/main" id="{CEF3674C-4534-2CBC-868B-085E485B3513}"/>
                </a:ext>
              </a:extLst>
            </p:cNvPr>
            <p:cNvSpPr/>
            <p:nvPr/>
          </p:nvSpPr>
          <p:spPr>
            <a:xfrm>
              <a:off x="1553985" y="5313947"/>
              <a:ext cx="180000" cy="180000"/>
            </a:xfrm>
            <a:prstGeom prst="ellipse">
              <a:avLst/>
            </a:prstGeom>
            <a:solidFill>
              <a:srgbClr val="99CCFF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ko-KR" sz="1050" b="1" dirty="0">
                <a:solidFill>
                  <a:prstClr val="white"/>
                </a:solidFill>
              </a:endParaRPr>
            </a:p>
          </p:txBody>
        </p:sp>
        <p:sp>
          <p:nvSpPr>
            <p:cNvPr id="4" name="모서리가 둥근 직사각형 10">
              <a:extLst>
                <a:ext uri="{FF2B5EF4-FFF2-40B4-BE49-F238E27FC236}">
                  <a16:creationId xmlns:a16="http://schemas.microsoft.com/office/drawing/2014/main" id="{13E9A6AC-3325-1A12-193C-D0A225CE5E8A}"/>
                </a:ext>
              </a:extLst>
            </p:cNvPr>
            <p:cNvSpPr/>
            <p:nvPr/>
          </p:nvSpPr>
          <p:spPr>
            <a:xfrm>
              <a:off x="2364649" y="5314044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ko-KR" sz="1050" b="1" dirty="0">
                <a:solidFill>
                  <a:prstClr val="white"/>
                </a:solidFill>
              </a:endParaRPr>
            </a:p>
          </p:txBody>
        </p:sp>
        <p:sp>
          <p:nvSpPr>
            <p:cNvPr id="71" name="모서리가 둥근 직사각형 10">
              <a:extLst>
                <a:ext uri="{FF2B5EF4-FFF2-40B4-BE49-F238E27FC236}">
                  <a16:creationId xmlns:a16="http://schemas.microsoft.com/office/drawing/2014/main" id="{68E41616-DEB7-67DC-7372-A244147104E4}"/>
                </a:ext>
              </a:extLst>
            </p:cNvPr>
            <p:cNvSpPr/>
            <p:nvPr/>
          </p:nvSpPr>
          <p:spPr>
            <a:xfrm>
              <a:off x="1822037" y="5313947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ko-KR" sz="1050" b="1" dirty="0">
                <a:solidFill>
                  <a:prstClr val="white"/>
                </a:solidFill>
              </a:endParaRPr>
            </a:p>
          </p:txBody>
        </p:sp>
        <p:sp>
          <p:nvSpPr>
            <p:cNvPr id="72" name="모서리가 둥근 직사각형 10">
              <a:extLst>
                <a:ext uri="{FF2B5EF4-FFF2-40B4-BE49-F238E27FC236}">
                  <a16:creationId xmlns:a16="http://schemas.microsoft.com/office/drawing/2014/main" id="{7F321EDE-0C58-C635-E2CC-F2BF4F7899E3}"/>
                </a:ext>
              </a:extLst>
            </p:cNvPr>
            <p:cNvSpPr/>
            <p:nvPr/>
          </p:nvSpPr>
          <p:spPr>
            <a:xfrm>
              <a:off x="2093343" y="5313947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ko-KR" sz="1050" b="1" dirty="0">
                <a:solidFill>
                  <a:prstClr val="white"/>
                </a:solidFill>
              </a:endParaRPr>
            </a:p>
          </p:txBody>
        </p:sp>
      </p:grpSp>
      <p:sp>
        <p:nvSpPr>
          <p:cNvPr id="73" name="모서리가 둥근 직사각형 10">
            <a:extLst>
              <a:ext uri="{FF2B5EF4-FFF2-40B4-BE49-F238E27FC236}">
                <a16:creationId xmlns:a16="http://schemas.microsoft.com/office/drawing/2014/main" id="{4D8BCFFA-5BC0-145F-1095-53334B0A4EA8}"/>
              </a:ext>
            </a:extLst>
          </p:cNvPr>
          <p:cNvSpPr/>
          <p:nvPr/>
        </p:nvSpPr>
        <p:spPr>
          <a:xfrm>
            <a:off x="4176926" y="3481013"/>
            <a:ext cx="1323935" cy="372052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1400" b="1" dirty="0">
                <a:solidFill>
                  <a:prstClr val="white"/>
                </a:solidFill>
              </a:rPr>
              <a:t>CONTENTS</a:t>
            </a:r>
          </a:p>
        </p:txBody>
      </p:sp>
      <p:sp>
        <p:nvSpPr>
          <p:cNvPr id="78" name="모서리가 둥근 직사각형 10">
            <a:extLst>
              <a:ext uri="{FF2B5EF4-FFF2-40B4-BE49-F238E27FC236}">
                <a16:creationId xmlns:a16="http://schemas.microsoft.com/office/drawing/2014/main" id="{0C7541FC-9642-4302-66C5-86875512E121}"/>
              </a:ext>
            </a:extLst>
          </p:cNvPr>
          <p:cNvSpPr/>
          <p:nvPr/>
        </p:nvSpPr>
        <p:spPr>
          <a:xfrm>
            <a:off x="6979789" y="3489485"/>
            <a:ext cx="1323935" cy="372052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1400" b="1" dirty="0">
                <a:solidFill>
                  <a:prstClr val="white"/>
                </a:solidFill>
              </a:rPr>
              <a:t>CONTENTS</a:t>
            </a:r>
          </a:p>
        </p:txBody>
      </p:sp>
      <p:sp>
        <p:nvSpPr>
          <p:cNvPr id="79" name="모서리가 둥근 직사각형 10">
            <a:extLst>
              <a:ext uri="{FF2B5EF4-FFF2-40B4-BE49-F238E27FC236}">
                <a16:creationId xmlns:a16="http://schemas.microsoft.com/office/drawing/2014/main" id="{0459A1CA-1C92-3B70-606D-AB744E254347}"/>
              </a:ext>
            </a:extLst>
          </p:cNvPr>
          <p:cNvSpPr/>
          <p:nvPr/>
        </p:nvSpPr>
        <p:spPr>
          <a:xfrm>
            <a:off x="9630203" y="3513273"/>
            <a:ext cx="1323935" cy="372052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1400" b="1" dirty="0">
                <a:solidFill>
                  <a:prstClr val="white"/>
                </a:solidFill>
              </a:rPr>
              <a:t>CONTENTS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7CFEC88-E146-2085-6122-CD93FAE345DF}"/>
              </a:ext>
            </a:extLst>
          </p:cNvPr>
          <p:cNvGrpSpPr/>
          <p:nvPr/>
        </p:nvGrpSpPr>
        <p:grpSpPr>
          <a:xfrm>
            <a:off x="4376396" y="5313947"/>
            <a:ext cx="992769" cy="180000"/>
            <a:chOff x="4308966" y="5313947"/>
            <a:chExt cx="992769" cy="180000"/>
          </a:xfrm>
        </p:grpSpPr>
        <p:sp>
          <p:nvSpPr>
            <p:cNvPr id="3" name="모서리가 둥근 직사각형 10">
              <a:extLst>
                <a:ext uri="{FF2B5EF4-FFF2-40B4-BE49-F238E27FC236}">
                  <a16:creationId xmlns:a16="http://schemas.microsoft.com/office/drawing/2014/main" id="{3923CA43-887F-8F73-02F0-685922898506}"/>
                </a:ext>
              </a:extLst>
            </p:cNvPr>
            <p:cNvSpPr/>
            <p:nvPr/>
          </p:nvSpPr>
          <p:spPr>
            <a:xfrm>
              <a:off x="4308966" y="5313947"/>
              <a:ext cx="180000" cy="180000"/>
            </a:xfrm>
            <a:prstGeom prst="ellipse">
              <a:avLst/>
            </a:prstGeom>
            <a:solidFill>
              <a:srgbClr val="99CCFF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ko-KR" sz="1050" b="1" dirty="0">
                <a:solidFill>
                  <a:prstClr val="white"/>
                </a:solidFill>
              </a:endParaRPr>
            </a:p>
          </p:txBody>
        </p:sp>
        <p:sp>
          <p:nvSpPr>
            <p:cNvPr id="5" name="모서리가 둥근 직사각형 10">
              <a:extLst>
                <a:ext uri="{FF2B5EF4-FFF2-40B4-BE49-F238E27FC236}">
                  <a16:creationId xmlns:a16="http://schemas.microsoft.com/office/drawing/2014/main" id="{5E7861FF-6DB4-7D5E-1E3E-013A05E67A05}"/>
                </a:ext>
              </a:extLst>
            </p:cNvPr>
            <p:cNvSpPr/>
            <p:nvPr/>
          </p:nvSpPr>
          <p:spPr>
            <a:xfrm>
              <a:off x="5121735" y="5313947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ko-KR" sz="1050" b="1" dirty="0">
                <a:solidFill>
                  <a:prstClr val="white"/>
                </a:solidFill>
              </a:endParaRPr>
            </a:p>
          </p:txBody>
        </p:sp>
        <p:sp>
          <p:nvSpPr>
            <p:cNvPr id="10" name="모서리가 둥근 직사각형 10">
              <a:extLst>
                <a:ext uri="{FF2B5EF4-FFF2-40B4-BE49-F238E27FC236}">
                  <a16:creationId xmlns:a16="http://schemas.microsoft.com/office/drawing/2014/main" id="{9E2FAB7A-2C0A-62DD-DCF6-5B0D306A0334}"/>
                </a:ext>
              </a:extLst>
            </p:cNvPr>
            <p:cNvSpPr/>
            <p:nvPr/>
          </p:nvSpPr>
          <p:spPr>
            <a:xfrm>
              <a:off x="4848324" y="5313947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ko-KR" sz="1050" b="1" dirty="0">
                <a:solidFill>
                  <a:prstClr val="white"/>
                </a:solidFill>
              </a:endParaRPr>
            </a:p>
          </p:txBody>
        </p:sp>
        <p:sp>
          <p:nvSpPr>
            <p:cNvPr id="11" name="모서리가 둥근 직사각형 10">
              <a:extLst>
                <a:ext uri="{FF2B5EF4-FFF2-40B4-BE49-F238E27FC236}">
                  <a16:creationId xmlns:a16="http://schemas.microsoft.com/office/drawing/2014/main" id="{D976F30C-F108-89C0-0904-D6E200F9ABCA}"/>
                </a:ext>
              </a:extLst>
            </p:cNvPr>
            <p:cNvSpPr/>
            <p:nvPr/>
          </p:nvSpPr>
          <p:spPr>
            <a:xfrm>
              <a:off x="4575820" y="5313947"/>
              <a:ext cx="180000" cy="180000"/>
            </a:xfrm>
            <a:prstGeom prst="ellipse">
              <a:avLst/>
            </a:prstGeom>
            <a:solidFill>
              <a:srgbClr val="99CCFF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ko-KR" sz="1050" b="1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FB0FE55-28B4-05FD-D5A7-67B858933961}"/>
              </a:ext>
            </a:extLst>
          </p:cNvPr>
          <p:cNvGrpSpPr/>
          <p:nvPr/>
        </p:nvGrpSpPr>
        <p:grpSpPr>
          <a:xfrm>
            <a:off x="7170246" y="5313947"/>
            <a:ext cx="992769" cy="180000"/>
            <a:chOff x="7209662" y="5313947"/>
            <a:chExt cx="992769" cy="180000"/>
          </a:xfrm>
        </p:grpSpPr>
        <p:sp>
          <p:nvSpPr>
            <p:cNvPr id="12" name="모서리가 둥근 직사각형 10">
              <a:extLst>
                <a:ext uri="{FF2B5EF4-FFF2-40B4-BE49-F238E27FC236}">
                  <a16:creationId xmlns:a16="http://schemas.microsoft.com/office/drawing/2014/main" id="{DB28B276-581B-5876-3016-4D8A03182EC1}"/>
                </a:ext>
              </a:extLst>
            </p:cNvPr>
            <p:cNvSpPr/>
            <p:nvPr/>
          </p:nvSpPr>
          <p:spPr>
            <a:xfrm>
              <a:off x="7209662" y="5313947"/>
              <a:ext cx="180000" cy="180000"/>
            </a:xfrm>
            <a:prstGeom prst="ellipse">
              <a:avLst/>
            </a:prstGeom>
            <a:solidFill>
              <a:srgbClr val="99CCFF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ko-KR" sz="1050" b="1" dirty="0">
                <a:solidFill>
                  <a:prstClr val="white"/>
                </a:solidFill>
              </a:endParaRPr>
            </a:p>
          </p:txBody>
        </p:sp>
        <p:sp>
          <p:nvSpPr>
            <p:cNvPr id="13" name="모서리가 둥근 직사각형 10">
              <a:extLst>
                <a:ext uri="{FF2B5EF4-FFF2-40B4-BE49-F238E27FC236}">
                  <a16:creationId xmlns:a16="http://schemas.microsoft.com/office/drawing/2014/main" id="{6CA778EF-8CCD-8FF0-B61C-209EDE91CD97}"/>
                </a:ext>
              </a:extLst>
            </p:cNvPr>
            <p:cNvSpPr/>
            <p:nvPr/>
          </p:nvSpPr>
          <p:spPr>
            <a:xfrm>
              <a:off x="8022431" y="5313947"/>
              <a:ext cx="180000" cy="180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ko-KR" sz="1050" b="1" dirty="0">
                <a:solidFill>
                  <a:prstClr val="white"/>
                </a:solidFill>
              </a:endParaRPr>
            </a:p>
          </p:txBody>
        </p:sp>
        <p:sp>
          <p:nvSpPr>
            <p:cNvPr id="17" name="모서리가 둥근 직사각형 10">
              <a:extLst>
                <a:ext uri="{FF2B5EF4-FFF2-40B4-BE49-F238E27FC236}">
                  <a16:creationId xmlns:a16="http://schemas.microsoft.com/office/drawing/2014/main" id="{888AEBCF-F7C0-3AE3-7B22-42F67DE2E474}"/>
                </a:ext>
              </a:extLst>
            </p:cNvPr>
            <p:cNvSpPr/>
            <p:nvPr/>
          </p:nvSpPr>
          <p:spPr>
            <a:xfrm>
              <a:off x="7476516" y="5313947"/>
              <a:ext cx="180000" cy="180000"/>
            </a:xfrm>
            <a:prstGeom prst="ellipse">
              <a:avLst/>
            </a:prstGeom>
            <a:solidFill>
              <a:srgbClr val="99CCFF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ko-KR" sz="1050" b="1" dirty="0">
                <a:solidFill>
                  <a:prstClr val="white"/>
                </a:solidFill>
              </a:endParaRPr>
            </a:p>
          </p:txBody>
        </p:sp>
        <p:sp>
          <p:nvSpPr>
            <p:cNvPr id="37" name="모서리가 둥근 직사각형 10">
              <a:extLst>
                <a:ext uri="{FF2B5EF4-FFF2-40B4-BE49-F238E27FC236}">
                  <a16:creationId xmlns:a16="http://schemas.microsoft.com/office/drawing/2014/main" id="{4EFB1C65-E8D0-0A69-39CC-90957A47BDC3}"/>
                </a:ext>
              </a:extLst>
            </p:cNvPr>
            <p:cNvSpPr/>
            <p:nvPr/>
          </p:nvSpPr>
          <p:spPr>
            <a:xfrm>
              <a:off x="7749927" y="5313947"/>
              <a:ext cx="180000" cy="180000"/>
            </a:xfrm>
            <a:prstGeom prst="ellipse">
              <a:avLst/>
            </a:prstGeom>
            <a:solidFill>
              <a:srgbClr val="99CCFF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ko-KR" sz="1050" b="1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02094B91-1277-1296-AFAE-133177A6BE85}"/>
              </a:ext>
            </a:extLst>
          </p:cNvPr>
          <p:cNvGrpSpPr/>
          <p:nvPr/>
        </p:nvGrpSpPr>
        <p:grpSpPr>
          <a:xfrm>
            <a:off x="9856879" y="5313947"/>
            <a:ext cx="977004" cy="180000"/>
            <a:chOff x="9893168" y="5313947"/>
            <a:chExt cx="977004" cy="180000"/>
          </a:xfrm>
        </p:grpSpPr>
        <p:sp>
          <p:nvSpPr>
            <p:cNvPr id="39" name="모서리가 둥근 직사각형 10">
              <a:extLst>
                <a:ext uri="{FF2B5EF4-FFF2-40B4-BE49-F238E27FC236}">
                  <a16:creationId xmlns:a16="http://schemas.microsoft.com/office/drawing/2014/main" id="{7660E568-AE82-0F1C-10B1-C3EB29E878D6}"/>
                </a:ext>
              </a:extLst>
            </p:cNvPr>
            <p:cNvSpPr/>
            <p:nvPr/>
          </p:nvSpPr>
          <p:spPr>
            <a:xfrm>
              <a:off x="9893168" y="5313947"/>
              <a:ext cx="180000" cy="180000"/>
            </a:xfrm>
            <a:prstGeom prst="ellipse">
              <a:avLst/>
            </a:prstGeom>
            <a:solidFill>
              <a:srgbClr val="99CCFF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ko-KR" sz="1050" b="1" dirty="0">
                <a:solidFill>
                  <a:prstClr val="white"/>
                </a:solidFill>
              </a:endParaRPr>
            </a:p>
          </p:txBody>
        </p:sp>
        <p:sp>
          <p:nvSpPr>
            <p:cNvPr id="46" name="모서리가 둥근 직사각형 10">
              <a:extLst>
                <a:ext uri="{FF2B5EF4-FFF2-40B4-BE49-F238E27FC236}">
                  <a16:creationId xmlns:a16="http://schemas.microsoft.com/office/drawing/2014/main" id="{1EC9BCA0-E5E9-CB5D-80AA-C803592F1569}"/>
                </a:ext>
              </a:extLst>
            </p:cNvPr>
            <p:cNvSpPr/>
            <p:nvPr/>
          </p:nvSpPr>
          <p:spPr>
            <a:xfrm>
              <a:off x="10160022" y="5313947"/>
              <a:ext cx="180000" cy="180000"/>
            </a:xfrm>
            <a:prstGeom prst="ellipse">
              <a:avLst/>
            </a:prstGeom>
            <a:solidFill>
              <a:srgbClr val="99CCFF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ko-KR" sz="1050" b="1" dirty="0">
                <a:solidFill>
                  <a:prstClr val="white"/>
                </a:solidFill>
              </a:endParaRPr>
            </a:p>
          </p:txBody>
        </p:sp>
        <p:sp>
          <p:nvSpPr>
            <p:cNvPr id="48" name="모서리가 둥근 직사각형 10">
              <a:extLst>
                <a:ext uri="{FF2B5EF4-FFF2-40B4-BE49-F238E27FC236}">
                  <a16:creationId xmlns:a16="http://schemas.microsoft.com/office/drawing/2014/main" id="{5682F83F-F53F-0DFE-663E-F4D54BEF11E3}"/>
                </a:ext>
              </a:extLst>
            </p:cNvPr>
            <p:cNvSpPr/>
            <p:nvPr/>
          </p:nvSpPr>
          <p:spPr>
            <a:xfrm>
              <a:off x="10433433" y="5313947"/>
              <a:ext cx="180000" cy="180000"/>
            </a:xfrm>
            <a:prstGeom prst="ellipse">
              <a:avLst/>
            </a:prstGeom>
            <a:solidFill>
              <a:srgbClr val="99CCFF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ko-KR" sz="1050" b="1" dirty="0">
                <a:solidFill>
                  <a:prstClr val="white"/>
                </a:solidFill>
              </a:endParaRPr>
            </a:p>
          </p:txBody>
        </p:sp>
        <p:sp>
          <p:nvSpPr>
            <p:cNvPr id="50" name="모서리가 둥근 직사각형 10">
              <a:extLst>
                <a:ext uri="{FF2B5EF4-FFF2-40B4-BE49-F238E27FC236}">
                  <a16:creationId xmlns:a16="http://schemas.microsoft.com/office/drawing/2014/main" id="{11774BDF-835E-F1A8-E1F7-2ED24DE91DC1}"/>
                </a:ext>
              </a:extLst>
            </p:cNvPr>
            <p:cNvSpPr/>
            <p:nvPr/>
          </p:nvSpPr>
          <p:spPr>
            <a:xfrm>
              <a:off x="10690172" y="5313947"/>
              <a:ext cx="180000" cy="180000"/>
            </a:xfrm>
            <a:prstGeom prst="ellipse">
              <a:avLst/>
            </a:prstGeom>
            <a:solidFill>
              <a:srgbClr val="99CCFF"/>
            </a:solidFill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altLang="ko-KR" sz="1050" b="1" dirty="0">
                <a:solidFill>
                  <a:prstClr val="white"/>
                </a:solidFill>
              </a:endParaRPr>
            </a:p>
          </p:txBody>
        </p: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C57C12D3-81E4-4090-5FC7-3304D47CAF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404" y="1693150"/>
            <a:ext cx="1429988" cy="1429988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409E3D5C-E827-9FB4-F53B-38A1BFF758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566" y="1566556"/>
            <a:ext cx="1610918" cy="1610918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3CAA708E-6D6B-AFB0-9666-12D32C5A736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752" y="1706446"/>
            <a:ext cx="1471028" cy="1471028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082A1712-6D71-494C-CCAD-EC2A5C4B5DD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203" y="1743530"/>
            <a:ext cx="1416692" cy="141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91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FBF8C7-B4F2-7416-1204-17D387731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8F732E0A-1186-AD4F-5691-04FD64B0B798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en-US" altLang="ko-KR" sz="2400" b="1">
                <a:solidFill>
                  <a:prstClr val="white"/>
                </a:solidFill>
                <a:ea typeface="Tmon몬소리 Black" panose="02000A03000000000000"/>
              </a:rPr>
              <a:t> Team </a:t>
            </a:r>
            <a:r>
              <a:rPr lang="ko-KR" altLang="en-US" sz="2400" b="1">
                <a:solidFill>
                  <a:prstClr val="white"/>
                </a:solidFill>
                <a:ea typeface="Tmon몬소리 Black" panose="02000A03000000000000"/>
              </a:rPr>
              <a:t>피부피부씰</a:t>
            </a:r>
            <a:r>
              <a:rPr lang="en-US" altLang="ko-KR" sz="2400" b="1">
                <a:solidFill>
                  <a:prstClr val="white"/>
                </a:solidFill>
                <a:ea typeface="Tmon몬소리 Black" panose="02000A03000000000000"/>
              </a:rPr>
              <a:t>(SkinSeal) </a:t>
            </a:r>
            <a:r>
              <a:rPr lang="ko-KR" altLang="en-US" sz="2400" b="1">
                <a:solidFill>
                  <a:prstClr val="white"/>
                </a:solidFill>
                <a:ea typeface="Tmon몬소리 Black" panose="02000A03000000000000"/>
              </a:rPr>
              <a:t>소개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D1723399-77DF-78B9-A5EF-5AA2683F9AAC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BC1840E-2174-6C0B-DCE7-022D38D1E845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A1498934-7A36-C2E3-8ACE-CC6BAEB787DE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1742EBA-8C17-5B5E-78CC-39E406A295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1848624A-D7FB-B8F8-3BF0-D9D08736F53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13ECE7A2-2272-07BF-C0C1-C2A538261A31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B28EFF5-27EE-BC1C-AC2E-B3691F5C6F1F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73F7C11E-8835-EC8F-260B-B0D3845A44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B41AC254-8E9D-F803-7170-D51A87BD96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573D6CEB-21EA-52B3-02D5-08FA925015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738BD4DC-5D4A-3067-94BA-90B12607383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CB97A7D1-3978-7DFA-E062-3A7BEBC015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1328CC06-4AF8-EE83-444A-C72028DDAA4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8E697C08-8FA4-AC8E-29F0-F67D330C6C7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352923FA-6318-12F2-6D93-31A176923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A7870C97-DA94-CA88-492E-D8A38C32C4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090611AA-835E-37F6-76EE-3A927F24A0C6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B58514A-026D-FF03-7671-AD21F89B5B96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FEC2B37E-6575-F427-5178-B5D860E9AE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7E1AE971-5819-D5A3-C2C3-8D856DE5150E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9698F9C7-C777-8935-6EEB-EBAAFB51E0E7}"/>
              </a:ext>
            </a:extLst>
          </p:cNvPr>
          <p:cNvGrpSpPr/>
          <p:nvPr/>
        </p:nvGrpSpPr>
        <p:grpSpPr>
          <a:xfrm>
            <a:off x="1602381" y="1826375"/>
            <a:ext cx="2318119" cy="2485551"/>
            <a:chOff x="1525520" y="1826375"/>
            <a:chExt cx="2318119" cy="2485551"/>
          </a:xfrm>
        </p:grpSpPr>
        <p:sp>
          <p:nvSpPr>
            <p:cNvPr id="35" name="원형 1">
              <a:extLst>
                <a:ext uri="{FF2B5EF4-FFF2-40B4-BE49-F238E27FC236}">
                  <a16:creationId xmlns:a16="http://schemas.microsoft.com/office/drawing/2014/main" id="{D36C4D1E-2F7E-51F5-822A-4A2B7AA5A920}"/>
                </a:ext>
              </a:extLst>
            </p:cNvPr>
            <p:cNvSpPr/>
            <p:nvPr/>
          </p:nvSpPr>
          <p:spPr>
            <a:xfrm>
              <a:off x="1525520" y="1826375"/>
              <a:ext cx="2318119" cy="2318118"/>
            </a:xfrm>
            <a:prstGeom prst="pie">
              <a:avLst>
                <a:gd name="adj1" fmla="val 10789672"/>
                <a:gd name="adj2" fmla="val 16200000"/>
              </a:avLst>
            </a:prstGeom>
            <a:solidFill>
              <a:srgbClr val="FFB1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7" name="이등변 삼각형 36">
              <a:extLst>
                <a:ext uri="{FF2B5EF4-FFF2-40B4-BE49-F238E27FC236}">
                  <a16:creationId xmlns:a16="http://schemas.microsoft.com/office/drawing/2014/main" id="{CFFA8695-D69B-17C2-BB71-8B46F0BE2C89}"/>
                </a:ext>
              </a:extLst>
            </p:cNvPr>
            <p:cNvSpPr/>
            <p:nvPr/>
          </p:nvSpPr>
          <p:spPr>
            <a:xfrm rot="10800000">
              <a:off x="2189147" y="3325497"/>
              <a:ext cx="986429" cy="986429"/>
            </a:xfrm>
            <a:prstGeom prst="triangle">
              <a:avLst/>
            </a:prstGeom>
            <a:solidFill>
              <a:srgbClr val="FFB1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13F55B3-F502-71F3-18CA-8D681BACC6F3}"/>
                </a:ext>
              </a:extLst>
            </p:cNvPr>
            <p:cNvSpPr/>
            <p:nvPr/>
          </p:nvSpPr>
          <p:spPr>
            <a:xfrm>
              <a:off x="1750557" y="2055999"/>
              <a:ext cx="1863614" cy="1863613"/>
            </a:xfrm>
            <a:prstGeom prst="ellipse">
              <a:avLst/>
            </a:prstGeom>
            <a:solidFill>
              <a:schemeClr val="bg1">
                <a:alpha val="78000"/>
              </a:schemeClr>
            </a:solidFill>
            <a:ln>
              <a:noFill/>
            </a:ln>
            <a:effectLst>
              <a:outerShdw blurRad="4572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05C189BB-08D0-810D-B60A-F20CB88DA92F}"/>
                </a:ext>
              </a:extLst>
            </p:cNvPr>
            <p:cNvSpPr/>
            <p:nvPr/>
          </p:nvSpPr>
          <p:spPr>
            <a:xfrm>
              <a:off x="2083046" y="2386117"/>
              <a:ext cx="1198632" cy="11986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4572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8A6179C-C824-6D83-21CD-CF44B6F82A9E}"/>
              </a:ext>
            </a:extLst>
          </p:cNvPr>
          <p:cNvSpPr/>
          <p:nvPr/>
        </p:nvSpPr>
        <p:spPr>
          <a:xfrm>
            <a:off x="902586" y="4806441"/>
            <a:ext cx="3708815" cy="873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 err="1">
                <a:solidFill>
                  <a:srgbClr val="44546A">
                    <a:lumMod val="7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김충만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메인페이지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공지사항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질환진단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모델구현</a:t>
            </a:r>
            <a:r>
              <a:rPr lang="en-US" altLang="ko-KR" sz="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</a:t>
            </a:r>
            <a:r>
              <a:rPr lang="ko-KR" altLang="en-US" sz="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서버구축</a:t>
            </a:r>
            <a:r>
              <a:rPr lang="en-US" altLang="ko-KR" sz="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</a:t>
            </a:r>
            <a:r>
              <a:rPr lang="ko-KR" altLang="en-US" sz="9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백엔드</a:t>
            </a:r>
            <a:r>
              <a:rPr lang="en-US" altLang="ko-KR" sz="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(Backend),</a:t>
            </a:r>
            <a:r>
              <a:rPr lang="ko-KR" altLang="en-US" sz="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ko-KR" altLang="en-US" sz="9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프론트엔드</a:t>
            </a:r>
            <a:r>
              <a:rPr lang="en-US" altLang="ko-KR" sz="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(Front-end)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0861348B-6463-1230-0A41-6CAA0ABDA8D7}"/>
              </a:ext>
            </a:extLst>
          </p:cNvPr>
          <p:cNvGrpSpPr/>
          <p:nvPr/>
        </p:nvGrpSpPr>
        <p:grpSpPr>
          <a:xfrm>
            <a:off x="4936939" y="1826375"/>
            <a:ext cx="2318119" cy="2485551"/>
            <a:chOff x="4907573" y="1826375"/>
            <a:chExt cx="2318119" cy="2485551"/>
          </a:xfrm>
        </p:grpSpPr>
        <p:sp>
          <p:nvSpPr>
            <p:cNvPr id="42" name="원형 46">
              <a:extLst>
                <a:ext uri="{FF2B5EF4-FFF2-40B4-BE49-F238E27FC236}">
                  <a16:creationId xmlns:a16="http://schemas.microsoft.com/office/drawing/2014/main" id="{0471BEB7-ED3A-C53F-98AD-5706C370F0BF}"/>
                </a:ext>
              </a:extLst>
            </p:cNvPr>
            <p:cNvSpPr/>
            <p:nvPr/>
          </p:nvSpPr>
          <p:spPr>
            <a:xfrm>
              <a:off x="4907573" y="1826375"/>
              <a:ext cx="2318119" cy="2318118"/>
            </a:xfrm>
            <a:prstGeom prst="pie">
              <a:avLst>
                <a:gd name="adj1" fmla="val 10789672"/>
                <a:gd name="adj2" fmla="val 16200000"/>
              </a:avLst>
            </a:prstGeom>
            <a:solidFill>
              <a:srgbClr val="FFB1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" name="이등변 삼각형 42">
              <a:extLst>
                <a:ext uri="{FF2B5EF4-FFF2-40B4-BE49-F238E27FC236}">
                  <a16:creationId xmlns:a16="http://schemas.microsoft.com/office/drawing/2014/main" id="{1AF70CF1-AD2B-6B43-15B5-61E04B6A414B}"/>
                </a:ext>
              </a:extLst>
            </p:cNvPr>
            <p:cNvSpPr/>
            <p:nvPr/>
          </p:nvSpPr>
          <p:spPr>
            <a:xfrm rot="10800000">
              <a:off x="5571200" y="3325497"/>
              <a:ext cx="986429" cy="986429"/>
            </a:xfrm>
            <a:prstGeom prst="triangle">
              <a:avLst/>
            </a:prstGeom>
            <a:solidFill>
              <a:srgbClr val="FFB1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7ECC7199-B025-099D-1BC2-9CCCF136DD4F}"/>
                </a:ext>
              </a:extLst>
            </p:cNvPr>
            <p:cNvSpPr/>
            <p:nvPr/>
          </p:nvSpPr>
          <p:spPr>
            <a:xfrm>
              <a:off x="5132610" y="2055999"/>
              <a:ext cx="1863614" cy="1863613"/>
            </a:xfrm>
            <a:prstGeom prst="ellipse">
              <a:avLst/>
            </a:prstGeom>
            <a:solidFill>
              <a:schemeClr val="bg1">
                <a:alpha val="78000"/>
              </a:schemeClr>
            </a:solidFill>
            <a:ln>
              <a:noFill/>
            </a:ln>
            <a:effectLst>
              <a:outerShdw blurRad="4572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D1E3D60-4DC0-A58C-F40F-4189B25D5B57}"/>
                </a:ext>
              </a:extLst>
            </p:cNvPr>
            <p:cNvSpPr/>
            <p:nvPr/>
          </p:nvSpPr>
          <p:spPr>
            <a:xfrm>
              <a:off x="5465099" y="2386117"/>
              <a:ext cx="1198632" cy="11986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4572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DD68BD2-05F7-5202-DBCA-0D10916A8D3F}"/>
              </a:ext>
            </a:extLst>
          </p:cNvPr>
          <p:cNvSpPr/>
          <p:nvPr/>
        </p:nvSpPr>
        <p:spPr>
          <a:xfrm>
            <a:off x="4361179" y="4814584"/>
            <a:ext cx="3406470" cy="873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 err="1">
                <a:solidFill>
                  <a:srgbClr val="44546A">
                    <a:lumMod val="7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신대현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메인페이지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예약 안내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,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소개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모델구현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lang="ko-KR" altLang="en-US" sz="9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백엔드</a:t>
            </a:r>
            <a:r>
              <a:rPr lang="en-US" altLang="ko-KR" sz="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(Backend)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프론트엔드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(Front-end)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2EC993D-5426-1EE9-9E60-CCC0C47275B0}"/>
              </a:ext>
            </a:extLst>
          </p:cNvPr>
          <p:cNvGrpSpPr/>
          <p:nvPr/>
        </p:nvGrpSpPr>
        <p:grpSpPr>
          <a:xfrm>
            <a:off x="8437727" y="1826375"/>
            <a:ext cx="2318119" cy="2485551"/>
            <a:chOff x="8289626" y="1826375"/>
            <a:chExt cx="2318119" cy="2485551"/>
          </a:xfrm>
        </p:grpSpPr>
        <p:sp>
          <p:nvSpPr>
            <p:cNvPr id="48" name="원형 57">
              <a:extLst>
                <a:ext uri="{FF2B5EF4-FFF2-40B4-BE49-F238E27FC236}">
                  <a16:creationId xmlns:a16="http://schemas.microsoft.com/office/drawing/2014/main" id="{CD7D6798-EC8D-7684-2C4E-03925E1110D5}"/>
                </a:ext>
              </a:extLst>
            </p:cNvPr>
            <p:cNvSpPr/>
            <p:nvPr/>
          </p:nvSpPr>
          <p:spPr>
            <a:xfrm>
              <a:off x="8289626" y="1826375"/>
              <a:ext cx="2318119" cy="2318118"/>
            </a:xfrm>
            <a:prstGeom prst="pie">
              <a:avLst>
                <a:gd name="adj1" fmla="val 10789672"/>
                <a:gd name="adj2" fmla="val 16200000"/>
              </a:avLst>
            </a:prstGeom>
            <a:solidFill>
              <a:srgbClr val="FFB1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9" name="이등변 삼각형 48">
              <a:extLst>
                <a:ext uri="{FF2B5EF4-FFF2-40B4-BE49-F238E27FC236}">
                  <a16:creationId xmlns:a16="http://schemas.microsoft.com/office/drawing/2014/main" id="{56F509F9-31CB-4F9B-B671-94D0D039E5C5}"/>
                </a:ext>
              </a:extLst>
            </p:cNvPr>
            <p:cNvSpPr/>
            <p:nvPr/>
          </p:nvSpPr>
          <p:spPr>
            <a:xfrm rot="10800000">
              <a:off x="8953253" y="3325497"/>
              <a:ext cx="986429" cy="986429"/>
            </a:xfrm>
            <a:prstGeom prst="triangle">
              <a:avLst/>
            </a:prstGeom>
            <a:solidFill>
              <a:srgbClr val="FFB1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A392831D-0D9D-4F07-F0FA-29EDCBEAD043}"/>
                </a:ext>
              </a:extLst>
            </p:cNvPr>
            <p:cNvSpPr/>
            <p:nvPr/>
          </p:nvSpPr>
          <p:spPr>
            <a:xfrm>
              <a:off x="8514663" y="2055999"/>
              <a:ext cx="1863614" cy="1863613"/>
            </a:xfrm>
            <a:prstGeom prst="ellipse">
              <a:avLst/>
            </a:prstGeom>
            <a:solidFill>
              <a:schemeClr val="bg1">
                <a:alpha val="78000"/>
              </a:schemeClr>
            </a:solidFill>
            <a:ln>
              <a:noFill/>
            </a:ln>
            <a:effectLst>
              <a:outerShdw blurRad="4572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F9B37F72-FCF0-EEAC-1B52-60ADC6F202B4}"/>
                </a:ext>
              </a:extLst>
            </p:cNvPr>
            <p:cNvSpPr/>
            <p:nvPr/>
          </p:nvSpPr>
          <p:spPr>
            <a:xfrm>
              <a:off x="8847152" y="2386117"/>
              <a:ext cx="1198632" cy="11986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4572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C9CA58D-377F-5876-A52F-AD6BF9C5FF2F}"/>
              </a:ext>
            </a:extLst>
          </p:cNvPr>
          <p:cNvSpPr/>
          <p:nvPr/>
        </p:nvSpPr>
        <p:spPr>
          <a:xfrm>
            <a:off x="7606207" y="4789292"/>
            <a:ext cx="4055725" cy="873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dirty="0">
                <a:solidFill>
                  <a:srgbClr val="44546A">
                    <a:lumMod val="75000"/>
                  </a:srgbClr>
                </a:solidFill>
                <a:latin typeface="맑은 고딕" panose="020F0502020204030204"/>
                <a:ea typeface="맑은 고딕" panose="020B0503020000020004" pitchFamily="50" charset="-127"/>
              </a:rPr>
              <a:t>정승환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로그인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,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마이페이지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,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t>질환진단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lvl="0" algn="ctr">
              <a:lnSpc>
                <a:spcPct val="150000"/>
              </a:lnSpc>
              <a:defRPr/>
            </a:pPr>
            <a:r>
              <a:rPr lang="ko-KR" altLang="en-US" sz="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모델구현</a:t>
            </a:r>
            <a:r>
              <a:rPr lang="en-US" altLang="ko-KR" sz="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,</a:t>
            </a:r>
            <a:r>
              <a:rPr lang="ko-KR" altLang="en-US" sz="9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백엔드</a:t>
            </a:r>
            <a:r>
              <a:rPr lang="en-US" altLang="ko-KR" sz="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(Backend),</a:t>
            </a:r>
            <a:r>
              <a:rPr lang="ko-KR" altLang="en-US" sz="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 </a:t>
            </a:r>
            <a:r>
              <a:rPr lang="ko-KR" altLang="en-US" sz="900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프론트엔드</a:t>
            </a:r>
            <a:r>
              <a:rPr lang="en-US" altLang="ko-KR" sz="900" dirty="0">
                <a:solidFill>
                  <a:prstClr val="black">
                    <a:lumMod val="65000"/>
                    <a:lumOff val="35000"/>
                  </a:prstClr>
                </a:solidFill>
              </a:rPr>
              <a:t>(Front-end)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CB2423D-AAF1-1F31-D844-5A505A07AF70}"/>
              </a:ext>
            </a:extLst>
          </p:cNvPr>
          <p:cNvGrpSpPr/>
          <p:nvPr/>
        </p:nvGrpSpPr>
        <p:grpSpPr>
          <a:xfrm>
            <a:off x="5097894" y="1683117"/>
            <a:ext cx="2919468" cy="2954642"/>
            <a:chOff x="24815" y="1981431"/>
            <a:chExt cx="3162300" cy="320040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E5C9D7EF-D5C5-A46C-B2A8-2AC8DF37D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4815" y="1981431"/>
              <a:ext cx="3162300" cy="3200400"/>
            </a:xfrm>
            <a:prstGeom prst="rect">
              <a:avLst/>
            </a:prstGeom>
          </p:spPr>
        </p:pic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DEBC947-FB29-E9EE-3508-DF918DB63743}"/>
                </a:ext>
              </a:extLst>
            </p:cNvPr>
            <p:cNvSpPr/>
            <p:nvPr/>
          </p:nvSpPr>
          <p:spPr>
            <a:xfrm>
              <a:off x="91481" y="2388960"/>
              <a:ext cx="2015375" cy="2015375"/>
            </a:xfrm>
            <a:prstGeom prst="ellipse">
              <a:avLst/>
            </a:prstGeom>
            <a:noFill/>
            <a:ln w="50800">
              <a:solidFill>
                <a:srgbClr val="FFB1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0" name="그림 59">
            <a:extLst>
              <a:ext uri="{FF2B5EF4-FFF2-40B4-BE49-F238E27FC236}">
                <a16:creationId xmlns:a16="http://schemas.microsoft.com/office/drawing/2014/main" id="{6A6DD70C-2B45-078C-5288-4C5091BB15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27469" y="1945361"/>
            <a:ext cx="1962150" cy="2171700"/>
          </a:xfrm>
          <a:prstGeom prst="rect">
            <a:avLst/>
          </a:prstGeom>
        </p:spPr>
      </p:pic>
      <p:sp>
        <p:nvSpPr>
          <p:cNvPr id="58" name="타원 57">
            <a:extLst>
              <a:ext uri="{FF2B5EF4-FFF2-40B4-BE49-F238E27FC236}">
                <a16:creationId xmlns:a16="http://schemas.microsoft.com/office/drawing/2014/main" id="{25B170AB-2D91-9764-BBCA-401542134D64}"/>
              </a:ext>
            </a:extLst>
          </p:cNvPr>
          <p:cNvSpPr/>
          <p:nvPr/>
        </p:nvSpPr>
        <p:spPr>
          <a:xfrm>
            <a:off x="8659948" y="2041217"/>
            <a:ext cx="1860615" cy="1860615"/>
          </a:xfrm>
          <a:prstGeom prst="ellipse">
            <a:avLst/>
          </a:prstGeom>
          <a:noFill/>
          <a:ln w="508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68BA4434-24F6-4A89-E51C-A481456D42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333" b="94608" l="9360" r="89163">
                        <a14:foregroundMark x1="58128" y1="84804" x2="58128" y2="84804"/>
                        <a14:foregroundMark x1="45813" y1="94608" x2="45813" y2="94608"/>
                        <a14:foregroundMark x1="48768" y1="8333" x2="48768" y2="83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85241" y="2041217"/>
            <a:ext cx="1933575" cy="1943100"/>
          </a:xfrm>
          <a:prstGeom prst="rect">
            <a:avLst/>
          </a:prstGeom>
        </p:spPr>
      </p:pic>
      <p:sp>
        <p:nvSpPr>
          <p:cNvPr id="56" name="타원 55">
            <a:extLst>
              <a:ext uri="{FF2B5EF4-FFF2-40B4-BE49-F238E27FC236}">
                <a16:creationId xmlns:a16="http://schemas.microsoft.com/office/drawing/2014/main" id="{F60DCC18-A730-954A-CA9A-F89D5D2FF956}"/>
              </a:ext>
            </a:extLst>
          </p:cNvPr>
          <p:cNvSpPr/>
          <p:nvPr/>
        </p:nvSpPr>
        <p:spPr>
          <a:xfrm>
            <a:off x="1819608" y="2073399"/>
            <a:ext cx="1860615" cy="1860615"/>
          </a:xfrm>
          <a:prstGeom prst="ellipse">
            <a:avLst/>
          </a:prstGeom>
          <a:noFill/>
          <a:ln w="508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370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5E404-28AE-B060-775B-4797312BD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사각형: 둥근 위쪽 모서리 34">
            <a:extLst>
              <a:ext uri="{FF2B5EF4-FFF2-40B4-BE49-F238E27FC236}">
                <a16:creationId xmlns:a16="http://schemas.microsoft.com/office/drawing/2014/main" id="{D34B7E5B-55BC-84C5-1AA9-22F224D9BC92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en-US" altLang="ko-KR" sz="2400" b="1" dirty="0">
                <a:solidFill>
                  <a:prstClr val="white"/>
                </a:solidFill>
                <a:ea typeface="Tmon몬소리 Black" panose="02000A03000000000000"/>
              </a:rPr>
              <a:t> CONTENTS : </a:t>
            </a:r>
            <a:r>
              <a:rPr lang="ko-KR" altLang="en-US" sz="2300" b="1" dirty="0">
                <a:solidFill>
                  <a:prstClr val="white"/>
                </a:solidFill>
                <a:ea typeface="Tmon몬소리 Black" panose="02000A03000000000000"/>
              </a:rPr>
              <a:t>프로젝트 개요</a:t>
            </a:r>
            <a:endParaRPr lang="ko-KR" altLang="en-US" sz="2300" dirty="0">
              <a:solidFill>
                <a:prstClr val="white"/>
              </a:solidFill>
              <a:ea typeface="Tmon몬소리 Black" panose="02000A03000000000000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8577CB80-23AB-0305-F356-C56006023B6C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25A4F4E-A4C1-CF3D-CD8E-B0CA46E5D768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1DC5281C-DA5C-E6A1-2D15-62593C0D27E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9733C04-3FAC-647C-5A6A-8AF4CBF78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C5C85DA1-55AA-7922-79C7-788288C57AFD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F5D6E19C-2B11-9C5D-B591-E72935C29A10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9CD6BA6-9650-967A-4822-6A9431A160FA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47DBE1D5-D73D-7D78-D1EA-9CDC13F235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B2DD1A6E-8859-E0CD-1324-44E54D6F73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8EA686D3-3730-0216-95A7-D5D7A4418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5B955787-17D5-4BBF-940D-705C10EF10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E77E2C77-261A-5CD5-BAFD-4A08535A15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1ACBE702-B8DD-B5DF-5326-C3987A0ED5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998568F2-89B6-14C8-633D-2548584487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790AFDAD-349D-E832-098A-0E9805925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03DE63FA-4176-44DE-1730-11AD6CDFAD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70F366F2-A152-F179-0E88-18C64CCBA998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E123047-FA20-9E09-FCD0-A694E9946A20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7762F653-ADFA-FFF1-5574-E723D575AF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816172E-FC79-E141-DD90-CF8E089CE2BB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27EF59BC-4405-D229-C5B6-83A12737A789}"/>
              </a:ext>
            </a:extLst>
          </p:cNvPr>
          <p:cNvSpPr/>
          <p:nvPr/>
        </p:nvSpPr>
        <p:spPr>
          <a:xfrm>
            <a:off x="1358239" y="3397153"/>
            <a:ext cx="668795" cy="3362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70% </a:t>
            </a:r>
            <a:endParaRPr lang="ko-KR" altLang="en-US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B8F0C99B-FD2E-938A-45D0-22802B72FE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51" y="1217171"/>
            <a:ext cx="5032556" cy="503255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6728E50-0C01-61F9-0B62-C68289CB705B}"/>
              </a:ext>
            </a:extLst>
          </p:cNvPr>
          <p:cNvSpPr txBox="1"/>
          <p:nvPr/>
        </p:nvSpPr>
        <p:spPr>
          <a:xfrm>
            <a:off x="5519607" y="2892453"/>
            <a:ext cx="591105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900" dirty="0"/>
              <a:t>본 프로젝트는 딥러닝 기술을 활용하여 피부 질환 이미지를 분석하고</a:t>
            </a:r>
            <a:r>
              <a:rPr lang="en-US" altLang="ko-KR" sz="1900" dirty="0"/>
              <a:t>, </a:t>
            </a:r>
            <a:r>
              <a:rPr lang="ko-KR" altLang="en-US" sz="1900" dirty="0"/>
              <a:t>이를 통해 질환의 종류를 자동으로 분류</a:t>
            </a:r>
            <a:r>
              <a:rPr lang="en-US" altLang="ko-KR" sz="1900" dirty="0"/>
              <a:t>·</a:t>
            </a:r>
            <a:r>
              <a:rPr lang="ko-KR" altLang="en-US" sz="1900" dirty="0"/>
              <a:t>예측하는 모델을 개발하는 것을 목표로 한다</a:t>
            </a:r>
            <a:r>
              <a:rPr lang="en-US" altLang="ko-KR" sz="1900" dirty="0"/>
              <a:t>. </a:t>
            </a:r>
          </a:p>
          <a:p>
            <a:endParaRPr lang="en-US" altLang="ko-KR" sz="1900" dirty="0"/>
          </a:p>
          <a:p>
            <a:r>
              <a:rPr lang="en-US" altLang="ko-KR" sz="1900" dirty="0"/>
              <a:t> </a:t>
            </a:r>
            <a:r>
              <a:rPr lang="ko-KR" altLang="en-US" sz="1900" dirty="0"/>
              <a:t>피부 질환 이미지 데이터를 기반으로 </a:t>
            </a:r>
            <a:r>
              <a:rPr lang="en-US" altLang="ko-KR" sz="1900" dirty="0"/>
              <a:t>CNN </a:t>
            </a:r>
            <a:r>
              <a:rPr lang="ko-KR" altLang="en-US" sz="1900" dirty="0"/>
              <a:t>등의 딥러닝 알고리즘을 적용한 피부 질환 진단 정확도를 높이고</a:t>
            </a:r>
            <a:r>
              <a:rPr lang="en-US" altLang="ko-KR" sz="1900" dirty="0"/>
              <a:t>, </a:t>
            </a:r>
            <a:r>
              <a:rPr lang="ko-KR" altLang="en-US" sz="1900" dirty="0"/>
              <a:t>의료진의 의사결정을 보조할 수 있는 </a:t>
            </a:r>
            <a:r>
              <a:rPr lang="en-US" altLang="ko-KR" sz="1900" dirty="0"/>
              <a:t>Medical AI </a:t>
            </a:r>
            <a:r>
              <a:rPr lang="ko-KR" altLang="en-US" sz="1900" dirty="0"/>
              <a:t>분석 서비스를 구현하고자 한다</a:t>
            </a:r>
            <a:r>
              <a:rPr lang="en-US" altLang="ko-KR" sz="1900" dirty="0"/>
              <a:t>.</a:t>
            </a:r>
          </a:p>
          <a:p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F10655-E641-D77A-CB58-DDA60EF0A711}"/>
              </a:ext>
            </a:extLst>
          </p:cNvPr>
          <p:cNvSpPr txBox="1"/>
          <p:nvPr/>
        </p:nvSpPr>
        <p:spPr>
          <a:xfrm>
            <a:off x="5519607" y="2128646"/>
            <a:ext cx="5216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Tmon몬소리 Black" panose="02000A03000000000000"/>
                <a:ea typeface="Tmon몬소리 Black" panose="02000A03000000000000"/>
              </a:rPr>
              <a:t> 피부질환 진단 딥러닝 </a:t>
            </a:r>
            <a:r>
              <a:rPr lang="en-US" altLang="ko-KR" b="1" dirty="0">
                <a:latin typeface="Tmon몬소리 Black" panose="02000A03000000000000"/>
                <a:ea typeface="Tmon몬소리 Black" panose="02000A03000000000000"/>
              </a:rPr>
              <a:t>Medical AI </a:t>
            </a:r>
            <a:r>
              <a:rPr lang="ko-KR" altLang="en-US" b="1" dirty="0">
                <a:latin typeface="Tmon몬소리 Black" panose="02000A03000000000000"/>
                <a:ea typeface="Tmon몬소리 Black" panose="02000A03000000000000"/>
              </a:rPr>
              <a:t>모델 개발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3820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BA73C2-B706-3783-56F1-D0E94EA0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0E29AB68-F9EA-ADE5-4DE3-A5FD2F618922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en-US" altLang="ko-KR" sz="2400" b="1" dirty="0">
                <a:solidFill>
                  <a:prstClr val="white"/>
                </a:solidFill>
                <a:ea typeface="Tmon몬소리 Black" panose="02000A03000000000000"/>
              </a:rPr>
              <a:t>CONTENTS : </a:t>
            </a:r>
            <a:r>
              <a:rPr lang="ko-KR" altLang="en-US" sz="2300" b="1" dirty="0">
                <a:solidFill>
                  <a:prstClr val="white"/>
                </a:solidFill>
                <a:ea typeface="Tmon몬소리 Black" panose="02000A03000000000000"/>
              </a:rPr>
              <a:t>프로젝트 설계도</a:t>
            </a:r>
            <a:endParaRPr lang="ko-KR" altLang="en-US" sz="23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C80503E9-F59B-A72B-0FBC-E886C1FDB2D7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776918A-4180-13D6-0F10-48CE33EAAAD7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E3898BDE-96CD-406F-9D0B-8D58475386FF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4A6679C-B5A7-FE34-C78F-D38D9CDF8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0862E30C-320E-D18F-34A7-45C8F82D77D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8206167E-D7CB-7055-73E0-22F740238057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34B18DC-D7E3-E929-C255-DA853F3D1CA0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221FE85F-9059-4CA5-8420-051C496883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4938A0DD-F6E3-72F1-73AE-7F85D068C9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AB83E4F6-2B67-4163-3883-3946884C2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A3D1CCBB-8EBD-E997-F363-7D2844AE81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3F8FB6E1-29ED-6DA2-9B23-7554079BB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6C304908-0FC1-BCC4-1222-1026C70DD5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73A8E743-34F6-C24B-2E5F-810A2391C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8D56B54B-733C-0518-23C7-0C2859A33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EA0269F2-3A74-8A62-C4E3-A6428C01FE4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ECAEDFEA-B7B5-5ABB-1E94-F24BA1AB4DC5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8CD5E17-072B-DC45-0A5C-E6950A22BB2E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1AECDD74-BEB4-FE4F-ED29-566DAE39B1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B674613-CAEF-652C-0EF5-FEDD2BE5E155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59B6BD53-6446-1633-780B-A2C77EC3B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483" y="927179"/>
            <a:ext cx="9910679" cy="560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824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DD605-D29C-17D8-23B6-39CAF7C92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00DB2ACB-DBC3-7CC0-0439-341C9E400FAB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ko-KR" altLang="en-US" sz="2400" b="1" dirty="0">
                <a:solidFill>
                  <a:prstClr val="white"/>
                </a:solidFill>
                <a:ea typeface="Tmon몬소리 Black" panose="02000A03000000000000"/>
              </a:rPr>
              <a:t>프로젝트 설계도</a:t>
            </a:r>
            <a:r>
              <a:rPr lang="en-US" altLang="ko-KR" sz="2400" b="1" dirty="0">
                <a:solidFill>
                  <a:prstClr val="white"/>
                </a:solidFill>
                <a:ea typeface="Tmon몬소리 Black" panose="02000A03000000000000"/>
              </a:rPr>
              <a:t> : </a:t>
            </a:r>
            <a:r>
              <a:rPr lang="ko-KR" altLang="en-US" sz="2400" b="1" dirty="0">
                <a:solidFill>
                  <a:prstClr val="white"/>
                </a:solidFill>
                <a:ea typeface="Tmon몬소리 Black" panose="02000A03000000000000"/>
              </a:rPr>
              <a:t>벤치마킹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010C8E5A-53BF-0B4E-60F3-04DA7C6EDC35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C4C136B-81AF-B7F2-135C-7596F36038AC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CC9398B-446B-3523-36FC-45E1E98A668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65657B8-3C77-094C-6A2D-0BD574792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87C8FD7D-4DCE-4A01-E435-1BEB811A5048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3C8A8399-6BC7-3BF7-1FAE-2C7D261FED2C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90CB2C6-7EC3-4A48-804C-190878E4372D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968527DC-7913-4B7F-6E3E-48CD5534F31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DC3744B5-80FF-7DDC-B85F-8E79021C86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EB2C9AAA-7C2A-08E3-31B3-29ACF3D586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42154F02-114F-3008-F090-354CF4259A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9DBD68A6-BEBC-66AE-F941-06AF4F492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6EB45C1F-46E0-BF16-DBDA-DE52366F562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020CB999-3921-6EDF-1BBB-55F6B8771B1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A46E9005-6F88-9BA3-EE1A-674D012227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1739A5A-E762-7E77-DDF8-FCF56E778BD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4783B381-598B-B752-4BF4-1AE7B585C746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D1779A25-BB6D-94A2-C90E-D0196E6CE553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A0C3FE3C-0B59-0440-F28F-779068BC42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357474C-78BA-C13F-3F20-F72E0574F5F0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8A1B6257-36FC-C2BC-C84C-088C0FB4F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622" y="2817039"/>
            <a:ext cx="3418773" cy="122392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F8C80A63-7C92-6BA9-CF38-487403F27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900" y="3023266"/>
            <a:ext cx="3171058" cy="9154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C602AA-717C-AA17-819F-984EDF587E0F}"/>
              </a:ext>
            </a:extLst>
          </p:cNvPr>
          <p:cNvSpPr txBox="1"/>
          <p:nvPr/>
        </p:nvSpPr>
        <p:spPr>
          <a:xfrm>
            <a:off x="1862696" y="4352925"/>
            <a:ext cx="3146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https://www.seoulchuk.com/main.do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A4E6DE-7F15-E496-2CCE-BDB0A5C6BB16}"/>
              </a:ext>
            </a:extLst>
          </p:cNvPr>
          <p:cNvSpPr txBox="1"/>
          <p:nvPr/>
        </p:nvSpPr>
        <p:spPr>
          <a:xfrm>
            <a:off x="6298779" y="4399092"/>
            <a:ext cx="397410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/>
              <a:t>https://www.ysloves.com/template/main/main.php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638257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080CE-DB48-3D2A-69C2-6EA687D6B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위쪽 모서리 38">
            <a:extLst>
              <a:ext uri="{FF2B5EF4-FFF2-40B4-BE49-F238E27FC236}">
                <a16:creationId xmlns:a16="http://schemas.microsoft.com/office/drawing/2014/main" id="{E8CBD7A1-FD78-9B63-7067-A6F80A1B5E0C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dirty="0">
                <a:solidFill>
                  <a:prstClr val="white"/>
                </a:solidFill>
                <a:ea typeface="Tmon몬소리 Black" panose="02000A03000000000000"/>
              </a:rPr>
              <a:t> 프로젝트 설계도</a:t>
            </a:r>
            <a:r>
              <a:rPr lang="en-US" altLang="ko-KR" sz="2400" b="1" dirty="0">
                <a:solidFill>
                  <a:prstClr val="white"/>
                </a:solidFill>
                <a:ea typeface="Tmon몬소리 Black" panose="02000A03000000000000"/>
              </a:rPr>
              <a:t> : </a:t>
            </a:r>
            <a:r>
              <a:rPr lang="ko-KR" altLang="en-US" sz="2400" b="1" dirty="0">
                <a:solidFill>
                  <a:prstClr val="white"/>
                </a:solidFill>
                <a:ea typeface="Tmon몬소리 Black" panose="02000A03000000000000"/>
              </a:rPr>
              <a:t>벤치마킹</a:t>
            </a:r>
            <a:endParaRPr lang="ko-KR" altLang="en-US" sz="23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A3B2E84C-A11F-69E5-5A3E-B375DF17F058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C08DAE2-FE16-6DD4-D8C8-E945E08EB44A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5A4260F-434F-10E2-28D5-E239D404EDA4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064930E-97DB-91F1-A4C7-BE9313361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E414746-BFEC-1102-3667-8971576971D8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508CE8F0-AA40-3B50-1CB4-E56ED44BC508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37265F2-FEAC-0E46-02D5-3BF9F5770424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6B131BAA-BE8B-0D68-30DF-087C3D859D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9C0DEF3F-3F6F-1816-6975-F79FC5DEA0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16A4409-BEA2-24CA-5D06-9C7700E1CE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C73190E0-2F04-8AB6-66DA-780C252AAD6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1A2A9FF7-8D56-A999-A3B9-9810198F7F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79D647C3-8DAE-7DBC-0644-BC48D5C9AE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5388558D-DEC3-21F0-967B-D3E5733856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6B5884B-6ACD-04FF-027C-FB33213C0E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DA03B188-727A-F963-ABEC-134E3C1D70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C755AB60-0C40-9438-5844-15E2E3BF37CC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3DB7DFF-53C3-4A73-19CA-89F0580A87CD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960952BA-0E1B-F413-2A06-1AAB5CF094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D4FC7F9-02AD-83B8-1458-700560B8573F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43" name="그림 42">
            <a:extLst>
              <a:ext uri="{FF2B5EF4-FFF2-40B4-BE49-F238E27FC236}">
                <a16:creationId xmlns:a16="http://schemas.microsoft.com/office/drawing/2014/main" id="{3C03043D-E423-A2D9-2B7F-A41D68050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567" y="1558286"/>
            <a:ext cx="8616863" cy="4210904"/>
          </a:xfrm>
          <a:prstGeom prst="rect">
            <a:avLst/>
          </a:prstGeom>
          <a:ln w="63500">
            <a:solidFill>
              <a:srgbClr val="99CCFF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F9FD8A-9A40-6E9F-4F82-671DBCF1ABA6}"/>
              </a:ext>
            </a:extLst>
          </p:cNvPr>
          <p:cNvSpPr txBox="1"/>
          <p:nvPr/>
        </p:nvSpPr>
        <p:spPr>
          <a:xfrm>
            <a:off x="4152998" y="6059918"/>
            <a:ext cx="3886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+mn-ea"/>
              </a:rPr>
              <a:t>메인 페이지 </a:t>
            </a:r>
            <a:r>
              <a:rPr lang="en-US" altLang="ko-KR" b="1" dirty="0">
                <a:latin typeface="+mn-ea"/>
              </a:rPr>
              <a:t>: </a:t>
            </a:r>
            <a:r>
              <a:rPr lang="ko-KR" altLang="en-US" b="1" dirty="0">
                <a:latin typeface="+mn-ea"/>
              </a:rPr>
              <a:t>오른쪽 사이드바 메뉴</a:t>
            </a:r>
          </a:p>
        </p:txBody>
      </p:sp>
    </p:spTree>
    <p:extLst>
      <p:ext uri="{BB962C8B-B14F-4D97-AF65-F5344CB8AC3E}">
        <p14:creationId xmlns:p14="http://schemas.microsoft.com/office/powerpoint/2010/main" val="3847795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29B46B-942F-8D46-F68E-CF1EDBD3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A44DF788-16D5-22B4-0E55-753DFD71A48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벤치마킹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AE829D2D-04A2-ADC6-6019-2714193B5C23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8C76A98-1B03-002E-D428-134E3632ECC5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E96246D8-C6C6-36ED-B766-FD400EAD7512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76A2F3D-53FD-401E-DBE3-82BD80894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B8B26589-EC14-F547-35C0-2D833A457D86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B9ECCE75-4BE6-D581-086F-21BDC830D867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FA32926-4D9B-32A8-AF6B-0E9367B57E09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3319AE39-8DC0-C689-146C-EFFFFF16DD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778E8B83-80D7-676F-6D29-FF3077B539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9EA541D1-A9B4-418B-ECD2-726EBF34B1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7DF9ED9E-1F82-C3A5-8DA7-FCF446AC0F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035C13FF-8A3F-7954-DC0B-01AB2384FA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43984064-705B-9348-0FCA-0A51A53CCB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C5B83D1B-D0B3-9C41-4A54-DA43D2F6D85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FEEEB7CA-8FA2-0914-F05F-EEBBA17F3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E94BA32F-1744-306F-690C-C61B65EED2C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84CA5805-9447-9B67-4EB2-776D345D60C2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3EED3C4-DAD6-9C11-C799-F33125E41D72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8A16AD19-AE38-6033-E83E-3D34D4CC14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6338675-EB42-4452-F995-D735BB611630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B5903821-2F5A-DA5C-CEB2-3C1B39431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616" y="1391733"/>
            <a:ext cx="5512771" cy="2368893"/>
          </a:xfrm>
          <a:prstGeom prst="rect">
            <a:avLst/>
          </a:prstGeom>
          <a:ln w="63500">
            <a:solidFill>
              <a:srgbClr val="99CCFF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E1754C5-23B5-379B-1445-2AFE43531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13" y="1391733"/>
            <a:ext cx="4858266" cy="4623374"/>
          </a:xfrm>
          <a:prstGeom prst="rect">
            <a:avLst/>
          </a:prstGeom>
          <a:ln w="63500" cmpd="sng">
            <a:solidFill>
              <a:srgbClr val="99CCFF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D39DE6-825E-DB84-A601-30AD91057E04}"/>
              </a:ext>
            </a:extLst>
          </p:cNvPr>
          <p:cNvSpPr txBox="1"/>
          <p:nvPr/>
        </p:nvSpPr>
        <p:spPr>
          <a:xfrm>
            <a:off x="8666418" y="4371120"/>
            <a:ext cx="56259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예약 안내</a:t>
            </a:r>
            <a:r>
              <a:rPr lang="en-US" altLang="ko-KR" b="1" dirty="0"/>
              <a:t> : </a:t>
            </a:r>
            <a:r>
              <a:rPr lang="ko-KR" altLang="en-US" b="1" dirty="0"/>
              <a:t>진료 예약 달력 </a:t>
            </a:r>
            <a:r>
              <a:rPr lang="en-US" altLang="ko-KR" b="1" dirty="0"/>
              <a:t> </a:t>
            </a:r>
          </a:p>
          <a:p>
            <a:r>
              <a:rPr lang="en-US" altLang="ko-KR" b="1" dirty="0"/>
              <a:t>               </a:t>
            </a:r>
            <a:r>
              <a:rPr lang="ko-KR" altLang="en-US" b="1" dirty="0"/>
              <a:t>예약자 정보 </a:t>
            </a:r>
            <a:r>
              <a:rPr lang="en-US" altLang="ko-KR" b="1" dirty="0"/>
              <a:t>UI </a:t>
            </a:r>
          </a:p>
          <a:p>
            <a:r>
              <a:rPr lang="en-US" altLang="ko-KR" b="1" dirty="0"/>
              <a:t>               </a:t>
            </a:r>
            <a:r>
              <a:rPr lang="ko-KR" altLang="en-US" b="1" dirty="0"/>
              <a:t>진료 시간표 </a:t>
            </a:r>
            <a:r>
              <a:rPr lang="en-US" altLang="ko-KR" b="1" dirty="0"/>
              <a:t>UI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826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17C5E-094E-D491-1DCF-FB6E9DB67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위쪽 모서리 38">
            <a:extLst>
              <a:ext uri="{FF2B5EF4-FFF2-40B4-BE49-F238E27FC236}">
                <a16:creationId xmlns:a16="http://schemas.microsoft.com/office/drawing/2014/main" id="{F45ECC96-6B57-2D70-C467-B476A6453434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dirty="0">
                <a:solidFill>
                  <a:prstClr val="white"/>
                </a:solidFill>
                <a:ea typeface="Tmon몬소리 Black" panose="02000A03000000000000"/>
              </a:rPr>
              <a:t> 프로젝트 설계도</a:t>
            </a:r>
            <a:r>
              <a:rPr lang="en-US" altLang="ko-KR" sz="2400" b="1" dirty="0">
                <a:solidFill>
                  <a:prstClr val="white"/>
                </a:solidFill>
                <a:ea typeface="Tmon몬소리 Black" panose="02000A03000000000000"/>
              </a:rPr>
              <a:t> : </a:t>
            </a:r>
            <a:r>
              <a:rPr lang="ko-KR" altLang="en-US" sz="2400" b="1" dirty="0">
                <a:solidFill>
                  <a:prstClr val="white"/>
                </a:solidFill>
                <a:ea typeface="Tmon몬소리 Black" panose="02000A03000000000000"/>
              </a:rPr>
              <a:t>벤치마킹</a:t>
            </a:r>
            <a:endParaRPr lang="ko-KR" altLang="en-US" sz="23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3569E59C-3D00-CC84-05CF-976330BAE5B2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FA58415-8A55-413A-5C50-B28B67FEA87C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C2FBADEC-0579-9DC6-6F9A-6EA6002ACC78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C80E1C8-1C0A-BD6F-4FBA-E77BE75FE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9CBD0FD9-21C6-B9C4-6873-1BEA38D0734D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BB46D77-EE07-EB0A-9D55-95D691ECBEDC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B15F0FE-4409-66EA-CDEF-AF964DB5C4DB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4E53A2BB-8EE5-6986-6174-7B6EF873ED1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93F92715-0450-2BC4-B694-DCA222420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80465796-D14B-5196-DA30-526CDE570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86B81F68-E466-1AF3-16D6-2C87CEEBC3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AD41D2D6-3B35-B5BE-B5DB-3B56BCA26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BEF71ABC-87B3-61A3-267E-CDB3BD5DB9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F2A8AE04-E45B-4D4B-6E11-B1AA04FCA6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07A56EAE-F1D0-013C-B383-C5EC9D2607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1A33FC30-B7C7-26BF-5A02-3D7C687CC41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19D552A5-66FB-86A1-D7CB-72EB1269B8C9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C64DCA3-846F-143F-25F7-2C91F34F6D78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9C82E6ED-8BD4-FA94-FC31-384AF02DCE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E6DE611-C5D7-8C10-68FB-53E4530C7626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62AD50F8-98DA-3571-294B-CAF15957C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81" y="1601257"/>
            <a:ext cx="5596670" cy="4204327"/>
          </a:xfrm>
          <a:prstGeom prst="rect">
            <a:avLst/>
          </a:prstGeom>
          <a:ln w="63500">
            <a:solidFill>
              <a:srgbClr val="99CCFF"/>
            </a:solidFill>
          </a:ln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CCD4C346-A325-190A-0E0F-2DFC644E5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373" y="1601257"/>
            <a:ext cx="5017773" cy="2322913"/>
          </a:xfrm>
          <a:prstGeom prst="rect">
            <a:avLst/>
          </a:prstGeom>
          <a:ln w="63500">
            <a:solidFill>
              <a:srgbClr val="99CCFF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073987-6880-4608-0F00-7FBEAC27219F}"/>
              </a:ext>
            </a:extLst>
          </p:cNvPr>
          <p:cNvSpPr txBox="1"/>
          <p:nvPr/>
        </p:nvSpPr>
        <p:spPr>
          <a:xfrm>
            <a:off x="8273192" y="4379577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진료</a:t>
            </a:r>
            <a:r>
              <a:rPr lang="en-US" altLang="ko-KR" b="1" dirty="0"/>
              <a:t>,</a:t>
            </a:r>
            <a:r>
              <a:rPr lang="ko-KR" altLang="en-US" b="1" dirty="0"/>
              <a:t>진단 메뉴 </a:t>
            </a:r>
            <a:r>
              <a:rPr lang="en-US" altLang="ko-KR" b="1" dirty="0"/>
              <a:t>:   </a:t>
            </a:r>
            <a:r>
              <a:rPr lang="ko-KR" altLang="en-US" b="1" dirty="0"/>
              <a:t>자가진단 </a:t>
            </a:r>
            <a:r>
              <a:rPr lang="en-US" altLang="ko-KR" b="1" dirty="0"/>
              <a:t>UI</a:t>
            </a:r>
          </a:p>
          <a:p>
            <a:r>
              <a:rPr lang="en-US" altLang="ko-KR" b="1" dirty="0"/>
              <a:t>                     </a:t>
            </a:r>
            <a:r>
              <a:rPr lang="ko-KR" altLang="en-US" b="1" dirty="0"/>
              <a:t>왼쪽 사이드바 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166872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B3889A-E942-5715-531C-12078774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위쪽 모서리 38">
            <a:extLst>
              <a:ext uri="{FF2B5EF4-FFF2-40B4-BE49-F238E27FC236}">
                <a16:creationId xmlns:a16="http://schemas.microsoft.com/office/drawing/2014/main" id="{A675D3B3-4A96-DCB7-E002-40F79878DDA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dirty="0">
                <a:solidFill>
                  <a:prstClr val="white"/>
                </a:solidFill>
                <a:ea typeface="Tmon몬소리 Black" panose="02000A03000000000000"/>
              </a:rPr>
              <a:t> 프로젝트 설계도</a:t>
            </a:r>
            <a:r>
              <a:rPr lang="en-US" altLang="ko-KR" sz="2400" b="1" dirty="0">
                <a:solidFill>
                  <a:prstClr val="white"/>
                </a:solidFill>
                <a:ea typeface="Tmon몬소리 Black" panose="02000A03000000000000"/>
              </a:rPr>
              <a:t> : </a:t>
            </a:r>
            <a:r>
              <a:rPr lang="ko-KR" altLang="en-US" sz="2400" b="1" dirty="0">
                <a:solidFill>
                  <a:prstClr val="white"/>
                </a:solidFill>
                <a:ea typeface="Tmon몬소리 Black" panose="02000A03000000000000"/>
              </a:rPr>
              <a:t>벤치마킹</a:t>
            </a:r>
            <a:endParaRPr lang="ko-KR" altLang="en-US" sz="23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61E96B4-4D35-0587-7059-122ABAF1D4F7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A390B90-B2BB-9F37-DCF3-1BC15AD740C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3471736-2B60-259F-1AD0-B4B1C8B26E18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47E7A30-5F44-4827-7966-F9E416EBC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75ECE243-399E-14CD-C3A0-CEFF7CA89716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4DDED11C-15FF-6268-3634-AB24CDDD6223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D9C9200-1744-B967-11A7-A28741C3AB3D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73E63AF0-674D-086A-924E-D5D09F2695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D4C649DE-E93E-4DDE-7DDF-35E12987CA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2FAEC042-CC60-5106-88ED-E18AC9442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C7046CB4-A689-BB52-7B2F-E5FCB25DFDF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CA455787-8CF8-53FA-5352-2AE5E81FAC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B7AFB1E8-2070-1603-466C-7C1D82B16CD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7D091CEB-71F4-1163-1EDF-350915F5E5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70698534-A925-2C65-738F-683872E7C3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0FF4FC79-C2CB-2E97-25A1-69206858C9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3B364869-5B89-4988-261F-9A94B50DD321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F25B7A8-5BD5-CBF7-8268-3EB9970F1CA6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38B91138-26C2-30ED-691B-C100151AAD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8659F58-C8F4-0A88-8641-6E37B20504D5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45" name="그림 44">
            <a:extLst>
              <a:ext uri="{FF2B5EF4-FFF2-40B4-BE49-F238E27FC236}">
                <a16:creationId xmlns:a16="http://schemas.microsoft.com/office/drawing/2014/main" id="{DC118627-BBDB-FCFB-7763-BD5F941F0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239" y="1348057"/>
            <a:ext cx="6186468" cy="4265911"/>
          </a:xfrm>
          <a:prstGeom prst="rect">
            <a:avLst/>
          </a:prstGeom>
          <a:ln w="63500">
            <a:solidFill>
              <a:srgbClr val="99CCFF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0B001F-A254-2F95-CFAE-322FED0EC549}"/>
              </a:ext>
            </a:extLst>
          </p:cNvPr>
          <p:cNvSpPr txBox="1"/>
          <p:nvPr/>
        </p:nvSpPr>
        <p:spPr>
          <a:xfrm>
            <a:off x="4614918" y="5982307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오시는 길 </a:t>
            </a:r>
            <a:r>
              <a:rPr lang="en-US" altLang="ko-KR" b="1" dirty="0"/>
              <a:t>: </a:t>
            </a:r>
            <a:r>
              <a:rPr lang="en-US" altLang="ko-KR" b="1" dirty="0" err="1"/>
              <a:t>Googlmap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0615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6B0CB8-9FF5-128F-DFBD-47CD288E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87CC1CBE-C354-726C-2917-5888E1231CF7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플로우 차트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DEADC793-1C3B-86C9-C9F6-2D0485B4E78B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EBBAA8-F108-DFC6-12E3-78E84E598ABB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C7B94BE4-B1A3-7A0D-0101-A60073066F7B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A979B9F-6A9B-BBB9-F619-4EA77E0C13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827E4916-49EE-9E3F-3780-952C26B236F4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CE9918FB-F2C2-B1D2-2A94-A5593460E28D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45F21BE-A931-5E1A-E3AC-F483B682AA32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F7525B5E-5AFE-39A8-145D-7DB8635408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45A7485F-7ED0-7F53-5F83-D27711282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E1DFE60D-6F88-516E-1E9B-3783DC18D7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46D0E6C1-D1DD-3000-448A-20189CDF7E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6F945DFA-E2D8-758E-4522-DF3E215038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55FFE234-DD2C-3D99-5F9E-FC9F7B3DC4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554EAED2-C040-37C6-9F43-DDF32071472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D34C372B-9B22-F3CF-40B1-7E5EA04148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D761836F-D3F5-B04C-D039-C002DAFACC8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8165DE9C-2BA3-08F1-8E93-86F6A2518943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EE4A5C4-CAD7-D4C8-AA47-ADD1C74969CB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573850CE-2610-EE36-982D-5A247B5EE9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A5F78EA-55A9-D405-849F-B5679D31A023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796CED51-13EE-80D4-A849-3BB251B8E4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029" y="1241423"/>
            <a:ext cx="8135939" cy="51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996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시퀀스 다이어그램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000" y="910800"/>
            <a:ext cx="8845710" cy="57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80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시퀀스 다이어그램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000" y="910800"/>
            <a:ext cx="8845710" cy="57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075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 err="1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유스케이스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명세서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rcRect l="994" t="813" r="683"/>
          <a:stretch>
            <a:fillRect/>
          </a:stretch>
        </p:blipFill>
        <p:spPr>
          <a:xfrm>
            <a:off x="720000" y="1909502"/>
            <a:ext cx="5089526" cy="3587837"/>
          </a:xfrm>
          <a:prstGeom prst="rect">
            <a:avLst/>
          </a:prstGeom>
          <a:ln>
            <a:noFill/>
          </a:ln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rcRect l="1519" t="2438" r="1690" b="2744"/>
          <a:stretch>
            <a:fillRect/>
          </a:stretch>
        </p:blipFill>
        <p:spPr>
          <a:xfrm>
            <a:off x="6118950" y="1909502"/>
            <a:ext cx="5353050" cy="271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092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 err="1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유스케이스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명세서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EB391367-782E-2F8A-ADE5-9E287520EE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8" t="2558" r="1277" b="3807"/>
          <a:stretch>
            <a:fillRect/>
          </a:stretch>
        </p:blipFill>
        <p:spPr>
          <a:xfrm>
            <a:off x="720000" y="1269757"/>
            <a:ext cx="5089526" cy="192380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rcRect l="656" t="831" r="849" b="1225"/>
          <a:stretch>
            <a:fillRect/>
          </a:stretch>
        </p:blipFill>
        <p:spPr>
          <a:xfrm>
            <a:off x="6118949" y="1269757"/>
            <a:ext cx="5353049" cy="496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94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 err="1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유스케이스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명세서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2F90D237-1941-287F-69D3-243343FE7E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0" t="1051" r="1071" b="1579"/>
          <a:stretch>
            <a:fillRect/>
          </a:stretch>
        </p:blipFill>
        <p:spPr>
          <a:xfrm>
            <a:off x="720001" y="1688686"/>
            <a:ext cx="5089525" cy="425722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221A1B3-2AA1-1950-4EF1-68B3C06E9F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95" t="3726" r="1656" b="4153"/>
          <a:stretch>
            <a:fillRect/>
          </a:stretch>
        </p:blipFill>
        <p:spPr>
          <a:xfrm>
            <a:off x="6118950" y="1687858"/>
            <a:ext cx="5353050" cy="217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211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클래스 다이어그램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(User)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424" y="935990"/>
            <a:ext cx="920115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24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클래스 다이어그램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(Appointment)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38"/>
          <a:stretch>
            <a:fillRect/>
          </a:stretch>
        </p:blipFill>
        <p:spPr>
          <a:xfrm>
            <a:off x="804861" y="1033272"/>
            <a:ext cx="10582275" cy="534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클래스 다이어그램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(Notice)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204" y="903778"/>
            <a:ext cx="9675302" cy="564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429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3F1C0-CF78-6DC2-82F6-5972AB54A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47D53038-AD34-0D4C-2D26-3E6BF0AB895F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테이블 기술서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CD3F2FFE-B854-BAD6-E065-0CEB83C5DAEC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67FAEDB-4078-C377-19BC-58EE2A925D7B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0EB9012F-617D-44C1-3AAD-8F1923930D39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3F840DD-9801-9BD8-74FA-A2E0E2BE7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FC64A17D-44A2-6B7D-37A5-C38CD5418632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042997BA-10B8-F012-FDB7-01A118AD7B72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23AE723-AD5B-6223-06C5-56424FD4E599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7CA56D07-3276-2DE7-3260-D1285485AB8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196467DE-68A7-4FB5-30C4-A01B3039BB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0A819A01-44EE-52E7-2FB1-9BEEA85436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13049792-CBFF-4F1D-2E46-21E5C172A4E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CF9DFEBB-AC85-4B55-5253-9A54C9E89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E8865DDD-D85A-970E-0292-DC576D1479D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48C02730-9E69-9C2C-EC96-322F13DD74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6FF14527-F27D-2F98-6459-BC39B6CE91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DCDAA938-684A-FBBB-3875-D3ECEAC6BB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22D3AA2F-42D8-6429-E6F5-1BEDD5A96AD2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F5A1328-55EA-9656-743D-4C0DC8A42AE9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D907ACED-7FEE-2B50-00E7-D3DC0392CF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D415459-D503-F93C-AAF3-107B70F59934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2" name="Google Shape;91;p14">
            <a:extLst>
              <a:ext uri="{FF2B5EF4-FFF2-40B4-BE49-F238E27FC236}">
                <a16:creationId xmlns:a16="http://schemas.microsoft.com/office/drawing/2014/main" id="{97C05FA1-F059-83B1-7CE5-E9B5D90F81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4106358"/>
              </p:ext>
            </p:extLst>
          </p:nvPr>
        </p:nvGraphicFramePr>
        <p:xfrm>
          <a:off x="1802889" y="2130901"/>
          <a:ext cx="8933644" cy="259619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78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5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u="none" strike="noStrike" cap="none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sym typeface="Malgun Gothic"/>
                        </a:rPr>
                        <a:t>테이블명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u="none" strike="noStrike" cap="none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 설명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Appointment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예약 정보 저장 테이블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err="1">
                          <a:latin typeface="Malgun Gothic"/>
                          <a:ea typeface="Malgun Gothic"/>
                          <a:sym typeface="Malgun Gothic"/>
                        </a:rPr>
                        <a:t>Chatbot_category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챗봇</a:t>
                      </a:r>
                      <a:r>
                        <a:rPr lang="ko-KR" altLang="en-US" sz="10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카테고리 관리 테이블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err="1">
                          <a:latin typeface="Malgun Gothic"/>
                          <a:ea typeface="Malgun Gothic"/>
                          <a:sym typeface="Malgun Gothic"/>
                        </a:rPr>
                        <a:t>diagnosis_history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진단 이력 저장 테이블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disease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질병 관련 기본정보 관리 테이블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hospital_info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병원 소개 정보 테이블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user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기본정보 테이블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notice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공지사항 저장 테이블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066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테이블 기술서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4" name="Google Shape;91;p14">
            <a:extLst>
              <a:ext uri="{FF2B5EF4-FFF2-40B4-BE49-F238E27FC236}">
                <a16:creationId xmlns:a16="http://schemas.microsoft.com/office/drawing/2014/main" id="{86015699-49D5-038E-18FF-8D57284543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6395794"/>
              </p:ext>
            </p:extLst>
          </p:nvPr>
        </p:nvGraphicFramePr>
        <p:xfrm>
          <a:off x="1802889" y="2410900"/>
          <a:ext cx="8586219" cy="292871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13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2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Attribute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Data Type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Not Null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Key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user_id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PK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고유번호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login_id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VARCHAR(50)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u="none" strike="noStrike" cap="none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u="none" strike="noStrike" cap="none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로그인 ID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username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VARCHAR(100)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u="none" strike="noStrike" cap="none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u="none" strike="noStrike" cap="none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이름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password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VARCHAR(255)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u="none" strike="noStrike" cap="none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u="none" strike="noStrike" cap="none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비밀번호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email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VARCHAR(100)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u="none" strike="noStrike" cap="none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u="none" strike="noStrike" cap="none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이메일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role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VARCHAR(50)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u="none" strike="noStrike" cap="none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u="none" strike="noStrike" cap="none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birth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DATE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u="none" strike="noStrike" cap="none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u="none" strike="noStrike" cap="none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생년월일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phone_number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VARCHAR(20)</a:t>
                      </a:r>
                      <a:endParaRPr sz="150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u="none" strike="noStrike" cap="none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u="none" strike="noStrike" cap="none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전화번호</a:t>
                      </a:r>
                      <a:endParaRPr sz="1500" dirty="0"/>
                    </a:p>
                  </a:txBody>
                  <a:tcPr marL="91450" marR="91450" marT="37789" marB="37789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20286FC-9280-2250-83CF-63D5F293D2AC}"/>
              </a:ext>
            </a:extLst>
          </p:cNvPr>
          <p:cNvSpPr txBox="1"/>
          <p:nvPr/>
        </p:nvSpPr>
        <p:spPr>
          <a:xfrm>
            <a:off x="4991368" y="2018688"/>
            <a:ext cx="2209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kern="0" dirty="0">
                <a:ln w="15875">
                  <a:noFill/>
                </a:ln>
                <a:ea typeface="Tmon몬소리 Black" panose="02000A03000000000000" pitchFamily="2" charset="-127"/>
              </a:rPr>
              <a:t>User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8771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90547D-3441-52D6-5744-4909503A6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90A62498-05D9-BBF9-43B3-642C2842861D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테이블 기술서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FC996F1A-183F-5210-E508-62BA623B61C0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AE87BE3-1B65-4A01-C9F1-01C38451A4E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CAC3278F-1C35-C358-64CB-9D3C9CF7766D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07A638B-AE66-0A3E-28B6-9C1EB40BB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8636DD28-B2F7-66A2-4F98-696168E52A4A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C909DCA7-1B67-3D79-0BEE-BF21F998BD52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7A05578-E4F7-5FE5-1C29-B419CA1E1A18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AED272EB-433C-A085-4088-DE2542E1DD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448D9279-4951-3A0D-2532-D684C2390E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2E1CD272-39B4-8163-6B0F-0DC683D1F0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3634B5A9-3319-F80D-21D8-5D458AAF237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EF98C94C-64B3-D87D-71BC-5B1F2BBE0C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94AA003D-DBDB-9E42-3881-ADDC5BE27E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9424157C-0885-929C-719B-F45856F13E0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E783B87F-A441-23DF-3A5E-EE2691675B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1EC108DE-E24C-6D74-D288-AB8F4371C0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4A3D3500-2DCE-EC7A-D34B-100B3E69C6B7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A0E9A47-1778-8D7B-57CC-686396F7B13C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AE232A79-E974-C390-7B74-7493BAB6CF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3918857-FAB4-F85D-2DEB-F8D438D4795B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188CC4F-1CC0-89E4-36B7-DA3DC4ABB7EA}"/>
              </a:ext>
            </a:extLst>
          </p:cNvPr>
          <p:cNvSpPr txBox="1"/>
          <p:nvPr/>
        </p:nvSpPr>
        <p:spPr>
          <a:xfrm>
            <a:off x="4991368" y="2034454"/>
            <a:ext cx="2209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kern="0" dirty="0">
                <a:ln w="15875">
                  <a:noFill/>
                </a:ln>
                <a:ea typeface="Tmon몬소리 Black" panose="02000A03000000000000" pitchFamily="2" charset="-127"/>
              </a:rPr>
              <a:t>Notice</a:t>
            </a:r>
            <a:endParaRPr lang="ko-KR" altLang="en-US" dirty="0"/>
          </a:p>
        </p:txBody>
      </p:sp>
      <p:graphicFrame>
        <p:nvGraphicFramePr>
          <p:cNvPr id="10" name="Google Shape;91;p14">
            <a:extLst>
              <a:ext uri="{FF2B5EF4-FFF2-40B4-BE49-F238E27FC236}">
                <a16:creationId xmlns:a16="http://schemas.microsoft.com/office/drawing/2014/main" id="{4A94328F-3795-055F-D4A9-D9602040B5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3558193"/>
              </p:ext>
            </p:extLst>
          </p:nvPr>
        </p:nvGraphicFramePr>
        <p:xfrm>
          <a:off x="1802889" y="2417396"/>
          <a:ext cx="8586219" cy="259619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13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2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Attribute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Data Type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Not Null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Key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notice_id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PK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공지사항 고유번호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title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VARCHAR(200)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제목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content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CLOB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author_id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FK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ID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type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VARCHAR(50)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공지</a:t>
                      </a: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유형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views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조회수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created_at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DATETIME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생성일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569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테이블 기술서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5" name="Google Shape;91;p14"/>
          <p:cNvGraphicFramePr/>
          <p:nvPr>
            <p:extLst>
              <p:ext uri="{D42A27DB-BD31-4B8C-83A1-F6EECF244321}">
                <p14:modId xmlns:p14="http://schemas.microsoft.com/office/powerpoint/2010/main" val="305346153"/>
              </p:ext>
            </p:extLst>
          </p:nvPr>
        </p:nvGraphicFramePr>
        <p:xfrm>
          <a:off x="1802889" y="1898843"/>
          <a:ext cx="8586219" cy="425878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13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2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Attribute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Data Type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Not Null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Key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appointment_id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PK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예약</a:t>
                      </a: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고유번호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counselor_id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FK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상담사</a:t>
                      </a: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ID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user_id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FK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예약자</a:t>
                      </a: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ID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appointment_date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예약 날짜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appointment_time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VARCHAR(20)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예약</a:t>
                      </a: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시간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appointment_end_time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VARCHAR(20)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종료</a:t>
                      </a: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시간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purpose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VARCHAR(255)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예약</a:t>
                      </a: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목적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phone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VARCHAR(20)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예약자</a:t>
                      </a: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연락처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birth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생년월일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status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VARCHAR(30)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예약</a:t>
                      </a: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상태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created_at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DATETIME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생성일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updated_at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DATETIME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수정일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02B75C1-A6D0-7C83-6D68-7E89CBF979BF}"/>
              </a:ext>
            </a:extLst>
          </p:cNvPr>
          <p:cNvSpPr txBox="1"/>
          <p:nvPr/>
        </p:nvSpPr>
        <p:spPr>
          <a:xfrm>
            <a:off x="4991368" y="1502505"/>
            <a:ext cx="2209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kern="0" dirty="0">
                <a:ln w="15875">
                  <a:noFill/>
                </a:ln>
                <a:ea typeface="Tmon몬소리 Black" panose="02000A03000000000000" pitchFamily="2" charset="-127"/>
              </a:rPr>
              <a:t>Appointment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8483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3CE875-BB30-089D-31A3-C992FEE58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C153D401-1685-FDBF-6B0C-5825BD1296AD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테이블 기술서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E11AD1FA-761F-48C0-4A15-578F9BB59FE1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2CAA9B1-6DBD-85D7-B4FC-819E9462B26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1E99110C-26FE-438F-DA98-C9FA70980CDC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E745303-2BE9-1C0A-06F9-53D57EA3D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09D4065C-BFD8-3A96-42CF-4E3D95A2C609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689C4862-A41D-8C10-E5B7-85172454BCA1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A52A5AE-3168-611A-D332-D8EBA9A0BB2B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3A48F4DE-C4C6-A688-3388-29B577DE267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11CD7A17-1CA3-CE56-3444-F287198812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8D048F78-C13D-FB88-6B77-303D61C7AA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01313D11-2840-AA53-B1DA-8C6EF26937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B61E578D-6188-BB4B-D0CD-5A2BB09134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71D627ED-C220-D4ED-776F-7DD41126FDE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E8EC5D81-CCD6-2E02-5C88-C83CA8B63F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75E381C-73A2-A2ED-C97C-E59C856E4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B546FBB6-511A-DEEA-06D3-D0ABF095395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4B2881CE-C202-D46D-AD8B-8642A091A5F7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A66995C-9CB0-A90C-F82D-674AC7061E78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D4DE8446-984F-B117-EEFF-8BEC6C4673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5FA344D-9DF2-7781-0EFE-048D28A83AEB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5" name="Google Shape;91;p14">
            <a:extLst>
              <a:ext uri="{FF2B5EF4-FFF2-40B4-BE49-F238E27FC236}">
                <a16:creationId xmlns:a16="http://schemas.microsoft.com/office/drawing/2014/main" id="{D08C65D6-64A8-92E4-36C7-9EC7B9B885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343133"/>
              </p:ext>
            </p:extLst>
          </p:nvPr>
        </p:nvGraphicFramePr>
        <p:xfrm>
          <a:off x="1802889" y="1339733"/>
          <a:ext cx="8586219" cy="22636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13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2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Attribute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Data Type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Not Null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Key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disease_id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PK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질병 고유번호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disease_name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VARCHAR(100)</a:t>
                      </a:r>
                      <a:endParaRPr lang="en-US" altLang="ko-KR"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 err="1">
                          <a:latin typeface="Malgun Gothic"/>
                          <a:ea typeface="Malgun Gothic"/>
                          <a:sym typeface="Malgun Gothic"/>
                        </a:rPr>
                        <a:t>질병명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CLOB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설명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symptoms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VARCHAR(255)</a:t>
                      </a:r>
                      <a:endParaRPr lang="en-US" altLang="ko-KR"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증상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causes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VARCHAR(255)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원인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image_url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VARCHAR(255)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관련 이미지 </a:t>
                      </a: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URL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A6BBEBF-3D45-0F63-3102-E029E0233792}"/>
              </a:ext>
            </a:extLst>
          </p:cNvPr>
          <p:cNvSpPr txBox="1"/>
          <p:nvPr/>
        </p:nvSpPr>
        <p:spPr>
          <a:xfrm>
            <a:off x="4991368" y="974283"/>
            <a:ext cx="2209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kern="0" dirty="0">
                <a:ln w="15875">
                  <a:noFill/>
                </a:ln>
                <a:ea typeface="Tmon몬소리 Black" panose="02000A03000000000000" pitchFamily="2" charset="-127"/>
              </a:rPr>
              <a:t>Disease</a:t>
            </a:r>
            <a:endParaRPr lang="ko-KR" altLang="en-US" dirty="0"/>
          </a:p>
        </p:txBody>
      </p:sp>
      <p:graphicFrame>
        <p:nvGraphicFramePr>
          <p:cNvPr id="4" name="Google Shape;91;p14">
            <a:extLst>
              <a:ext uri="{FF2B5EF4-FFF2-40B4-BE49-F238E27FC236}">
                <a16:creationId xmlns:a16="http://schemas.microsoft.com/office/drawing/2014/main" id="{1B85714F-045F-692E-325D-36A6442242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8189477"/>
              </p:ext>
            </p:extLst>
          </p:nvPr>
        </p:nvGraphicFramePr>
        <p:xfrm>
          <a:off x="1802888" y="4149937"/>
          <a:ext cx="8586219" cy="22636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13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2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Attribute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Data Type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Not Null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Key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PK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진단 내역 고유번호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sym typeface="Malgun Gothic"/>
                        </a:rPr>
                        <a:t>user_id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</a:t>
                      </a:r>
                      <a:endParaRPr lang="en-US" altLang="ko-KR"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사용자 </a:t>
                      </a: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ID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sym typeface="Malgun Gothic"/>
                        </a:rPr>
                        <a:t>image_path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VARCHAR(255)</a:t>
                      </a:r>
                      <a:endParaRPr lang="en-US" altLang="ko-KR" sz="11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이미지 경로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4</a:t>
                      </a:r>
                      <a:endParaRPr sz="11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result</a:t>
                      </a:r>
                      <a:endParaRPr sz="11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VARCHAR(255)</a:t>
                      </a:r>
                      <a:endParaRPr lang="en-US" altLang="ko-KR" sz="11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/>
                        <a:t>진단 결과</a:t>
                      </a:r>
                      <a:endParaRPr sz="11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200866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5</a:t>
                      </a:r>
                      <a:endParaRPr sz="11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/>
                        <a:t>model_name</a:t>
                      </a:r>
                      <a:endParaRPr sz="11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VARCHAR(255)</a:t>
                      </a:r>
                      <a:endParaRPr sz="11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/>
                        <a:t>모델 이름</a:t>
                      </a:r>
                      <a:endParaRPr sz="11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067316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/>
                        <a:t>6</a:t>
                      </a:r>
                      <a:endParaRPr sz="11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/>
                        <a:t>created_at</a:t>
                      </a:r>
                      <a:endParaRPr sz="11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DATETIME</a:t>
                      </a:r>
                      <a:endParaRPr sz="11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/>
                        <a:t>생성일</a:t>
                      </a:r>
                      <a:endParaRPr sz="11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9454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998CDA-E6B5-DD49-5F6B-60F002C47246}"/>
              </a:ext>
            </a:extLst>
          </p:cNvPr>
          <p:cNvSpPr txBox="1"/>
          <p:nvPr/>
        </p:nvSpPr>
        <p:spPr>
          <a:xfrm>
            <a:off x="4991367" y="3757725"/>
            <a:ext cx="2209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kern="0" dirty="0" err="1">
                <a:ln w="15875">
                  <a:noFill/>
                </a:ln>
                <a:latin typeface="Tmon몬소리 Black" panose="02000A03000000000000" pitchFamily="2" charset="-127"/>
                <a:ea typeface="Tmon몬소리 Black" panose="02000A03000000000000" pitchFamily="2" charset="-127"/>
              </a:rPr>
              <a:t>Diagnosis_history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1229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2E0201-4B45-4061-3A4E-08B5E92E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4D5E6121-3885-E386-DD92-1C4EEBBCBE3D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테이블 기술서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90E5572F-7F62-9E1E-9E60-887EEBF34477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4D8737D-9B50-4409-7DE3-514B600FA75F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ACFED9EB-C91D-F2F8-1F8B-E1CEB6F61CBC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C71535D-4E07-F467-4213-303E2C9F0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EDA52E0F-1460-D69B-F3D9-218BB7AA1874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E7A0A283-9794-AD28-30F1-34AE988DDE8F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143EA1E-81C9-1E07-4B4D-DBAE46F35CC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441C6BE3-6CF7-B9B2-D8A1-40D665DE23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3C584A40-47FC-C1CB-C177-C698B3D9E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9402AAD9-95D7-4D00-2774-E0775368D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C4B9C736-D1DB-4683-43E7-B60DF9BFB4B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2E63DC09-1020-3905-7CB6-F3D64366E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1D797AE4-515E-B6EF-75F3-F9DD9F350C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1C9C23E6-C047-0E6F-9860-36B14C1428E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103EC3FA-A3B7-AD95-66B0-3922E1165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2B744425-F8E6-754D-74C4-8E0BB1F2162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3EEB1B6B-DF62-E1B1-6786-3B25F0A471D7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54F0762-C2CD-4F13-6D07-1EA31DBA4CA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3CAD830B-35F9-B1BC-9497-813FB4E35A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2BFB910-A543-3252-A3CA-071957F6A463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5" name="Google Shape;91;p14">
            <a:extLst>
              <a:ext uri="{FF2B5EF4-FFF2-40B4-BE49-F238E27FC236}">
                <a16:creationId xmlns:a16="http://schemas.microsoft.com/office/drawing/2014/main" id="{B0BAD0B6-23B1-8C74-597F-D679315316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4391511"/>
              </p:ext>
            </p:extLst>
          </p:nvPr>
        </p:nvGraphicFramePr>
        <p:xfrm>
          <a:off x="1802889" y="3737875"/>
          <a:ext cx="8586219" cy="22636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13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2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Attribute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Data Type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Not Null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Key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PK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질병 고유번호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name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VARCHAR(100)</a:t>
                      </a:r>
                      <a:endParaRPr lang="en-US" altLang="ko-KR"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카테고리명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CLOB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 err="1">
                          <a:latin typeface="Malgun Gothic"/>
                          <a:ea typeface="Malgun Gothic"/>
                          <a:sym typeface="Malgun Gothic"/>
                        </a:rPr>
                        <a:t>설설명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created_at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VARCHAR(255)</a:t>
                      </a:r>
                      <a:endParaRPr lang="en-US" altLang="ko-KR"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생성일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updated_at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VARCHAR(255)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수정일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link_url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VARCHAR(255)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링크 </a:t>
                      </a: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URL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E292EEF-0DED-699A-B37E-E369626307E5}"/>
              </a:ext>
            </a:extLst>
          </p:cNvPr>
          <p:cNvSpPr txBox="1"/>
          <p:nvPr/>
        </p:nvSpPr>
        <p:spPr>
          <a:xfrm>
            <a:off x="4991367" y="3357311"/>
            <a:ext cx="2209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kern="0" dirty="0" err="1">
                <a:ln w="15875">
                  <a:noFill/>
                </a:ln>
                <a:latin typeface="Tmon몬소리 Black" panose="02000A03000000000000" pitchFamily="2" charset="-127"/>
                <a:ea typeface="Tmon몬소리 Black" panose="02000A03000000000000" pitchFamily="2" charset="-127"/>
              </a:rPr>
              <a:t>Chatbot_category</a:t>
            </a:r>
            <a:endParaRPr lang="ko-KR" altLang="en-US" dirty="0"/>
          </a:p>
        </p:txBody>
      </p:sp>
      <p:graphicFrame>
        <p:nvGraphicFramePr>
          <p:cNvPr id="12" name="Google Shape;91;p14">
            <a:extLst>
              <a:ext uri="{FF2B5EF4-FFF2-40B4-BE49-F238E27FC236}">
                <a16:creationId xmlns:a16="http://schemas.microsoft.com/office/drawing/2014/main" id="{AADFFC30-9F94-90DD-6908-71004B5E8B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7975852"/>
              </p:ext>
            </p:extLst>
          </p:nvPr>
        </p:nvGraphicFramePr>
        <p:xfrm>
          <a:off x="1802888" y="1878207"/>
          <a:ext cx="8586219" cy="126612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13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2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Attribute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Data Type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Not Null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Key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Description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 err="1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info_id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PK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병원 정보 고유번호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greeting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VARCHAR(255)</a:t>
                      </a:r>
                      <a:endParaRPr lang="en-US" altLang="ko-KR"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인사말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160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location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VARCHAR(255)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위치</a:t>
                      </a: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D55FED2-E571-311C-2A78-4DA971A9C699}"/>
              </a:ext>
            </a:extLst>
          </p:cNvPr>
          <p:cNvSpPr txBox="1"/>
          <p:nvPr/>
        </p:nvSpPr>
        <p:spPr>
          <a:xfrm>
            <a:off x="4991367" y="1494911"/>
            <a:ext cx="2209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kern="0" dirty="0" err="1">
                <a:ln w="15875">
                  <a:noFill/>
                </a:ln>
                <a:ea typeface="Tmon몬소리 Black" panose="02000A03000000000000" pitchFamily="2" charset="-127"/>
              </a:rPr>
              <a:t>Hospital_info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6232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ERD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다이어그램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9" t="3367" r="7699" b="3836"/>
          <a:stretch>
            <a:fillRect/>
          </a:stretch>
        </p:blipFill>
        <p:spPr>
          <a:xfrm>
            <a:off x="1734779" y="1086272"/>
            <a:ext cx="4444321" cy="5154930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541954A-CEF2-D07D-FD58-A59496CBB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253561"/>
              </p:ext>
            </p:extLst>
          </p:nvPr>
        </p:nvGraphicFramePr>
        <p:xfrm>
          <a:off x="6665469" y="1723409"/>
          <a:ext cx="3808812" cy="388065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808812">
                  <a:extLst>
                    <a:ext uri="{9D8B030D-6E8A-4147-A177-3AD203B41FA5}">
                      <a16:colId xmlns:a16="http://schemas.microsoft.com/office/drawing/2014/main" val="2104636486"/>
                    </a:ext>
                  </a:extLst>
                </a:gridCol>
              </a:tblGrid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/>
                        <a:t>Appointment</a:t>
                      </a:r>
                      <a:endParaRPr sz="1600" b="1" dirty="0"/>
                    </a:p>
                  </a:txBody>
                  <a:tcPr marL="91450" marR="91450" marT="41568" marB="41568">
                    <a:solidFill>
                      <a:srgbClr val="FF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595202"/>
                  </a:ext>
                </a:extLst>
              </a:tr>
              <a:tr h="3005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예약 날짜</a:t>
                      </a:r>
                      <a:r>
                        <a:rPr lang="en-US" altLang="ko-KR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,</a:t>
                      </a:r>
                      <a:r>
                        <a:rPr lang="ko-KR" altLang="en-US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시간</a:t>
                      </a:r>
                      <a:r>
                        <a:rPr lang="en-US" altLang="ko-KR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,</a:t>
                      </a:r>
                      <a:r>
                        <a:rPr lang="ko-KR" altLang="en-US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상담사 등</a:t>
                      </a:r>
                      <a:endParaRPr sz="1400" dirty="0"/>
                    </a:p>
                  </a:txBody>
                  <a:tcPr marL="91450" marR="91450" marT="41568" marB="4156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202578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상담 예약 테이블</a:t>
                      </a:r>
                      <a:endParaRPr sz="1400" dirty="0"/>
                    </a:p>
                  </a:txBody>
                  <a:tcPr marL="91450" marR="91450" marT="41568" marB="4156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238226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User</a:t>
                      </a:r>
                      <a:endParaRPr sz="1600" b="1" dirty="0"/>
                    </a:p>
                  </a:txBody>
                  <a:tcPr marL="91450" marR="91450" marT="41568" marB="41568">
                    <a:solidFill>
                      <a:srgbClr val="FF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7942"/>
                  </a:ext>
                </a:extLst>
              </a:tr>
              <a:tr h="26870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이메일</a:t>
                      </a:r>
                      <a:r>
                        <a:rPr lang="en-US" altLang="ko-KR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,</a:t>
                      </a:r>
                      <a:r>
                        <a:rPr lang="ko-KR" altLang="en-US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비밀번호 등</a:t>
                      </a:r>
                    </a:p>
                  </a:txBody>
                  <a:tcPr marL="91450" marR="91450" marT="41568" marB="4156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419787"/>
                  </a:ext>
                </a:extLst>
              </a:tr>
              <a:tr h="2687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사용자 정보 테이블</a:t>
                      </a:r>
                      <a:endParaRPr lang="ko-KR" altLang="en-US" sz="1400" dirty="0"/>
                    </a:p>
                  </a:txBody>
                  <a:tcPr marL="91450" marR="91450" marT="41568" marB="4156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36085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Notice</a:t>
                      </a:r>
                      <a:endParaRPr sz="1600" b="1" dirty="0"/>
                    </a:p>
                  </a:txBody>
                  <a:tcPr marL="91450" marR="91450" marT="41568" marB="41568">
                    <a:solidFill>
                      <a:srgbClr val="FF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152416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,</a:t>
                      </a:r>
                      <a:r>
                        <a:rPr lang="ko-KR" altLang="en-US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내용</a:t>
                      </a:r>
                      <a:r>
                        <a:rPr lang="en-US" altLang="ko-KR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,</a:t>
                      </a:r>
                      <a:r>
                        <a:rPr lang="ko-KR" altLang="en-US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작성자 등</a:t>
                      </a:r>
                      <a:endParaRPr sz="1400" dirty="0"/>
                    </a:p>
                  </a:txBody>
                  <a:tcPr marL="91450" marR="91450" marT="41568" marB="4156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666152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/>
                        <a:t>공지사항 테이블</a:t>
                      </a:r>
                      <a:endParaRPr sz="1400" dirty="0"/>
                    </a:p>
                  </a:txBody>
                  <a:tcPr marL="91450" marR="91450" marT="41568" marB="4156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103675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Disease</a:t>
                      </a:r>
                      <a:endParaRPr sz="1600" b="1" dirty="0"/>
                    </a:p>
                  </a:txBody>
                  <a:tcPr marL="91450" marR="91450" marT="41568" marB="41568">
                    <a:solidFill>
                      <a:srgbClr val="FFF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446118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질병</a:t>
                      </a:r>
                      <a:r>
                        <a:rPr lang="en-US" altLang="ko-KR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,</a:t>
                      </a:r>
                      <a:r>
                        <a:rPr lang="ko-KR" altLang="en-US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자가 진단</a:t>
                      </a:r>
                      <a:r>
                        <a:rPr lang="en-US" altLang="ko-KR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,</a:t>
                      </a:r>
                      <a:r>
                        <a:rPr lang="ko-KR" altLang="en-US" sz="1400" u="none" strike="noStrike" cap="none" dirty="0">
                          <a:latin typeface="Malgun Gothic"/>
                          <a:ea typeface="Malgun Gothic"/>
                          <a:sym typeface="Malgun Gothic"/>
                        </a:rPr>
                        <a:t>결과조회 등</a:t>
                      </a:r>
                      <a:endParaRPr sz="1400" dirty="0"/>
                    </a:p>
                  </a:txBody>
                  <a:tcPr marL="91450" marR="91450" marT="41568" marB="4156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330510"/>
                  </a:ext>
                </a:extLst>
              </a:tr>
              <a:tr h="33251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/>
                        <a:t>질병 테이블</a:t>
                      </a:r>
                      <a:endParaRPr sz="1400" dirty="0"/>
                    </a:p>
                  </a:txBody>
                  <a:tcPr marL="91450" marR="91450" marT="41568" marB="41568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973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082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사용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IDE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및 언어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2170370" y="1205223"/>
            <a:ext cx="1171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개발도구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87389" y="1205223"/>
            <a:ext cx="237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Language &amp; Skill</a:t>
            </a:r>
            <a:endParaRPr lang="ko-KR" altLang="en-US" b="1" dirty="0"/>
          </a:p>
        </p:txBody>
      </p:sp>
      <p:sp>
        <p:nvSpPr>
          <p:cNvPr id="2" name="TextBox 1"/>
          <p:cNvSpPr txBox="1"/>
          <p:nvPr/>
        </p:nvSpPr>
        <p:spPr>
          <a:xfrm>
            <a:off x="1527181" y="2280684"/>
            <a:ext cx="24577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Eclipse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Visual Studio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DBeaver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Git</a:t>
            </a:r>
            <a:r>
              <a:rPr lang="en-US" altLang="ko-KR" dirty="0"/>
              <a:t>/</a:t>
            </a:r>
            <a:r>
              <a:rPr lang="en-US" altLang="ko-KR" dirty="0" err="1"/>
              <a:t>Github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899836" y="2277687"/>
            <a:ext cx="237847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Java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Spring Boot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HTML/CSS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Jsx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Ajax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Json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Spring Framework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32088" y="1205223"/>
            <a:ext cx="1171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DBMS</a:t>
            </a:r>
            <a:endParaRPr lang="ko-KR" altLang="en-US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8565637" y="2277687"/>
            <a:ext cx="961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AWS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579296" y="1770610"/>
            <a:ext cx="1041173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142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27970-D407-4085-1683-A7BC66C30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F856CDAD-6513-114C-B1E9-6023E66FD168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메인 페이지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8162BA6-B766-6604-9A13-7606097EA8BF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CE39045-66CA-AA3D-D010-57ABF8987793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E3C82355-FF48-E11E-65AF-0811B1DAA45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6B38564-E9C4-24F2-6B5D-3B683A36E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A1513FF4-6FC0-1661-09D5-A2BC8C613646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C84A4F69-0718-F4A9-512C-0A52739825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8AAE57E-F22C-7086-4A9E-88C61553F720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A057DA1D-79E7-0A41-95AF-6949B11E0F5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3D5EF73D-18B1-1988-534D-F987393ECD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79C5B139-AAD4-FDDF-C4B4-5E2C657A35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E136CD68-696F-30A2-AD36-FBA04EF57E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FBC4860D-23BE-5856-E140-FFE3B5E846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A10C6B64-ED37-93A3-A9BF-20A01EA9CBC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C401FDE-39B5-A7C2-5771-391E98EA312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F1978A73-DB56-30C8-1692-0CE41B1D00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27E64504-91A2-582F-9618-64A6E6E66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C04A1B81-8F9F-6B44-E5F5-445E6EB6AB6E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C55D1AA-79A1-AFEA-0778-F6EF60CA63CB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063D1E12-FC9D-1FA5-CF84-AFA2C42586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231D4BE-932F-B99E-FBB6-628E7B354A57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2E3ECCF-9FF8-3DE3-0C22-D75342DAF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098627"/>
              </p:ext>
            </p:extLst>
          </p:nvPr>
        </p:nvGraphicFramePr>
        <p:xfrm>
          <a:off x="7035276" y="1494874"/>
          <a:ext cx="4382581" cy="4755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8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698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메인 페이지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73368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메뉴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해당 메뉴 페이지 이동</a:t>
                      </a: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600" dirty="0"/>
                        <a:t>  공지사항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질환진단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예약안내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소개</a:t>
                      </a:r>
                      <a:endParaRPr lang="en-US" altLang="ko-KR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200281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로그인 클릭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로그인 페이지 이동</a:t>
                      </a: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회원가입 클릭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회원가입 페이지 이동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752940"/>
                  </a:ext>
                </a:extLst>
              </a:tr>
              <a:tr h="8480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사이드바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상담예약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오시는길</a:t>
                      </a:r>
                      <a:r>
                        <a:rPr lang="en-US" altLang="ko-KR" sz="1600" dirty="0"/>
                        <a:t>,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  AI</a:t>
                      </a:r>
                      <a:r>
                        <a:rPr lang="ko-KR" altLang="en-US" sz="1600" dirty="0"/>
                        <a:t>상담 바로가기</a:t>
                      </a:r>
                      <a:endParaRPr lang="en-US" altLang="ko-KR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202057"/>
                  </a:ext>
                </a:extLst>
              </a:tr>
              <a:tr h="8480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en-US" altLang="ko-KR" sz="1600" dirty="0"/>
                        <a:t>4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질환진단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피부진단 페이지 이동</a:t>
                      </a: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  10</a:t>
                      </a:r>
                      <a:r>
                        <a:rPr lang="ko-KR" altLang="en-US" sz="1600" dirty="0"/>
                        <a:t>글자 이내 간략한 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557585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1DD1ACEC-7C34-C4B3-7B0A-70FF7991B443}"/>
              </a:ext>
            </a:extLst>
          </p:cNvPr>
          <p:cNvGrpSpPr/>
          <p:nvPr/>
        </p:nvGrpSpPr>
        <p:grpSpPr>
          <a:xfrm>
            <a:off x="1895541" y="1468197"/>
            <a:ext cx="3261184" cy="4816696"/>
            <a:chOff x="1133931" y="1235655"/>
            <a:chExt cx="3261184" cy="481669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E13F2C74-9DA4-EBA2-B94B-44326259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4122"/>
            <a:stretch>
              <a:fillRect/>
            </a:stretch>
          </p:blipFill>
          <p:spPr>
            <a:xfrm>
              <a:off x="1133931" y="1235655"/>
              <a:ext cx="3261184" cy="1551986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FE56C8D-D797-6341-C0CF-A349CBF9A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3931" y="2787641"/>
              <a:ext cx="3261184" cy="2920972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47D8D4F-086C-A931-55C6-AC044E652642}"/>
                </a:ext>
              </a:extLst>
            </p:cNvPr>
            <p:cNvSpPr/>
            <p:nvPr/>
          </p:nvSpPr>
          <p:spPr>
            <a:xfrm>
              <a:off x="1133931" y="5728463"/>
              <a:ext cx="3261184" cy="323888"/>
            </a:xfrm>
            <a:prstGeom prst="rect">
              <a:avLst/>
            </a:prstGeom>
            <a:solidFill>
              <a:srgbClr val="BAC8D3"/>
            </a:solidFill>
            <a:ln w="3175">
              <a:solidFill>
                <a:srgbClr val="29292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 err="1">
                  <a:solidFill>
                    <a:sysClr val="windowText" lastClr="000000"/>
                  </a:solidFill>
                </a:rPr>
                <a:t>베너</a:t>
              </a:r>
              <a:endParaRPr lang="ko-KR" altLang="en-US" sz="8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1BF93E-475A-5BA2-F0FA-30B3C9474FD2}"/>
              </a:ext>
            </a:extLst>
          </p:cNvPr>
          <p:cNvSpPr/>
          <p:nvPr/>
        </p:nvSpPr>
        <p:spPr>
          <a:xfrm>
            <a:off x="4092857" y="1468197"/>
            <a:ext cx="364453" cy="152460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F6B9AA5-8231-8C57-153D-029FA3C20347}"/>
              </a:ext>
            </a:extLst>
          </p:cNvPr>
          <p:cNvSpPr/>
          <p:nvPr/>
        </p:nvSpPr>
        <p:spPr>
          <a:xfrm>
            <a:off x="2918069" y="1468197"/>
            <a:ext cx="1097281" cy="152459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182BD0D-6939-A607-5C7E-56D67ED144E8}"/>
              </a:ext>
            </a:extLst>
          </p:cNvPr>
          <p:cNvSpPr/>
          <p:nvPr/>
        </p:nvSpPr>
        <p:spPr>
          <a:xfrm>
            <a:off x="4713347" y="1916508"/>
            <a:ext cx="428138" cy="848478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A211F2-7495-32B3-1647-56F2C810C0F0}"/>
              </a:ext>
            </a:extLst>
          </p:cNvPr>
          <p:cNvSpPr/>
          <p:nvPr/>
        </p:nvSpPr>
        <p:spPr>
          <a:xfrm>
            <a:off x="1895541" y="3000333"/>
            <a:ext cx="3261184" cy="2940822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9F1EEB-5E52-C8E4-1A2F-45B40F9321B5}"/>
              </a:ext>
            </a:extLst>
          </p:cNvPr>
          <p:cNvSpPr/>
          <p:nvPr/>
        </p:nvSpPr>
        <p:spPr>
          <a:xfrm>
            <a:off x="2899019" y="1213360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5320A1-6D43-7203-7C4D-F12D107B8CE9}"/>
              </a:ext>
            </a:extLst>
          </p:cNvPr>
          <p:cNvSpPr/>
          <p:nvPr/>
        </p:nvSpPr>
        <p:spPr>
          <a:xfrm>
            <a:off x="4073929" y="1213360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FE416A-090A-3592-1DFA-421A4EFA9F8E}"/>
              </a:ext>
            </a:extLst>
          </p:cNvPr>
          <p:cNvSpPr/>
          <p:nvPr/>
        </p:nvSpPr>
        <p:spPr>
          <a:xfrm>
            <a:off x="4705727" y="1668280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59B665F-44C9-4F9C-B023-B1F96D6D0474}"/>
              </a:ext>
            </a:extLst>
          </p:cNvPr>
          <p:cNvSpPr/>
          <p:nvPr/>
        </p:nvSpPr>
        <p:spPr>
          <a:xfrm>
            <a:off x="1875066" y="2755132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91496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AFC83-8009-0C30-5637-4DC5720A6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FA942BFA-B55B-9973-12F3-F8537D46257E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로그인 페이지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E1F9818C-19C9-D4D9-9EFA-AED4217C484B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3B2879F-C476-7596-AF48-C656DB868F59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E67BE5BB-F272-608D-8D0C-DDBB9E977482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3D211C2-F353-EBB8-E9F7-EAD09F040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02A1DD31-9B2C-4CDD-D0E1-3AA781C62266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D8221AC8-7F88-9B69-4D6F-305D0F1D586C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BF69667-74D5-2056-4B40-38DE3D872A14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60D92573-B4A7-4A8C-BEC3-13E3834149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D6A87323-3006-CF6F-09F2-6BEE0B2B1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899EDA83-9E55-3D70-1BC6-67F1B3FA45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A886B546-A487-9E2D-BA59-A0F6795AB8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3AB060F7-58A3-A8A3-DDCB-A095461B6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0F41D42F-0359-0B24-7C65-E74848DFA8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AC9EA486-334E-9BC5-87F8-E02D17C6E74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9FE01ADF-8F0A-82BA-5ACB-FC7F86DD1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768D12B0-C18C-6F73-A9B5-92AC762EBC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9F4A9F77-9565-368D-EA52-FF11F8814613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F21D629-E8FC-F82E-27B0-894B431F4368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C5326AFC-3226-C326-01EB-6BADE11028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DC1325B-5252-7208-7D68-4C108A82CCA9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7E3BC73-2C0E-A016-973B-59F117D3F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591147"/>
              </p:ext>
            </p:extLst>
          </p:nvPr>
        </p:nvGraphicFramePr>
        <p:xfrm>
          <a:off x="7035276" y="2045715"/>
          <a:ext cx="4382582" cy="3289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9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698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로그인 페이지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73368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4733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아이디</a:t>
                      </a:r>
                      <a:r>
                        <a:rPr lang="en-US" altLang="ko-KR" sz="1600" b="1" dirty="0"/>
                        <a:t>,</a:t>
                      </a:r>
                      <a:r>
                        <a:rPr lang="ko-KR" altLang="en-US" sz="1600" b="1" dirty="0"/>
                        <a:t>비밀번호 입력</a:t>
                      </a:r>
                      <a:endParaRPr lang="en-US" altLang="ko-KR" sz="1600" b="1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528620"/>
                  </a:ext>
                </a:extLst>
              </a:tr>
              <a:tr h="10180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 err="1"/>
                        <a:t>미입력</a:t>
                      </a:r>
                      <a:r>
                        <a:rPr lang="ko-KR" altLang="en-US" sz="1600" b="1" dirty="0"/>
                        <a:t> 상태로 로그인 클릭 시 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‘</a:t>
                      </a:r>
                      <a:r>
                        <a:rPr lang="ko-KR" altLang="en-US" sz="1600" dirty="0"/>
                        <a:t>아이디를 확인해주세요</a:t>
                      </a:r>
                      <a:r>
                        <a:rPr lang="en-US" altLang="ko-KR" sz="1600" dirty="0"/>
                        <a:t>’</a:t>
                      </a:r>
                      <a:r>
                        <a:rPr lang="ko-KR" altLang="en-US" sz="1600" dirty="0"/>
                        <a:t>경고 창</a:t>
                      </a: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잘못된 비밀번호 입력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‘</a:t>
                      </a:r>
                      <a:r>
                        <a:rPr lang="ko-KR" altLang="en-US" sz="1600" dirty="0"/>
                        <a:t>비밀번호를 확인해주세요</a:t>
                      </a:r>
                      <a:r>
                        <a:rPr lang="en-US" altLang="ko-KR" sz="1600" dirty="0"/>
                        <a:t>＇</a:t>
                      </a:r>
                      <a:r>
                        <a:rPr lang="ko-KR" altLang="en-US" sz="1600" dirty="0"/>
                        <a:t>경고 창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708525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회원가입 클릭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회원가입 페이지로 이동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752940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12D02C41-5122-68E4-5441-C55C136744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40" y="1574800"/>
            <a:ext cx="5438114" cy="4509316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32A1378C-43F7-39DF-78D0-4D48761D359B}"/>
              </a:ext>
            </a:extLst>
          </p:cNvPr>
          <p:cNvSpPr/>
          <p:nvPr/>
        </p:nvSpPr>
        <p:spPr>
          <a:xfrm>
            <a:off x="2559050" y="2929072"/>
            <a:ext cx="2157413" cy="639628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F58EA43-3813-B19C-7B35-3DE387608847}"/>
              </a:ext>
            </a:extLst>
          </p:cNvPr>
          <p:cNvSpPr/>
          <p:nvPr/>
        </p:nvSpPr>
        <p:spPr>
          <a:xfrm>
            <a:off x="2544659" y="2672240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30668DE-DD94-7E97-834C-8B3D6D4B8E98}"/>
              </a:ext>
            </a:extLst>
          </p:cNvPr>
          <p:cNvSpPr/>
          <p:nvPr/>
        </p:nvSpPr>
        <p:spPr>
          <a:xfrm>
            <a:off x="4304121" y="3883411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DB3354-8E01-5180-D4F8-F01CC901C26A}"/>
              </a:ext>
            </a:extLst>
          </p:cNvPr>
          <p:cNvSpPr/>
          <p:nvPr/>
        </p:nvSpPr>
        <p:spPr>
          <a:xfrm>
            <a:off x="3836194" y="3663210"/>
            <a:ext cx="356394" cy="194913"/>
          </a:xfrm>
          <a:prstGeom prst="rect">
            <a:avLst/>
          </a:prstGeom>
          <a:noFill/>
          <a:ln w="1905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B3B0BE9-41B8-752E-718D-DEED02CB08E0}"/>
              </a:ext>
            </a:extLst>
          </p:cNvPr>
          <p:cNvSpPr/>
          <p:nvPr/>
        </p:nvSpPr>
        <p:spPr>
          <a:xfrm>
            <a:off x="3829050" y="3886200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B844C2B-788E-3675-C64A-264689404F39}"/>
              </a:ext>
            </a:extLst>
          </p:cNvPr>
          <p:cNvSpPr/>
          <p:nvPr/>
        </p:nvSpPr>
        <p:spPr>
          <a:xfrm>
            <a:off x="4311854" y="3663210"/>
            <a:ext cx="356394" cy="194913"/>
          </a:xfrm>
          <a:prstGeom prst="rect">
            <a:avLst/>
          </a:prstGeom>
          <a:noFill/>
          <a:ln w="1905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3563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7BB240-5078-DA73-AAB3-4E4157731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DF4755CF-17D7-1422-200B-6CF759B34D2C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회원가입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1)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9DA718-FC85-B9E3-9508-37DE4D2F6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20" y="1956845"/>
            <a:ext cx="6135700" cy="3777831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0DB4ED7B-637C-B9DE-BBAF-68BA889B8C72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3F85E97-3D8B-3BDF-0195-8E94B2DC64D0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2BF6D7E6-EEBE-3C24-067E-B93817633DE8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9D46010-AC52-57CE-31B0-4E6782EA0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17337C33-8DEC-5CBF-C309-20387A70E3DD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10223876-B7F4-3500-C601-9D9B6A7B3C77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6A38541-282A-B5D0-0AF2-D516F2BB648D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20A90954-6060-A401-405A-EA78FEB1493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498CC86C-5A83-E61B-12E0-DC6FA0841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6608A04-BD44-DDF8-E4EC-30799A994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81E00D83-C970-0D9A-51E4-2D585B7577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4B79491B-CC27-6DFD-EAED-CDD145E40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2EADA578-565F-C842-CE71-47392B3E6A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28A8E631-E480-7C06-05E0-8637C40F5D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88D3ADA6-84B3-FD73-7B9C-9CCEDFCFF4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B0E84B1E-4E97-64A3-BED5-9800236239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A8C58784-7EE2-27B8-51C1-F8F3AE14D066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8EF4F0B-4082-A5EA-ECD2-B58DD8F49DC2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4CB3613D-290E-601D-7E31-C152A6BFED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DF07191F-198F-FF46-571A-3B1E6EC682CB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3AD0116-180D-B55C-2519-5AE1FAB324A3}"/>
              </a:ext>
            </a:extLst>
          </p:cNvPr>
          <p:cNvSpPr/>
          <p:nvPr/>
        </p:nvSpPr>
        <p:spPr>
          <a:xfrm>
            <a:off x="2027559" y="2954449"/>
            <a:ext cx="2915919" cy="216807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1F97A45-53AE-F815-D037-AD952C50B2B9}"/>
              </a:ext>
            </a:extLst>
          </p:cNvPr>
          <p:cNvSpPr/>
          <p:nvPr/>
        </p:nvSpPr>
        <p:spPr>
          <a:xfrm>
            <a:off x="1759973" y="2937895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D00A529-F188-D35D-2A59-5217FA8D1899}"/>
              </a:ext>
            </a:extLst>
          </p:cNvPr>
          <p:cNvSpPr/>
          <p:nvPr/>
        </p:nvSpPr>
        <p:spPr>
          <a:xfrm>
            <a:off x="5230812" y="3265599"/>
            <a:ext cx="404813" cy="216807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64E5AC2-656B-6A9E-DDC1-148A3451F7B5}"/>
              </a:ext>
            </a:extLst>
          </p:cNvPr>
          <p:cNvSpPr/>
          <p:nvPr/>
        </p:nvSpPr>
        <p:spPr>
          <a:xfrm>
            <a:off x="5217001" y="3003157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B8B5645-9250-17B9-1425-14A3AA15357E}"/>
              </a:ext>
            </a:extLst>
          </p:cNvPr>
          <p:cNvSpPr/>
          <p:nvPr/>
        </p:nvSpPr>
        <p:spPr>
          <a:xfrm>
            <a:off x="2736849" y="5119601"/>
            <a:ext cx="949325" cy="151917"/>
          </a:xfrm>
          <a:prstGeom prst="rect">
            <a:avLst/>
          </a:prstGeom>
          <a:noFill/>
          <a:ln w="1905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515EA72-63AA-AC7F-37D8-E457BC9918C1}"/>
              </a:ext>
            </a:extLst>
          </p:cNvPr>
          <p:cNvSpPr/>
          <p:nvPr/>
        </p:nvSpPr>
        <p:spPr>
          <a:xfrm>
            <a:off x="2478031" y="5106900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7855824-68F5-EF2C-0F44-60540FC321EC}"/>
              </a:ext>
            </a:extLst>
          </p:cNvPr>
          <p:cNvSpPr/>
          <p:nvPr/>
        </p:nvSpPr>
        <p:spPr>
          <a:xfrm>
            <a:off x="3358904" y="5366319"/>
            <a:ext cx="924965" cy="205859"/>
          </a:xfrm>
          <a:prstGeom prst="rect">
            <a:avLst/>
          </a:prstGeom>
          <a:noFill/>
          <a:ln w="1905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27BB850-0A97-CFFC-0EF9-64447C2A5AD0}"/>
              </a:ext>
            </a:extLst>
          </p:cNvPr>
          <p:cNvSpPr/>
          <p:nvPr/>
        </p:nvSpPr>
        <p:spPr>
          <a:xfrm>
            <a:off x="3101021" y="5355371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016BCB-FE07-16ED-E9A2-D3A79B4B2969}"/>
              </a:ext>
            </a:extLst>
          </p:cNvPr>
          <p:cNvSpPr/>
          <p:nvPr/>
        </p:nvSpPr>
        <p:spPr>
          <a:xfrm>
            <a:off x="2770509" y="4206161"/>
            <a:ext cx="2172969" cy="216807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731F70-BCDA-3A87-3D07-F5E79955C46C}"/>
              </a:ext>
            </a:extLst>
          </p:cNvPr>
          <p:cNvSpPr/>
          <p:nvPr/>
        </p:nvSpPr>
        <p:spPr>
          <a:xfrm>
            <a:off x="1755300" y="3875796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D79587-70A5-FA52-F4C8-7252572FED54}"/>
              </a:ext>
            </a:extLst>
          </p:cNvPr>
          <p:cNvSpPr/>
          <p:nvPr/>
        </p:nvSpPr>
        <p:spPr>
          <a:xfrm>
            <a:off x="2027559" y="3896192"/>
            <a:ext cx="2915919" cy="216807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9CF53BB-BCF2-17F4-639E-2194DD262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150356"/>
              </p:ext>
            </p:extLst>
          </p:nvPr>
        </p:nvGraphicFramePr>
        <p:xfrm>
          <a:off x="7035276" y="1864487"/>
          <a:ext cx="4382581" cy="370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8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698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회원가입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73368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10180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en-US" altLang="ko-KR" sz="1500" dirty="0"/>
                        <a:t>1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아이디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: ‘</a:t>
                      </a:r>
                      <a:r>
                        <a:rPr lang="ko-KR" altLang="en-US" sz="1500" dirty="0"/>
                        <a:t>아이디는 영어로 시작한 </a:t>
                      </a:r>
                      <a:r>
                        <a:rPr lang="en-US" altLang="ko-KR" sz="1500" dirty="0"/>
                        <a:t>6-20</a:t>
                      </a:r>
                      <a:r>
                        <a:rPr lang="ko-KR" altLang="en-US" sz="1500" dirty="0"/>
                        <a:t>자까지 영어를 사용하세요</a:t>
                      </a:r>
                      <a:r>
                        <a:rPr lang="en-US" altLang="ko-KR" sz="1500" dirty="0"/>
                        <a:t>＇</a:t>
                      </a:r>
                      <a:r>
                        <a:rPr lang="ko-KR" altLang="en-US" sz="1500" dirty="0"/>
                        <a:t>경고 창</a:t>
                      </a:r>
                      <a:endParaRPr lang="en-US" altLang="ko-KR" sz="15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15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비밀번호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: </a:t>
                      </a:r>
                      <a:r>
                        <a:rPr lang="ko-KR" altLang="en-US" sz="1500" dirty="0"/>
                        <a:t>비밀번호 확인에 비밀번호 입력 시 </a:t>
                      </a:r>
                      <a:r>
                        <a:rPr lang="en-US" altLang="ko-KR" sz="1500" dirty="0"/>
                        <a:t>‘</a:t>
                      </a:r>
                      <a:r>
                        <a:rPr lang="ko-KR" altLang="en-US" sz="1500" dirty="0"/>
                        <a:t>비밀번호 일치</a:t>
                      </a:r>
                      <a:r>
                        <a:rPr lang="en-US" altLang="ko-KR" sz="1500" dirty="0"/>
                        <a:t>/</a:t>
                      </a:r>
                      <a:r>
                        <a:rPr lang="ko-KR" altLang="en-US" sz="1500" dirty="0"/>
                        <a:t>불일치</a:t>
                      </a:r>
                      <a:r>
                        <a:rPr lang="en-US" altLang="ko-KR" sz="1500" dirty="0"/>
                        <a:t>＇</a:t>
                      </a:r>
                      <a:r>
                        <a:rPr lang="ko-KR" altLang="en-US" sz="1500" dirty="0"/>
                        <a:t>경고 창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751940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2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중복확인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: </a:t>
                      </a:r>
                      <a:r>
                        <a:rPr lang="ko-KR" altLang="en-US" sz="1500" dirty="0"/>
                        <a:t>중복회원가입 방지 기능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752940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3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생년월일 입력 시</a:t>
                      </a:r>
                      <a:endParaRPr lang="en-US" altLang="ko-KR" sz="15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/>
                        <a:t>: </a:t>
                      </a:r>
                      <a:r>
                        <a:rPr lang="ko-KR" altLang="en-US" sz="1500" dirty="0"/>
                        <a:t>주민등록 앞자리 입력</a:t>
                      </a:r>
                      <a:endParaRPr lang="en-US" altLang="ko-KR" sz="1500" b="1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982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824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F6E4A-B8B1-BA94-7462-498926DC5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208C3C84-6EC2-B258-70C3-5E17A9923BBE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회원가입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1)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1001DCD-E330-2732-7036-DE6E29484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20" y="1956845"/>
            <a:ext cx="6135700" cy="3777831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30C2B02-E757-C3F7-24A9-1D2679ECBC76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A807A51-E0ED-27F2-F626-F54BC5D1455A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2ED5C54E-0E1D-90C1-45BA-92333A28725A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10166C8-BF0C-613B-8954-023C159B46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DA3F4AC-56CE-A824-5093-385A043A33FA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D4D83AE0-9804-CD61-9CAC-06FE5D42D900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7977521-988A-0912-0970-EC8939D526ED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B216620F-5B1E-97E1-A51C-81634FF304B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9A13A351-D2B0-1840-FB31-177F3E170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CAB70A82-2C7E-7DFA-415A-A52303457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BBEEFD4-F187-8FF3-02C1-DE0CEE9590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1CCE89B4-6D10-4489-ECB6-3B325D4A4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6E8DC500-4F34-F2C0-5A61-B875C3ABA9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7E1D12C7-2973-D076-BB77-34729D79BF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1C0B56D2-0FF9-17C1-FAA1-F06B1F1D2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1993E682-E79F-C457-BC0E-444959CD009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018053BA-AD17-612D-DA30-A6669EE73A2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AC2F8F1-9489-4449-E4BE-A5C4A13526F5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83308ACE-0894-0B08-1526-DE2FCFD67A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FF2E544-24BE-9BD3-E270-3BE67FE63EBB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9917DE1-3B74-5893-935C-FD547166B863}"/>
              </a:ext>
            </a:extLst>
          </p:cNvPr>
          <p:cNvSpPr/>
          <p:nvPr/>
        </p:nvSpPr>
        <p:spPr>
          <a:xfrm>
            <a:off x="2027559" y="2954449"/>
            <a:ext cx="2915919" cy="216807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BC395A-758B-F956-66CA-11E5D593C432}"/>
              </a:ext>
            </a:extLst>
          </p:cNvPr>
          <p:cNvSpPr/>
          <p:nvPr/>
        </p:nvSpPr>
        <p:spPr>
          <a:xfrm>
            <a:off x="1759973" y="2937895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FEFFF5D-2F90-14CD-7F50-829E39142C62}"/>
              </a:ext>
            </a:extLst>
          </p:cNvPr>
          <p:cNvSpPr/>
          <p:nvPr/>
        </p:nvSpPr>
        <p:spPr>
          <a:xfrm>
            <a:off x="5235575" y="3265599"/>
            <a:ext cx="404813" cy="216807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98C730F-88EF-6ACA-42F2-F9888094C45B}"/>
              </a:ext>
            </a:extLst>
          </p:cNvPr>
          <p:cNvSpPr/>
          <p:nvPr/>
        </p:nvSpPr>
        <p:spPr>
          <a:xfrm>
            <a:off x="5217001" y="3003157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38ED192-236D-068B-7DB0-0D096C1135B8}"/>
              </a:ext>
            </a:extLst>
          </p:cNvPr>
          <p:cNvSpPr/>
          <p:nvPr/>
        </p:nvSpPr>
        <p:spPr>
          <a:xfrm>
            <a:off x="2736849" y="5119601"/>
            <a:ext cx="949325" cy="151917"/>
          </a:xfrm>
          <a:prstGeom prst="rect">
            <a:avLst/>
          </a:prstGeom>
          <a:noFill/>
          <a:ln w="1905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D61FF00-E66D-E409-4DB6-ABE1FD4A5E85}"/>
              </a:ext>
            </a:extLst>
          </p:cNvPr>
          <p:cNvSpPr/>
          <p:nvPr/>
        </p:nvSpPr>
        <p:spPr>
          <a:xfrm>
            <a:off x="2478031" y="5106900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AF567F9-8A60-FEDF-617D-44DD309B3DD4}"/>
              </a:ext>
            </a:extLst>
          </p:cNvPr>
          <p:cNvSpPr/>
          <p:nvPr/>
        </p:nvSpPr>
        <p:spPr>
          <a:xfrm>
            <a:off x="3358904" y="5366319"/>
            <a:ext cx="924965" cy="205859"/>
          </a:xfrm>
          <a:prstGeom prst="rect">
            <a:avLst/>
          </a:prstGeom>
          <a:noFill/>
          <a:ln w="1905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257DCBC-DBCE-C044-D5DC-0D322650AB06}"/>
              </a:ext>
            </a:extLst>
          </p:cNvPr>
          <p:cNvSpPr/>
          <p:nvPr/>
        </p:nvSpPr>
        <p:spPr>
          <a:xfrm>
            <a:off x="3101021" y="5355371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765121-D972-C7A8-518E-AFAD7C9F7B55}"/>
              </a:ext>
            </a:extLst>
          </p:cNvPr>
          <p:cNvSpPr/>
          <p:nvPr/>
        </p:nvSpPr>
        <p:spPr>
          <a:xfrm>
            <a:off x="2770509" y="4206161"/>
            <a:ext cx="2172969" cy="216807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4AB93BD-F24A-9788-81F5-0AA4B3E0BCC0}"/>
              </a:ext>
            </a:extLst>
          </p:cNvPr>
          <p:cNvSpPr/>
          <p:nvPr/>
        </p:nvSpPr>
        <p:spPr>
          <a:xfrm>
            <a:off x="1755300" y="3875796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528FF7-D786-3923-890A-1B9BF58A1A0C}"/>
              </a:ext>
            </a:extLst>
          </p:cNvPr>
          <p:cNvSpPr/>
          <p:nvPr/>
        </p:nvSpPr>
        <p:spPr>
          <a:xfrm>
            <a:off x="2027559" y="3896192"/>
            <a:ext cx="2915919" cy="216807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7EDFAD9-0A21-78FF-B693-8B4B406EB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882304"/>
              </p:ext>
            </p:extLst>
          </p:nvPr>
        </p:nvGraphicFramePr>
        <p:xfrm>
          <a:off x="7035276" y="2536869"/>
          <a:ext cx="4382581" cy="2709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8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698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회원가입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73368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4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정보 제공을 하지 않을 경우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: ‘</a:t>
                      </a:r>
                      <a:r>
                        <a:rPr lang="ko-KR" altLang="en-US" sz="1500" dirty="0"/>
                        <a:t>정보 제공에 동의해주세요</a:t>
                      </a:r>
                      <a:r>
                        <a:rPr lang="en-US" altLang="ko-KR" sz="1500" dirty="0"/>
                        <a:t>’</a:t>
                      </a:r>
                      <a:r>
                        <a:rPr lang="ko-KR" altLang="en-US" sz="1500" dirty="0"/>
                        <a:t> </a:t>
                      </a:r>
                      <a:r>
                        <a:rPr lang="ko-KR" altLang="en-US" sz="1500" dirty="0" err="1"/>
                        <a:t>미체크시</a:t>
                      </a:r>
                      <a:r>
                        <a:rPr lang="ko-KR" altLang="en-US" sz="1500" dirty="0"/>
                        <a:t> 회원가입 불가능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752940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5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회원가입 정보를 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  </a:t>
                      </a:r>
                      <a:r>
                        <a:rPr lang="ko-KR" altLang="en-US" sz="1500" b="1" dirty="0"/>
                        <a:t>모두 입력하지 않을 경우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: </a:t>
                      </a:r>
                      <a:r>
                        <a:rPr lang="ko-KR" altLang="en-US" sz="1500" dirty="0"/>
                        <a:t>입력 정보와 </a:t>
                      </a:r>
                      <a:r>
                        <a:rPr lang="ko-KR" altLang="en-US" sz="1500" dirty="0" err="1"/>
                        <a:t>맞지않는</a:t>
                      </a:r>
                      <a:r>
                        <a:rPr lang="ko-KR" altLang="en-US" sz="1500" dirty="0"/>
                        <a:t> 칸에 </a:t>
                      </a:r>
                      <a:r>
                        <a:rPr lang="en-US" altLang="ko-KR" sz="1500" dirty="0"/>
                        <a:t>’</a:t>
                      </a:r>
                      <a:r>
                        <a:rPr lang="ko-KR" altLang="en-US" sz="1500" dirty="0" err="1"/>
                        <a:t>해당칸의</a:t>
                      </a:r>
                      <a:r>
                        <a:rPr lang="ko-KR" altLang="en-US" sz="1500" dirty="0"/>
                        <a:t> 가입 정보를 확인해주세요</a:t>
                      </a:r>
                      <a:r>
                        <a:rPr lang="en-US" altLang="ko-KR" sz="1500" dirty="0"/>
                        <a:t>.’</a:t>
                      </a:r>
                      <a:r>
                        <a:rPr lang="ko-KR" altLang="en-US" sz="1500" dirty="0"/>
                        <a:t> 경고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3476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76169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807A3-6CB7-4B91-751B-75366A5AD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F6F33B46-BAC7-77F5-F7FB-8B2ACF7DFE20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공지사항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-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공지사항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5BB400-B9DF-D62A-A933-5A5ACCA08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20" y="1555058"/>
            <a:ext cx="5447318" cy="4521600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DE682010-DC72-7534-1629-6E29DE884F90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D966758-1884-6045-FAD9-8F7AC8656A59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0333C69-4F6A-E65C-9B50-E88652C82415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6AF3FAB-07A2-127E-A2F9-D6EF08930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AB76B0C6-A92A-4611-6E9B-0E5D1EB7F94F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714FEE39-7360-6B11-2884-F6C16F379584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9427C5E-8392-19C4-CD63-F816B1C52C65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382E40B6-B878-03FF-6B5D-1AF852BBAA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B283F76A-758B-7DCD-562A-D581B5BD86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EB5CC3E4-74A0-9F2D-AD04-7531851DBB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38F3418F-B9E4-C166-D68A-6C163FC693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B671EDF5-D624-B512-3E72-EE75CFD33D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9AF61752-B956-D722-021E-C8B84F9B70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AAC2F775-BF13-95D9-AB61-D0433288B2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42AD133B-0D67-2084-07DE-B67B573472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610EC719-6A24-F306-8A13-1D079A53E0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8D34C501-23CF-5740-DF42-165706FBE8A4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45A5C7C-9972-9EA4-CD0C-751363B4BF1B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3DCA9561-8AD2-52AC-9FDD-00CC0B9DAA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7B72990B-1FDA-D332-3CC6-69E174D29EF0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94E86CD-A2ED-8562-8C84-7D7C5F9FB9C4}"/>
              </a:ext>
            </a:extLst>
          </p:cNvPr>
          <p:cNvSpPr/>
          <p:nvPr/>
        </p:nvSpPr>
        <p:spPr>
          <a:xfrm flipV="1">
            <a:off x="1582463" y="3130655"/>
            <a:ext cx="4234137" cy="1740043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805761-61D0-BD3E-07E9-082413ECCCD9}"/>
              </a:ext>
            </a:extLst>
          </p:cNvPr>
          <p:cNvSpPr/>
          <p:nvPr/>
        </p:nvSpPr>
        <p:spPr>
          <a:xfrm>
            <a:off x="1323382" y="3111607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FFDA82F-1D4F-5D1C-D4B6-B19A8A2FE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764153"/>
              </p:ext>
            </p:extLst>
          </p:nvPr>
        </p:nvGraphicFramePr>
        <p:xfrm>
          <a:off x="7035276" y="2205520"/>
          <a:ext cx="4382582" cy="2876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9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698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공지사항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73368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4733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800" b="1" dirty="0"/>
                        <a:t># </a:t>
                      </a:r>
                      <a:r>
                        <a:rPr lang="ko-KR" altLang="en-US" sz="1600" b="1" dirty="0"/>
                        <a:t>검색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800" dirty="0"/>
                        <a:t>: </a:t>
                      </a:r>
                      <a:r>
                        <a:rPr lang="ko-KR" altLang="en-US" sz="1600" dirty="0"/>
                        <a:t>검색기능으로 유저 편의성 제공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857515"/>
                  </a:ext>
                </a:extLst>
              </a:tr>
              <a:tr h="10180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공지사항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회원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비회원 모두 읽기만 가능</a:t>
                      </a: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공지사항 게시글 클릭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해당 공지사항 상세내용 이동</a:t>
                      </a:r>
                      <a:endParaRPr lang="en-US" altLang="ko-KR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751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1978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600990-34D2-9712-7AD5-A2B23F3F6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C93E3E59-9649-D2BE-5CF0-A1041ECF1130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공지 사항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상세내용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DF9071-9659-6AFC-2D6A-C915F6A52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65" y="1403182"/>
            <a:ext cx="5452928" cy="4521600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18CD431-776A-7C5D-08BD-724E14A28176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9495A22-0B1C-972B-2C66-F9994EB6B8D4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D44C2F00-A5D2-F694-904A-199E85F6F65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B16938F-3D5E-9AEE-8F88-9689B4FB9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940DD0ED-6297-9711-7425-8D612206596A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F2F1D708-0922-0F40-F17C-4A440086783C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C409F81-E4AB-F168-82ED-59CCC9FF2072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9C1AE5A8-51DB-CF2D-0C3E-E25E2D1DC77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5A9BDD-1FBF-9347-96BA-81DA164F8F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379FB9D3-EED2-2CA7-F8F3-92E1644F01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53658DC-677A-F957-3454-39F7C81A40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85BFB9B4-5587-46FC-938D-5C286AF80E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76B40C1-1090-097C-0914-BDEE86EBF5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A1B20F42-3175-6FB7-353E-D33EA9F0EE1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FCAF2793-359C-3921-D420-AC40B32F5A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F0047F7D-2825-14DF-3A95-AA7EAD60F8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4C71E644-4539-D8BB-A603-735292A293E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2E70C71-490C-8CB0-CAA2-DB7168541D65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EB48F110-BFE7-5A09-C63D-BF1D15E7C0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A6F6FB9-8738-0B72-59BA-2005D13AA51E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9D870DC-3625-CECD-3C53-8DE3FB6D3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618631"/>
              </p:ext>
            </p:extLst>
          </p:nvPr>
        </p:nvGraphicFramePr>
        <p:xfrm>
          <a:off x="7035276" y="2240714"/>
          <a:ext cx="4382582" cy="2632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9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698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공지사항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73368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4733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800" b="1" dirty="0"/>
                        <a:t># </a:t>
                      </a:r>
                      <a:r>
                        <a:rPr lang="ko-KR" altLang="en-US" sz="1600" b="1" dirty="0"/>
                        <a:t>공지사항 상세내용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800" dirty="0"/>
                        <a:t>: </a:t>
                      </a:r>
                      <a:r>
                        <a:rPr lang="ko-KR" altLang="en-US" sz="1600" dirty="0"/>
                        <a:t>검색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비회원 모두 읽기만 가능</a:t>
                      </a:r>
                      <a:endParaRPr lang="en-US" altLang="ko-KR" sz="18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212906"/>
                  </a:ext>
                </a:extLst>
              </a:tr>
              <a:tr h="4733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공지사항 상세내용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회원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비회원 모두 읽기만 가능</a:t>
                      </a: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목록으로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공지사항 목록 페이지로 이동</a:t>
                      </a:r>
                      <a:endParaRPr lang="en-US" altLang="ko-KR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517730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300434-8152-FC69-A131-876740109370}"/>
              </a:ext>
            </a:extLst>
          </p:cNvPr>
          <p:cNvSpPr/>
          <p:nvPr/>
        </p:nvSpPr>
        <p:spPr>
          <a:xfrm flipV="1">
            <a:off x="1522804" y="2391730"/>
            <a:ext cx="4217706" cy="2640644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6A40F22-557C-5C8C-1222-1E8FA63E2010}"/>
              </a:ext>
            </a:extLst>
          </p:cNvPr>
          <p:cNvSpPr/>
          <p:nvPr/>
        </p:nvSpPr>
        <p:spPr>
          <a:xfrm>
            <a:off x="1255555" y="2383633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870D057-2595-69D4-9B00-BB98771C82A7}"/>
              </a:ext>
            </a:extLst>
          </p:cNvPr>
          <p:cNvSpPr/>
          <p:nvPr/>
        </p:nvSpPr>
        <p:spPr>
          <a:xfrm>
            <a:off x="2928557" y="5185104"/>
            <a:ext cx="629709" cy="353683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C814D47-D40B-F1B9-949D-E5BB68A73F1E}"/>
              </a:ext>
            </a:extLst>
          </p:cNvPr>
          <p:cNvSpPr/>
          <p:nvPr/>
        </p:nvSpPr>
        <p:spPr>
          <a:xfrm>
            <a:off x="2651538" y="5163685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56183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DE230-CA37-B148-9352-AE7D6D5B4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9508DBAB-633C-45A9-0C8B-2BAEE6720982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질환진단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-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페이지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상세내용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E47212-2C95-8837-363F-4E7D0AECB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38" y="1259020"/>
            <a:ext cx="5895762" cy="4888800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8E5646A1-F842-86FE-DA1D-6B23CE36E2F0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2C6A8C7-3A8A-1E7A-3C98-B5F6D253A1B1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9EC29B3-834A-7B3B-0603-DFAB0563C527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73D5A3B-BE7B-7B52-16A2-0C8C3BBA0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694DC41D-D1CE-4A0C-5553-BD33BD123AF1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F46561A2-A1C7-D071-E978-D1D321AD5FD1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A8DD2C3-0783-501D-0C01-C009E2FCD4CD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94449093-BCE2-9840-0DF9-EB45CE3625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F3365038-624C-9B65-05D0-AD8AF7A5AC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C663ED19-1241-D9F7-2DC0-50E3487405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5B2925D2-1B84-D3B3-E9EE-9E41CB68E23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2D0BBF76-E213-BAEF-ABAC-4F4CBBF047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E74158E5-9902-6762-0A90-BB19536F0E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AE3F710E-97E3-F903-7A5C-67C68DFF27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4A02940A-9B79-157D-DEFB-E2EE62B63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1C761F12-758F-87A5-B4F4-93DAA3897C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FD20E29-9E10-1AB7-C3AE-1475A829E4D2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9E8E12E-34F1-BECB-D8EC-BC7D5434268A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97AFC627-A41C-934C-F5F0-0D56436C92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5A1764A-B1A5-DB90-77A1-F7A6B37DABBB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41DA644-52E3-62A9-C86A-7BDC8F046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6698"/>
              </p:ext>
            </p:extLst>
          </p:nvPr>
        </p:nvGraphicFramePr>
        <p:xfrm>
          <a:off x="7035276" y="1586611"/>
          <a:ext cx="4382581" cy="4233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8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289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질환 진단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32135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929339">
                <a:tc>
                  <a:txBody>
                    <a:bodyPr/>
                    <a:lstStyle/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#</a:t>
                      </a:r>
                      <a:r>
                        <a:rPr lang="ko-KR" altLang="en-US" sz="1600" b="1" dirty="0"/>
                        <a:t> 이미지 표기</a:t>
                      </a: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병명과 관련된 이미지를 보여주어 유저의 시각적 편의성 제공</a:t>
                      </a:r>
                      <a:endParaRPr lang="en-US" altLang="ko-KR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751940"/>
                  </a:ext>
                </a:extLst>
              </a:tr>
              <a:tr h="4652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피부병 소개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각 피부병의 내용 등록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752940"/>
                  </a:ext>
                </a:extLst>
              </a:tr>
              <a:tr h="4652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비회원의 경우</a:t>
                      </a: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로그인 페이지로 이동</a:t>
                      </a: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16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회원의 경우</a:t>
                      </a:r>
                      <a:endParaRPr lang="en-US" altLang="ko-KR" sz="16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자가진단 페이지 이동</a:t>
                      </a:r>
                      <a:endParaRPr lang="en-US" altLang="ko-KR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352031"/>
                  </a:ext>
                </a:extLst>
              </a:tr>
              <a:tr h="4652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4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바로가기 사이드 바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해당 질환진단 페이지 클릭 시 이동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275589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7AB2A6A7-66A7-5DB1-3966-B5D389A1112D}"/>
              </a:ext>
            </a:extLst>
          </p:cNvPr>
          <p:cNvSpPr/>
          <p:nvPr/>
        </p:nvSpPr>
        <p:spPr>
          <a:xfrm>
            <a:off x="3663950" y="2341562"/>
            <a:ext cx="857250" cy="1106488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DA44B2C-4519-5457-9FEA-DF4511C13A1D}"/>
              </a:ext>
            </a:extLst>
          </p:cNvPr>
          <p:cNvSpPr/>
          <p:nvPr/>
        </p:nvSpPr>
        <p:spPr>
          <a:xfrm>
            <a:off x="3648369" y="2076558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3CA9D7F-168D-BDC0-7448-2945ED842F33}"/>
              </a:ext>
            </a:extLst>
          </p:cNvPr>
          <p:cNvSpPr/>
          <p:nvPr/>
        </p:nvSpPr>
        <p:spPr>
          <a:xfrm>
            <a:off x="2318634" y="3660290"/>
            <a:ext cx="3738579" cy="1743698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B336FE-7CDC-95E0-FB7A-F488BD9191F4}"/>
              </a:ext>
            </a:extLst>
          </p:cNvPr>
          <p:cNvSpPr/>
          <p:nvPr/>
        </p:nvSpPr>
        <p:spPr>
          <a:xfrm>
            <a:off x="2047684" y="5206231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8476D6-BCE2-27CE-FA67-BE38799C40F5}"/>
              </a:ext>
            </a:extLst>
          </p:cNvPr>
          <p:cNvSpPr/>
          <p:nvPr/>
        </p:nvSpPr>
        <p:spPr>
          <a:xfrm>
            <a:off x="3575050" y="5627924"/>
            <a:ext cx="1092200" cy="337896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50F9876-FD8E-AF6C-E3EC-8E57141001E2}"/>
              </a:ext>
            </a:extLst>
          </p:cNvPr>
          <p:cNvSpPr/>
          <p:nvPr/>
        </p:nvSpPr>
        <p:spPr>
          <a:xfrm>
            <a:off x="3308973" y="5754008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25F957E-2086-7BE4-F4D3-5760F796BE27}"/>
              </a:ext>
            </a:extLst>
          </p:cNvPr>
          <p:cNvSpPr/>
          <p:nvPr/>
        </p:nvSpPr>
        <p:spPr>
          <a:xfrm>
            <a:off x="859621" y="2584404"/>
            <a:ext cx="1090945" cy="2498136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84ED7F-2876-5B23-D12C-F0611B169B31}"/>
              </a:ext>
            </a:extLst>
          </p:cNvPr>
          <p:cNvSpPr/>
          <p:nvPr/>
        </p:nvSpPr>
        <p:spPr>
          <a:xfrm>
            <a:off x="839259" y="2322512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7229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733BA-141E-7EC9-F34B-E759C8240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E6F222E7-333F-64A2-D188-D9DBAE5F68AA}"/>
              </a:ext>
            </a:extLst>
          </p:cNvPr>
          <p:cNvSpPr/>
          <p:nvPr/>
        </p:nvSpPr>
        <p:spPr>
          <a:xfrm>
            <a:off x="224116" y="241990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질환 진단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-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피부 진단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114613AA-82E3-48C3-DF71-74D6BD507EE7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D507EFD-4698-5502-7BE9-1700A67B8240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D573637-B62A-77E6-80AC-31D6DC8E7565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9B3AE4D-1AA5-D8B6-A80F-7EF532753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B5C20609-49A9-9E37-A5A0-10F73C8F9716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8D958B7A-54FA-C78A-0364-9CB724F5D8F6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B10F21C-B98E-9D2B-80EF-4F940E5EBEF8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5CD90EA5-8A2B-24EC-4B81-DD10868C276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56BB4796-3B46-A337-3C86-F8AFD78BE8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AC4135F1-D144-3EB3-378D-AB4322EE27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BD66010A-76C0-D59F-C368-67565B5135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2FD9AA54-2A96-4B12-3DBF-38CCD94BD4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5408F991-0590-A52C-9296-2B700732D6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C36DAED8-3D39-8222-AC05-73EE839331A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4157989A-4CF0-ED45-1F6F-DE2C07DCB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5F20D3C-DE39-0E11-25EF-3F26F7FF60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4500D6D3-196E-7DA7-A2C8-D9A9B7449DC9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2CD77EA-3215-1966-5FDE-FAEF3715573D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D761B735-2F24-D5B0-F10C-D69744DA4F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5939E37-58AC-5531-03D2-19D6C5E98318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0AC75FD-3099-5745-A620-11D582984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198754"/>
              </p:ext>
            </p:extLst>
          </p:nvPr>
        </p:nvGraphicFramePr>
        <p:xfrm>
          <a:off x="7035276" y="2131804"/>
          <a:ext cx="4382581" cy="3143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8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289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질환 진단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32135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4652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이미지 첨부파일 등록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 첨부파일 등록한  이미지로 변경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268727"/>
                  </a:ext>
                </a:extLst>
              </a:tr>
              <a:tr h="4652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개인정보 제공 안내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개인정보 동의 안내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752940"/>
                  </a:ext>
                </a:extLst>
              </a:tr>
              <a:tr h="4652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판독모델 이름 및 설명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사용한 모델명과 결과값 출력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09982"/>
                  </a:ext>
                </a:extLst>
              </a:tr>
              <a:tr h="4652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4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진단 결과 클릭 시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진단 결과 페이지로 이동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379998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DA6A5FA7-1D70-961F-8803-16BEF6DA47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98" y="1350806"/>
            <a:ext cx="5899940" cy="489226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FE45B02-97C4-629E-B503-616D26292A0D}"/>
              </a:ext>
            </a:extLst>
          </p:cNvPr>
          <p:cNvSpPr/>
          <p:nvPr/>
        </p:nvSpPr>
        <p:spPr>
          <a:xfrm>
            <a:off x="3491230" y="2303318"/>
            <a:ext cx="1301750" cy="1301750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8BFD40D-22D8-5260-BBE6-CFAD03255C4D}"/>
              </a:ext>
            </a:extLst>
          </p:cNvPr>
          <p:cNvSpPr/>
          <p:nvPr/>
        </p:nvSpPr>
        <p:spPr>
          <a:xfrm>
            <a:off x="3486150" y="2039339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0D53ECA-30BF-CBF7-606C-0DBA49113B3D}"/>
              </a:ext>
            </a:extLst>
          </p:cNvPr>
          <p:cNvSpPr/>
          <p:nvPr/>
        </p:nvSpPr>
        <p:spPr>
          <a:xfrm>
            <a:off x="2290330" y="3730722"/>
            <a:ext cx="3779476" cy="1140536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1BE44B-8D6C-7015-CEA5-7F81AC78F4C8}"/>
              </a:ext>
            </a:extLst>
          </p:cNvPr>
          <p:cNvSpPr/>
          <p:nvPr/>
        </p:nvSpPr>
        <p:spPr>
          <a:xfrm>
            <a:off x="2270962" y="3466127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659E4A9-5EC3-A8B0-6CC2-D9FD1C9A2806}"/>
              </a:ext>
            </a:extLst>
          </p:cNvPr>
          <p:cNvSpPr/>
          <p:nvPr/>
        </p:nvSpPr>
        <p:spPr>
          <a:xfrm>
            <a:off x="2290330" y="4919046"/>
            <a:ext cx="3779476" cy="578322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A3FEEAE-D961-7FBD-9773-62F742BBF6CC}"/>
              </a:ext>
            </a:extLst>
          </p:cNvPr>
          <p:cNvSpPr/>
          <p:nvPr/>
        </p:nvSpPr>
        <p:spPr>
          <a:xfrm>
            <a:off x="2028118" y="5297230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D25E9DD-2EC3-0FB1-9CC1-D9B66FDC6607}"/>
              </a:ext>
            </a:extLst>
          </p:cNvPr>
          <p:cNvSpPr/>
          <p:nvPr/>
        </p:nvSpPr>
        <p:spPr>
          <a:xfrm>
            <a:off x="3665032" y="5750020"/>
            <a:ext cx="1023937" cy="273064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DFC4B14-9C94-A6BA-59F0-4F757B34AF37}"/>
              </a:ext>
            </a:extLst>
          </p:cNvPr>
          <p:cNvSpPr/>
          <p:nvPr/>
        </p:nvSpPr>
        <p:spPr>
          <a:xfrm>
            <a:off x="3397958" y="5825786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6148BB1-2271-E722-AF4E-ABAA76FB18C6}"/>
              </a:ext>
            </a:extLst>
          </p:cNvPr>
          <p:cNvSpPr/>
          <p:nvPr/>
        </p:nvSpPr>
        <p:spPr>
          <a:xfrm>
            <a:off x="2148840" y="2039339"/>
            <a:ext cx="521208" cy="216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1016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E4B49B-CF62-58A7-D478-1DF522A3F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93E002EF-51D6-A643-803C-6581FDB91D3A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질환 진단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-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진단 결과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F7DE5F2-76CA-6195-DAFB-77DE6FDDC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00" y="1274400"/>
            <a:ext cx="6039843" cy="5004000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9E792615-6EA0-B906-3C93-CD23AFF70A74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67C9F8C-9A4D-3142-5762-0032D6AC7BBC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C93489F-7DAF-AF10-DAB1-88CE3D642973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52C564A-4A7C-C6F5-51B4-7C00A8FCD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D2DC971E-3285-217F-1CFB-9DF62826925E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9570931A-A267-B8BB-9892-BDEFA701DF21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AAA616A-9E4C-932D-22FF-430683E236DE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8D872D47-3085-FBF0-5331-C88BECF5C5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B0326B0A-FCDC-A06B-D443-A482E5D44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2836A7D7-67CA-8FF9-DEB5-EEE5C649CB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3F8ADD76-2B4A-9DE7-0F66-A10D023A93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A92B0BA7-AE04-8D61-68D2-3180EE14B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2A72DA30-0B45-6785-4211-FA7357594E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C844FBA-AEE3-9487-C8E8-0638BC81492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D7CDF355-00CA-440B-F5E2-BC6DA85F7A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B7A0D4C3-34AE-1C48-E2E3-07B6EB52D4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F4B0395-0B14-2D08-2923-13D709B89E14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75A4FC3-B493-62E4-3B15-C8324180B055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7CA7C3BF-E9AD-BA84-2A10-52168C3FCA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43E5BDF-FECA-BE12-9A48-3763091BD31C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8E978C6-1CCD-46E9-EE34-BC339F88A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780438"/>
              </p:ext>
            </p:extLst>
          </p:nvPr>
        </p:nvGraphicFramePr>
        <p:xfrm>
          <a:off x="7035277" y="2774877"/>
          <a:ext cx="4382581" cy="2589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8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289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질환 진단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32135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4652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자가진단 결과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</a:t>
                      </a:r>
                      <a:r>
                        <a:rPr lang="ko-KR" altLang="en-US" sz="1600" dirty="0"/>
                        <a:t>모델의 성능 텍스트로 제공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280455"/>
                  </a:ext>
                </a:extLst>
              </a:tr>
              <a:tr h="465213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6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1:1</a:t>
                      </a:r>
                      <a:r>
                        <a:rPr lang="ko-KR" altLang="en-US" sz="1600" b="1" dirty="0"/>
                        <a:t>상담 클릭 시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예약 안내 페이지로 이동</a:t>
                      </a:r>
                      <a:endParaRPr lang="en-US" altLang="ko-KR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426846"/>
                  </a:ext>
                </a:extLst>
              </a:tr>
              <a:tr h="46521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 err="1"/>
                        <a:t>뒤로가기</a:t>
                      </a:r>
                      <a:r>
                        <a:rPr lang="ko-KR" altLang="en-US" sz="1600" b="1" dirty="0"/>
                        <a:t> 클릭 시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피부 진단 페이지로 이동</a:t>
                      </a:r>
                      <a:endParaRPr lang="en-US" altLang="ko-KR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0265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A2E282F4-2C3E-F1CE-ACF0-E6C3A0564C37}"/>
              </a:ext>
            </a:extLst>
          </p:cNvPr>
          <p:cNvSpPr/>
          <p:nvPr/>
        </p:nvSpPr>
        <p:spPr>
          <a:xfrm>
            <a:off x="2231497" y="2946336"/>
            <a:ext cx="3936629" cy="1466015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E5F1746-0E15-AAD6-E0DB-19F7C0E0774D}"/>
              </a:ext>
            </a:extLst>
          </p:cNvPr>
          <p:cNvSpPr/>
          <p:nvPr/>
        </p:nvSpPr>
        <p:spPr>
          <a:xfrm>
            <a:off x="2203821" y="2666474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0767995-0ED5-5D13-79BF-8A9CBF2641EC}"/>
              </a:ext>
            </a:extLst>
          </p:cNvPr>
          <p:cNvSpPr/>
          <p:nvPr/>
        </p:nvSpPr>
        <p:spPr>
          <a:xfrm>
            <a:off x="3239507" y="4736099"/>
            <a:ext cx="1744979" cy="346441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8645329-716B-0F19-64A7-248AA9AA1C84}"/>
              </a:ext>
            </a:extLst>
          </p:cNvPr>
          <p:cNvSpPr/>
          <p:nvPr/>
        </p:nvSpPr>
        <p:spPr>
          <a:xfrm>
            <a:off x="2951508" y="4891133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7582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CC0C4-2F7B-20AA-11B9-5C20B07AC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01987F89-8EE6-C8EA-6B59-334F1B414F14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예약 안내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상담 예약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862B490C-993E-F1A1-3F52-14DB67A35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940" y="1225019"/>
            <a:ext cx="5225513" cy="5225513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78678E2C-9DD2-A280-B06B-E6E21DBBACBF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1D6D01F-74B8-0DA5-D9B2-4C1FB5992B7B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9DAEEDB8-DDD9-F54C-FC01-DB7C707BBDD1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2A593FC-DE47-9A0A-144A-154A93D2C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37377157-B04A-E17E-F92C-FAFB1CF392F5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4517BE12-C257-3F1C-31B5-81EC704B2083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DBF55E4-5C44-5934-7D12-3D5564025D9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EADEFFE1-C62B-D747-88C6-BCE01B1CC0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20A2CF5E-1357-0A5D-B475-DB08436423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695D54F7-CA20-2FD8-2E23-F52BB07D16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346CE988-A2D6-6B37-19F0-B02CCB8BA85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15AB6C94-1154-C1B2-FC53-B6AE0BA668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F121E6EC-FADC-BF6D-6DC8-9903E0B86E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B97124E9-E72A-A4DB-A935-3A59F1893B5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4725E9E-C738-3CFD-2488-D017CE398D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FC8AC8A8-A7BB-17E7-8230-C4EA8DB0BEA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47F69DDF-0A89-D3C5-72F8-6DD221CDD9E1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78DB825-2EE9-99FB-AB95-26FBA54D0D08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6D4F1ACF-DC29-D3E4-9E88-E534BDD7C2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D0390C2-1DF1-6140-5D67-2D1DD0B8A05C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9F11EAE-03FA-9BDB-DE42-06EE9F96B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73632"/>
              </p:ext>
            </p:extLst>
          </p:nvPr>
        </p:nvGraphicFramePr>
        <p:xfrm>
          <a:off x="7035276" y="1260984"/>
          <a:ext cx="4382581" cy="4983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8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698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상담 예약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73368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1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비회원의 경우</a:t>
                      </a:r>
                      <a:endParaRPr lang="en-US" altLang="ko-KR" sz="15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/>
                        <a:t>: </a:t>
                      </a:r>
                      <a:r>
                        <a:rPr lang="ko-KR" altLang="en-US" sz="1400" dirty="0"/>
                        <a:t>로그인 페이지로 이동</a:t>
                      </a:r>
                      <a:endParaRPr lang="en-US" altLang="ko-KR" sz="14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회원의 경우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: </a:t>
                      </a:r>
                      <a:r>
                        <a:rPr lang="ko-KR" altLang="en-US" sz="1500" dirty="0"/>
                        <a:t>예약자명</a:t>
                      </a:r>
                      <a:r>
                        <a:rPr lang="en-US" altLang="ko-KR" sz="1500" dirty="0"/>
                        <a:t>,</a:t>
                      </a:r>
                      <a:r>
                        <a:rPr lang="ko-KR" altLang="en-US" sz="1500" dirty="0"/>
                        <a:t>생년월일</a:t>
                      </a:r>
                      <a:r>
                        <a:rPr lang="en-US" altLang="ko-KR" sz="1500" dirty="0"/>
                        <a:t>,</a:t>
                      </a:r>
                      <a:r>
                        <a:rPr lang="ko-KR" altLang="en-US" sz="1500" dirty="0"/>
                        <a:t>연락처 입력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584383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2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상담 희망 날짜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: </a:t>
                      </a:r>
                      <a:r>
                        <a:rPr lang="ko-KR" altLang="en-US" sz="1500" dirty="0"/>
                        <a:t>희망 날짜 설정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556969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3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상담 시간</a:t>
                      </a:r>
                      <a:r>
                        <a:rPr lang="en-US" altLang="ko-KR" sz="1500" b="1" dirty="0"/>
                        <a:t>, </a:t>
                      </a:r>
                      <a:r>
                        <a:rPr lang="ko-KR" altLang="en-US" sz="1500" b="1" dirty="0"/>
                        <a:t>상담사 클릭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: </a:t>
                      </a:r>
                      <a:r>
                        <a:rPr lang="ko-KR" altLang="en-US" sz="1500" dirty="0"/>
                        <a:t>해당 삼당사가 상담 가능 시 흰색</a:t>
                      </a:r>
                      <a:r>
                        <a:rPr lang="en-US" altLang="ko-KR" sz="1500" dirty="0"/>
                        <a:t>,</a:t>
                      </a:r>
                      <a:r>
                        <a:rPr lang="ko-KR" altLang="en-US" sz="1500" dirty="0"/>
                        <a:t> </a:t>
                      </a:r>
                      <a:endParaRPr lang="en-US" altLang="ko-KR" sz="15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500" dirty="0"/>
                        <a:t>불가능시 회색 </a:t>
                      </a:r>
                      <a:r>
                        <a:rPr lang="en-US" altLang="ko-KR" sz="1500" dirty="0"/>
                        <a:t>,1</a:t>
                      </a:r>
                      <a:r>
                        <a:rPr lang="ko-KR" altLang="en-US" sz="1500" dirty="0"/>
                        <a:t>시간 간격 배치</a:t>
                      </a:r>
                      <a:endParaRPr lang="en-US" altLang="ko-KR" sz="1500" dirty="0">
                        <a:solidFill>
                          <a:srgbClr val="FF0000"/>
                        </a:solidFill>
                      </a:endParaRP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752940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4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정보 제공하지 않을 경우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: ‘</a:t>
                      </a:r>
                      <a:r>
                        <a:rPr lang="ko-KR" altLang="en-US" sz="1500" dirty="0"/>
                        <a:t>정보 제공에 동의해주세요</a:t>
                      </a:r>
                      <a:r>
                        <a:rPr lang="en-US" altLang="ko-KR" sz="1500" dirty="0"/>
                        <a:t>’ </a:t>
                      </a:r>
                      <a:r>
                        <a:rPr lang="ko-KR" altLang="en-US" sz="1500" dirty="0"/>
                        <a:t>경고 창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505414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5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예약</a:t>
                      </a:r>
                      <a:r>
                        <a:rPr lang="en-US" altLang="ko-KR" sz="1500" b="1" dirty="0"/>
                        <a:t>/</a:t>
                      </a:r>
                      <a:r>
                        <a:rPr lang="ko-KR" altLang="en-US" sz="1500" b="1" dirty="0"/>
                        <a:t>저장 클릭 시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: ‘</a:t>
                      </a:r>
                      <a:r>
                        <a:rPr lang="ko-KR" altLang="en-US" sz="1500" dirty="0"/>
                        <a:t>예약이 완료되었습니다</a:t>
                      </a:r>
                      <a:r>
                        <a:rPr lang="en-US" altLang="ko-KR" sz="1500" dirty="0"/>
                        <a:t>‘ </a:t>
                      </a:r>
                      <a:r>
                        <a:rPr lang="ko-KR" altLang="en-US" sz="1500" dirty="0"/>
                        <a:t>메시지 출력</a:t>
                      </a:r>
                      <a:endParaRPr lang="en-US" altLang="ko-KR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194028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6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상담 주의사항 작성</a:t>
                      </a:r>
                      <a:endParaRPr lang="en-US" altLang="ko-KR" sz="1500" b="1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725102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86D5F7EE-3EA3-D317-42AC-0CA495E25343}"/>
              </a:ext>
            </a:extLst>
          </p:cNvPr>
          <p:cNvSpPr/>
          <p:nvPr/>
        </p:nvSpPr>
        <p:spPr>
          <a:xfrm>
            <a:off x="1792126" y="2029398"/>
            <a:ext cx="1120189" cy="2012315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425AB3D-AAF2-3143-6799-26BE6B81F1E9}"/>
              </a:ext>
            </a:extLst>
          </p:cNvPr>
          <p:cNvSpPr/>
          <p:nvPr/>
        </p:nvSpPr>
        <p:spPr>
          <a:xfrm>
            <a:off x="1774661" y="1772551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908E0F-828D-8422-D171-7B274582E595}"/>
              </a:ext>
            </a:extLst>
          </p:cNvPr>
          <p:cNvSpPr/>
          <p:nvPr/>
        </p:nvSpPr>
        <p:spPr>
          <a:xfrm>
            <a:off x="3124808" y="2024845"/>
            <a:ext cx="1135147" cy="2012315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32DCED-AE14-9463-3CF1-44B4E23D9996}"/>
              </a:ext>
            </a:extLst>
          </p:cNvPr>
          <p:cNvSpPr/>
          <p:nvPr/>
        </p:nvSpPr>
        <p:spPr>
          <a:xfrm>
            <a:off x="3105758" y="1772551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DD3248-A7CF-3594-69BF-8BE6B5E75EE4}"/>
              </a:ext>
            </a:extLst>
          </p:cNvPr>
          <p:cNvSpPr/>
          <p:nvPr/>
        </p:nvSpPr>
        <p:spPr>
          <a:xfrm>
            <a:off x="4449427" y="2024844"/>
            <a:ext cx="1175085" cy="2012315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8FF92C-F4C8-998F-B434-4830A60025E7}"/>
              </a:ext>
            </a:extLst>
          </p:cNvPr>
          <p:cNvSpPr/>
          <p:nvPr/>
        </p:nvSpPr>
        <p:spPr>
          <a:xfrm>
            <a:off x="4436855" y="1772550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4F81396-858E-7B5E-AF58-7E0B0E790085}"/>
              </a:ext>
            </a:extLst>
          </p:cNvPr>
          <p:cNvSpPr/>
          <p:nvPr/>
        </p:nvSpPr>
        <p:spPr>
          <a:xfrm>
            <a:off x="1786569" y="4170246"/>
            <a:ext cx="3837943" cy="1066799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BCB5398-F285-7193-20A1-3E5D7BF9F5B3}"/>
              </a:ext>
            </a:extLst>
          </p:cNvPr>
          <p:cNvSpPr/>
          <p:nvPr/>
        </p:nvSpPr>
        <p:spPr>
          <a:xfrm>
            <a:off x="1522447" y="4150403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AE5443A-39D1-DB38-E4EB-5F5462D7A8E3}"/>
              </a:ext>
            </a:extLst>
          </p:cNvPr>
          <p:cNvSpPr/>
          <p:nvPr/>
        </p:nvSpPr>
        <p:spPr>
          <a:xfrm>
            <a:off x="3434601" y="5269718"/>
            <a:ext cx="525418" cy="161925"/>
          </a:xfrm>
          <a:prstGeom prst="rect">
            <a:avLst/>
          </a:prstGeom>
          <a:noFill/>
          <a:ln w="1905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838A67F-D800-04F2-030A-46914BBC5920}"/>
              </a:ext>
            </a:extLst>
          </p:cNvPr>
          <p:cNvSpPr/>
          <p:nvPr/>
        </p:nvSpPr>
        <p:spPr>
          <a:xfrm>
            <a:off x="3174408" y="5263708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3067245-A48D-559B-53BC-A1EED7F56674}"/>
              </a:ext>
            </a:extLst>
          </p:cNvPr>
          <p:cNvSpPr/>
          <p:nvPr/>
        </p:nvSpPr>
        <p:spPr>
          <a:xfrm>
            <a:off x="1016940" y="5471491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F6374FD-CF5E-379A-D48E-355521293F62}"/>
              </a:ext>
            </a:extLst>
          </p:cNvPr>
          <p:cNvSpPr/>
          <p:nvPr/>
        </p:nvSpPr>
        <p:spPr>
          <a:xfrm>
            <a:off x="1033952" y="5728531"/>
            <a:ext cx="5208501" cy="373611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5564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D88BB-55E5-90E5-F7FE-0BB67436D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70B9C388-1BF9-D10E-3D2A-397944D89B4B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예약 안내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-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상담 시간표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1B14A5BF-649E-256E-FE16-B42B6F0978DD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EB4D048-D11E-E088-287D-0B309E548E80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F1B883E-97E4-AE27-06D1-C8B7DCE064E1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AE78D74-B503-A029-4248-E0E83C2B3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BC21F419-AB59-A787-390E-2BA88844A616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1BAD3CF7-FDBD-AD45-5AF6-FC1C86DB71BC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7699076-6843-E71F-E4BB-D0FE6601287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D14C96E0-4CCB-49DE-1332-E68EB1592A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BBF07EEE-DCF1-0C84-EBD5-A91B7E5832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07146E1D-8C06-9D9D-6A91-B89911A7EF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01636310-4793-C5BF-CF95-A6F38482D0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0CB70E36-B1C5-7B06-94EC-06A419E18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5B04E235-0D3C-D900-E441-903198AA773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2BDC6AED-AF80-3A06-FDFF-450C1435D0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52D115BD-1FCE-5602-796C-5DD82E4AE5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B0349752-13DF-47EE-92A2-B5B54EFD8CB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8A9F0D92-1E35-141B-AA1B-13184D563EF4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C88475B-434A-0376-D49E-BE2AA2B0BC39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1CEC12C8-A71C-EBC2-C3A7-27C186F155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3DAEA80-0E0A-DD4B-316B-E70D67DCE2BC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7CDE50-AC40-1DB1-8B04-DC04B8E59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214832"/>
              </p:ext>
            </p:extLst>
          </p:nvPr>
        </p:nvGraphicFramePr>
        <p:xfrm>
          <a:off x="7035276" y="2009402"/>
          <a:ext cx="4382581" cy="3547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8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698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상담 시간표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73368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상담 희망 날짜</a:t>
                      </a:r>
                      <a:r>
                        <a:rPr lang="en-US" altLang="ko-KR" sz="1600" b="1" dirty="0"/>
                        <a:t>,</a:t>
                      </a:r>
                      <a:r>
                        <a:rPr lang="ko-KR" altLang="en-US" sz="1600" b="1" dirty="0"/>
                        <a:t>시간 확인</a:t>
                      </a:r>
                      <a:endParaRPr lang="en-US" altLang="ko-KR" sz="16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: </a:t>
                      </a:r>
                      <a:r>
                        <a:rPr lang="ko-KR" altLang="en-US" sz="1600" b="0" dirty="0"/>
                        <a:t>비회원</a:t>
                      </a:r>
                      <a:r>
                        <a:rPr lang="en-US" altLang="ko-KR" sz="1600" b="0" dirty="0"/>
                        <a:t>,</a:t>
                      </a:r>
                      <a:r>
                        <a:rPr lang="ko-KR" altLang="en-US" sz="1600" b="0" dirty="0"/>
                        <a:t>회원 조회만 가능</a:t>
                      </a: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회색 버튼이 있는 경우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0" dirty="0"/>
                        <a:t>: </a:t>
                      </a:r>
                      <a:r>
                        <a:rPr lang="ko-KR" altLang="en-US" sz="1600" dirty="0"/>
                        <a:t>해당 상담사 예약 불가능 </a:t>
                      </a: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빈칸일 경우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0" dirty="0"/>
                        <a:t>: </a:t>
                      </a:r>
                      <a:r>
                        <a:rPr lang="ko-KR" altLang="en-US" sz="1600" dirty="0"/>
                        <a:t>해당 상담사 예약 가능</a:t>
                      </a:r>
                      <a:endParaRPr lang="en-US" altLang="ko-KR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584383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시간 주의사항 작성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0" dirty="0"/>
                        <a:t>: </a:t>
                      </a:r>
                      <a:r>
                        <a:rPr lang="ko-KR" altLang="en-US" sz="1600" b="0" dirty="0"/>
                        <a:t>빈칸</a:t>
                      </a:r>
                      <a:r>
                        <a:rPr lang="en-US" altLang="ko-KR" sz="1600" b="0" dirty="0"/>
                        <a:t>,</a:t>
                      </a:r>
                      <a:r>
                        <a:rPr lang="ko-KR" altLang="en-US" sz="1600" b="0" dirty="0" err="1"/>
                        <a:t>회색칸</a:t>
                      </a:r>
                      <a:r>
                        <a:rPr lang="ko-KR" altLang="en-US" sz="1600" b="0" dirty="0"/>
                        <a:t> 설명</a:t>
                      </a:r>
                      <a:endParaRPr lang="en-US" altLang="ko-KR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505414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B5850D56-EAC8-8611-9673-DAB3AC7D0E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163" y="1327329"/>
            <a:ext cx="4829067" cy="491154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DD82813-6050-48D5-2B34-8FFB39B29A0C}"/>
              </a:ext>
            </a:extLst>
          </p:cNvPr>
          <p:cNvSpPr/>
          <p:nvPr/>
        </p:nvSpPr>
        <p:spPr>
          <a:xfrm>
            <a:off x="1872280" y="2172335"/>
            <a:ext cx="3432176" cy="3346609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583E21-296A-A36A-D03A-F9F5D404FBDD}"/>
              </a:ext>
            </a:extLst>
          </p:cNvPr>
          <p:cNvSpPr/>
          <p:nvPr/>
        </p:nvSpPr>
        <p:spPr>
          <a:xfrm>
            <a:off x="1854497" y="1908356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C78AC64-6E1B-37D8-C8BC-3FEFD5C8435E}"/>
              </a:ext>
            </a:extLst>
          </p:cNvPr>
          <p:cNvSpPr/>
          <p:nvPr/>
        </p:nvSpPr>
        <p:spPr>
          <a:xfrm>
            <a:off x="1790700" y="5600700"/>
            <a:ext cx="3596640" cy="358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70B4F8-0C18-1383-0389-55136C99771C}"/>
              </a:ext>
            </a:extLst>
          </p:cNvPr>
          <p:cNvSpPr txBox="1"/>
          <p:nvPr/>
        </p:nvSpPr>
        <p:spPr>
          <a:xfrm>
            <a:off x="3009900" y="5737860"/>
            <a:ext cx="1981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상담 시간표 설명</a:t>
            </a:r>
          </a:p>
        </p:txBody>
      </p:sp>
    </p:spTree>
    <p:extLst>
      <p:ext uri="{BB962C8B-B14F-4D97-AF65-F5344CB8AC3E}">
        <p14:creationId xmlns:p14="http://schemas.microsoft.com/office/powerpoint/2010/main" val="569249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9D0330-4CD4-7ABB-DD7E-72EF24F6F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532D9EBA-92A2-F373-F815-5AC068205E00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예약 안내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예약 조회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A67A9F5A-538B-4FC1-2017-1A3E9769AC77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0DC3229-7442-6FD7-6A7C-86929E3A3F5F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AC002251-B5A5-4777-0797-0D29F5F1E28C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688A2A4-8909-BC60-4796-8338A9366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E6CB9B63-A977-64E0-5FB4-0660F91B22F3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C38049AE-F200-4FD5-AD21-3725040C7EC1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EDFC084-D499-0A2C-0C49-19FE954CD722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54590553-1D37-D3FE-7395-1A9BED5D531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668ED928-CAA4-2D10-715D-3737B71979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270B2CC2-4499-BB60-28ED-677DA04721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55B546C7-C75C-721A-B6FD-24CC56A35F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B1DD9F7D-78A8-5E60-F7A1-CB17F3E14D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AEEC00A8-46BF-24BF-9A41-C12B0BD74A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8D5B1370-DF09-5C7C-C8F7-FD425213A05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FB4661C9-F70F-F54C-AA5E-B5ADE3A38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F2AD412E-119F-A417-B1DE-48FBA35097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0C95E5AE-9D57-1FAB-2A14-97E6A3EBB445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B04FCB7-EF37-B750-0854-3483464E36A9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4D43AC7C-3C7D-D26F-C456-5517F1F1F0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3AAD20B-ABA2-C16B-704A-66419338B0B3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06C06FE-2101-79E4-12C3-7C26F3C93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316900"/>
              </p:ext>
            </p:extLst>
          </p:nvPr>
        </p:nvGraphicFramePr>
        <p:xfrm>
          <a:off x="7035276" y="1425896"/>
          <a:ext cx="4382581" cy="4002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4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7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698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예약조회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73368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1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비회원의 경우</a:t>
                      </a:r>
                      <a:endParaRPr lang="en-US" altLang="ko-KR" sz="15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로그인 페이지로 이동</a:t>
                      </a:r>
                      <a:endParaRPr lang="en-US" altLang="ko-KR" sz="14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회원의 경우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: 2</a:t>
                      </a:r>
                      <a:r>
                        <a:rPr lang="ko-KR" altLang="en-US" sz="1500" dirty="0"/>
                        <a:t>번 예약 조회 페이지로 이동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45781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2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예약 번호</a:t>
                      </a:r>
                      <a:r>
                        <a:rPr lang="en-US" altLang="ko-KR" sz="1500" b="1" dirty="0"/>
                        <a:t>,</a:t>
                      </a:r>
                      <a:r>
                        <a:rPr lang="ko-KR" altLang="en-US" sz="1500" b="1" dirty="0"/>
                        <a:t>시간</a:t>
                      </a:r>
                      <a:r>
                        <a:rPr lang="en-US" altLang="ko-KR" sz="1500" b="1" dirty="0"/>
                        <a:t>,</a:t>
                      </a:r>
                      <a:r>
                        <a:rPr lang="ko-KR" altLang="en-US" sz="1500" b="1" dirty="0"/>
                        <a:t>상담사 확인</a:t>
                      </a:r>
                      <a:endParaRPr lang="en-US" altLang="ko-KR" sz="15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/>
                        <a:t>: </a:t>
                      </a:r>
                      <a:r>
                        <a:rPr lang="ko-KR" altLang="en-US" sz="1500" dirty="0"/>
                        <a:t>예약을 하지 않을 경우</a:t>
                      </a:r>
                      <a:r>
                        <a:rPr lang="en-US" altLang="ko-KR" sz="1500" dirty="0"/>
                        <a:t>, ‘</a:t>
                      </a:r>
                      <a:r>
                        <a:rPr lang="ko-KR" altLang="en-US" sz="1500" dirty="0"/>
                        <a:t>예약 정보가 없습니다</a:t>
                      </a:r>
                      <a:r>
                        <a:rPr lang="en-US" altLang="ko-KR" sz="1500" dirty="0"/>
                        <a:t>’</a:t>
                      </a:r>
                      <a:r>
                        <a:rPr lang="ko-KR" altLang="en-US" sz="1500" dirty="0"/>
                        <a:t> 경고 창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154131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3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예약 취소 클릭 시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: ‘</a:t>
                      </a:r>
                      <a:r>
                        <a:rPr lang="ko-KR" altLang="en-US" sz="1500" dirty="0"/>
                        <a:t>예약이 취소 되었습니다</a:t>
                      </a:r>
                      <a:r>
                        <a:rPr lang="en-US" altLang="ko-KR" sz="1500" dirty="0"/>
                        <a:t>.’ </a:t>
                      </a:r>
                      <a:r>
                        <a:rPr lang="ko-KR" altLang="en-US" sz="1500" dirty="0"/>
                        <a:t>창</a:t>
                      </a:r>
                      <a:endParaRPr lang="en-US" altLang="ko-KR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752940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4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날짜</a:t>
                      </a:r>
                      <a:r>
                        <a:rPr lang="en-US" altLang="ko-KR" sz="1500" b="1" dirty="0"/>
                        <a:t>/</a:t>
                      </a:r>
                      <a:r>
                        <a:rPr lang="ko-KR" altLang="en-US" sz="1500" b="1" dirty="0"/>
                        <a:t>시간 변경 클릭 시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: </a:t>
                      </a:r>
                      <a:r>
                        <a:rPr lang="ko-KR" altLang="en-US" sz="1500" dirty="0"/>
                        <a:t>상담 예약 페이지로 이동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317150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A1B29142-896E-922D-C6A3-488687596B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700" y="1100138"/>
            <a:ext cx="4166469" cy="2423028"/>
          </a:xfrm>
          <a:prstGeom prst="rect">
            <a:avLst/>
          </a:prstGeom>
        </p:spPr>
      </p:pic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CB94B2CD-D26D-4DE8-3C03-4FB5599DC713}"/>
              </a:ext>
            </a:extLst>
          </p:cNvPr>
          <p:cNvSpPr/>
          <p:nvPr/>
        </p:nvSpPr>
        <p:spPr>
          <a:xfrm>
            <a:off x="3552961" y="3659667"/>
            <a:ext cx="143945" cy="22098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5F1235-A6BB-2D14-B27C-75BB2E46B2BE}"/>
              </a:ext>
            </a:extLst>
          </p:cNvPr>
          <p:cNvSpPr/>
          <p:nvPr/>
        </p:nvSpPr>
        <p:spPr>
          <a:xfrm>
            <a:off x="2026678" y="1858775"/>
            <a:ext cx="3214765" cy="1346388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B0A88CB-A913-02F9-6B0F-940E9241D9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493" y="4017148"/>
            <a:ext cx="4165200" cy="242229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C96095A-D952-9B95-C038-1ABCC9D1FB6D}"/>
              </a:ext>
            </a:extLst>
          </p:cNvPr>
          <p:cNvSpPr/>
          <p:nvPr/>
        </p:nvSpPr>
        <p:spPr>
          <a:xfrm>
            <a:off x="1756861" y="1844486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5A5400-B051-6D27-4997-B0B713329813}"/>
              </a:ext>
            </a:extLst>
          </p:cNvPr>
          <p:cNvSpPr/>
          <p:nvPr/>
        </p:nvSpPr>
        <p:spPr>
          <a:xfrm>
            <a:off x="2241070" y="4833939"/>
            <a:ext cx="2743200" cy="500061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F6B88D3-6555-ADBC-A144-330C2ED1B161}"/>
              </a:ext>
            </a:extLst>
          </p:cNvPr>
          <p:cNvSpPr/>
          <p:nvPr/>
        </p:nvSpPr>
        <p:spPr>
          <a:xfrm>
            <a:off x="4300371" y="5512562"/>
            <a:ext cx="641036" cy="216807"/>
          </a:xfrm>
          <a:prstGeom prst="rect">
            <a:avLst/>
          </a:prstGeom>
          <a:noFill/>
          <a:ln w="1905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404B5B8-0A4C-4855-B98A-0670A6F1EF9C}"/>
              </a:ext>
            </a:extLst>
          </p:cNvPr>
          <p:cNvSpPr/>
          <p:nvPr/>
        </p:nvSpPr>
        <p:spPr>
          <a:xfrm>
            <a:off x="1977841" y="4813636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FFE27B-88A6-F994-C4A6-63162430E6AB}"/>
              </a:ext>
            </a:extLst>
          </p:cNvPr>
          <p:cNvSpPr/>
          <p:nvPr/>
        </p:nvSpPr>
        <p:spPr>
          <a:xfrm>
            <a:off x="3612353" y="5512561"/>
            <a:ext cx="641036" cy="216807"/>
          </a:xfrm>
          <a:prstGeom prst="rect">
            <a:avLst/>
          </a:prstGeom>
          <a:noFill/>
          <a:ln w="1905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7F92B2-11F7-1A9A-D2A8-BBC97955C2D8}"/>
              </a:ext>
            </a:extLst>
          </p:cNvPr>
          <p:cNvSpPr/>
          <p:nvPr/>
        </p:nvSpPr>
        <p:spPr>
          <a:xfrm>
            <a:off x="3606003" y="5766376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7FC54C9-DCC4-A103-0CD1-A52A25154328}"/>
              </a:ext>
            </a:extLst>
          </p:cNvPr>
          <p:cNvSpPr/>
          <p:nvPr/>
        </p:nvSpPr>
        <p:spPr>
          <a:xfrm>
            <a:off x="4297196" y="5769711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78286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E21B04-52AF-E990-31C3-5D7119314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F2702C00-E997-3385-6358-28FB0603C14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예약 안내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AI</a:t>
            </a:r>
            <a:r>
              <a:rPr lang="ko-KR" altLang="en-US" sz="2400" b="1" kern="0" dirty="0" err="1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챗봇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상담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F5B3296E-C701-EDCD-2ACA-9F7B2A532B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34" y="1484451"/>
            <a:ext cx="5571725" cy="4620918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377530ED-1574-048E-5BBF-3991B66322DB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6E2749F-922E-B9D2-97AD-CE9055EC033A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AD434DFC-1CE4-701A-1523-01226933679C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EA2BCDF-72B2-CB6C-2149-F03533A0D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03031A-3113-4198-2513-F01663F64F65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785F35FD-96C5-045C-A0E4-AA0250EA1587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463E000-50FE-EA7E-B805-16D121EE0728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EEA7D2F7-519B-16BF-C3E9-FBD72D0E16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29CF0427-A9DD-C9D4-9894-932202231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D4993BDE-DC1B-BBF8-7362-B3B9D1E546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1F46752-DA1A-A862-6603-4EDA31E48A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B3E45BCB-09A3-9967-2BEF-4042FD1DBD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E3F0924C-6EC3-C471-AE07-909CA60690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4D5EED10-2D3D-9385-E7FC-69E8852C23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C4124182-2A1D-FAB2-658D-602EC6EC2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D336217A-B648-EB57-AFE8-77402D8420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054FB546-FAD8-B032-0C26-03EA856EE48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8E270CC-821F-9F33-453F-3EC051AC43A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EB22740B-2416-B7F0-3729-8D62E91B10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69CE964-57B5-49FC-2B5B-A2AABD87429F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A999327-FDE5-9F78-C996-4B146B814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47191"/>
              </p:ext>
            </p:extLst>
          </p:nvPr>
        </p:nvGraphicFramePr>
        <p:xfrm>
          <a:off x="7035276" y="2586211"/>
          <a:ext cx="4382581" cy="2251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8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698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AI</a:t>
                      </a:r>
                      <a:r>
                        <a:rPr lang="ko-KR" altLang="en-US" sz="1500" dirty="0" err="1"/>
                        <a:t>챗봇</a:t>
                      </a:r>
                      <a:r>
                        <a:rPr lang="ko-KR" altLang="en-US" sz="1500" dirty="0"/>
                        <a:t> 상담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73368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1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해당문의 클릭 시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:</a:t>
                      </a:r>
                      <a:r>
                        <a:rPr lang="ko-KR" altLang="en-US" sz="1500" dirty="0"/>
                        <a:t> 초기화면 중앙 위치</a:t>
                      </a:r>
                      <a:endParaRPr lang="en-US" altLang="ko-KR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612563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2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 err="1"/>
                        <a:t>챗봇</a:t>
                      </a:r>
                      <a:r>
                        <a:rPr lang="ko-KR" altLang="en-US" sz="1500" b="1" dirty="0"/>
                        <a:t> 답변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:</a:t>
                      </a:r>
                      <a:r>
                        <a:rPr lang="ko-KR" altLang="en-US" sz="1500" dirty="0"/>
                        <a:t> 텍스트 문장형으로 해당문의</a:t>
                      </a:r>
                      <a:endParaRPr lang="en-US" altLang="ko-KR" sz="15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URL </a:t>
                      </a:r>
                      <a:r>
                        <a:rPr lang="ko-KR" altLang="en-US" sz="1500" dirty="0"/>
                        <a:t>네비게이션 서술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752940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9587EBA7-88A5-1B43-6FDD-901EB78082C4}"/>
              </a:ext>
            </a:extLst>
          </p:cNvPr>
          <p:cNvSpPr/>
          <p:nvPr/>
        </p:nvSpPr>
        <p:spPr>
          <a:xfrm>
            <a:off x="2238406" y="2552699"/>
            <a:ext cx="2781269" cy="1159511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EE299A0-E863-3A64-B417-E60DEFAEF4C3}"/>
              </a:ext>
            </a:extLst>
          </p:cNvPr>
          <p:cNvSpPr/>
          <p:nvPr/>
        </p:nvSpPr>
        <p:spPr>
          <a:xfrm>
            <a:off x="1960154" y="2533647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9AE651B-5518-BAB1-6A6F-0F81F801AD5F}"/>
              </a:ext>
            </a:extLst>
          </p:cNvPr>
          <p:cNvSpPr/>
          <p:nvPr/>
        </p:nvSpPr>
        <p:spPr>
          <a:xfrm>
            <a:off x="2374780" y="4011909"/>
            <a:ext cx="1411408" cy="1159511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B33BDA3-9D19-91F3-F9A5-8E71BD88AAAB}"/>
              </a:ext>
            </a:extLst>
          </p:cNvPr>
          <p:cNvSpPr/>
          <p:nvPr/>
        </p:nvSpPr>
        <p:spPr>
          <a:xfrm>
            <a:off x="2101722" y="4976044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A8954E6-8758-E394-4748-E703F63654C0}"/>
              </a:ext>
            </a:extLst>
          </p:cNvPr>
          <p:cNvSpPr/>
          <p:nvPr/>
        </p:nvSpPr>
        <p:spPr>
          <a:xfrm>
            <a:off x="1960154" y="5468112"/>
            <a:ext cx="3297646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4286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F502A0-6A01-16F5-3928-5852C59F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07572EED-5254-6286-0EF7-5B3C7B7BC02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소개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회사 소개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34B4407F-B00A-E2F3-7FE9-5F1CFE7BE143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84D9365-3B71-3D35-0378-3ED1DD729DE4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9F64EE9-B66A-D607-FD13-6ED7B9515451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47BA631-A739-6C6E-9388-19082569D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637E8BBD-3FB8-8EFD-F096-1D15A79D4E1C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0C52DF36-088A-A201-D7A4-52BF42F13AB6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BDAD78E-DF13-1CFC-DA50-1894FC4906A4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E0760E76-0C3E-C3C3-2519-D235D06BA6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C9C3F4B1-E601-B3B5-4CE0-A9221C184C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020E64FB-4FF5-B97C-F177-27C7483554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F4202B4-8E94-4658-A734-EC2805A8CC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EAB8474C-BE84-EF01-96F4-A1625F9FD1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D4FC0B62-BFCD-6E2B-FB24-EF1677F142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7B70A5C1-3F33-F47B-977F-79BBBB1EAA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DDB00E22-252B-4C6F-3DEE-5B80FBC3D3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6CF9F38E-3F8D-80BB-3FF4-33D1B88C89C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A123DF80-36EE-B07C-9DBF-575134CC8461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C9B9574-6B0C-4976-715F-B38876D32910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4671CC6A-EBB4-6343-D7CC-ABCCA044CC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D8DEE15-7539-F5EC-84C0-FB2A64608163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E08A1DA8-0D5F-8E2E-5E76-AA086B60A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19" y="1254794"/>
            <a:ext cx="5905955" cy="4897253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71FF609-10E1-350A-AB87-D2C31413A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496462"/>
              </p:ext>
            </p:extLst>
          </p:nvPr>
        </p:nvGraphicFramePr>
        <p:xfrm>
          <a:off x="7035276" y="2946567"/>
          <a:ext cx="4382582" cy="1513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9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698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회사 소개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73368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4733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회사소개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회원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비회원 모두 읽기만 가능</a:t>
                      </a:r>
                      <a:r>
                        <a:rPr lang="en-US" altLang="ko-KR" sz="1600" dirty="0"/>
                        <a:t> 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517730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C81A4DD4-B6B6-31FF-774F-ABD3C23B3808}"/>
              </a:ext>
            </a:extLst>
          </p:cNvPr>
          <p:cNvSpPr/>
          <p:nvPr/>
        </p:nvSpPr>
        <p:spPr>
          <a:xfrm>
            <a:off x="1347788" y="2320811"/>
            <a:ext cx="4567237" cy="2874557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21C0CB-7A31-5EF2-AE21-987EB518A31F}"/>
              </a:ext>
            </a:extLst>
          </p:cNvPr>
          <p:cNvSpPr/>
          <p:nvPr/>
        </p:nvSpPr>
        <p:spPr>
          <a:xfrm>
            <a:off x="1080155" y="2298210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84188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00F0C1-7B85-D14D-65E9-25A6E5DE6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90B0921C-7A01-4B7C-04AD-684655BB4C24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소개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-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관계자 소개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D21E8DAA-8E23-97FD-061B-7B85C87A85CA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EB94F42-CA2F-5DE5-E27F-756836E85A09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8B44F8C-ED83-BF50-E284-CAA51135E8F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6059A0C-597B-DB56-FF81-0B3F3D2FF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C9AAFB2E-C492-4056-DA9E-35C29559C2FA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340CB389-4FE1-D8DC-C85A-638A4086D130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1F036FF-A77D-7503-983E-32006F09BE86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A8F379E6-053F-461F-0553-46C4FEF465D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105737A3-E94F-7920-A16E-5EDCFE15D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A62ACE1B-89B8-5549-8234-6BBB2005C9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335B184B-787B-0303-031E-CE18B720818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A0C285E0-032E-3414-4004-B32F52933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1CC09F27-B750-CB4A-0CCA-A3C5F5D277E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1035CD95-5747-FFCB-8729-C6866F64847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49B0E42A-101E-3D79-BB2D-8F7FC8E76E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E4FF882-457C-9025-8A17-861440A371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598EC99E-0D72-27A5-6959-E95C354F92D3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E1D04531-0679-4667-8996-4B9A8BC4143D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618FC727-0911-248E-30BA-45A67263BF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6AB87A3-B1CB-5FDD-5764-6D024E02E55E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7432C417-CA97-00DD-03BF-E6EA7E885E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6" y="1320144"/>
            <a:ext cx="5748335" cy="4766553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BF5AD96-AD5A-BA4A-516F-965DBCBB3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204002"/>
              </p:ext>
            </p:extLst>
          </p:nvPr>
        </p:nvGraphicFramePr>
        <p:xfrm>
          <a:off x="7035276" y="2558028"/>
          <a:ext cx="4382582" cy="2084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9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698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관계자 소개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73368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4733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상담사 소개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사진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클릭 불가능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간략한 인사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소개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517730"/>
                  </a:ext>
                </a:extLst>
              </a:tr>
              <a:tr h="4733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상담 예약 클릭 시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상담 예약 페이지로 이동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58333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E27BC402-311F-1FC1-C963-8E123BEAE343}"/>
              </a:ext>
            </a:extLst>
          </p:cNvPr>
          <p:cNvSpPr/>
          <p:nvPr/>
        </p:nvSpPr>
        <p:spPr>
          <a:xfrm>
            <a:off x="1347788" y="2320811"/>
            <a:ext cx="4567237" cy="2047989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2D76374-0204-D925-BC6B-15B93EC223ED}"/>
              </a:ext>
            </a:extLst>
          </p:cNvPr>
          <p:cNvSpPr/>
          <p:nvPr/>
        </p:nvSpPr>
        <p:spPr>
          <a:xfrm>
            <a:off x="1328738" y="2050482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4531981-B012-465C-727D-80592BC49331}"/>
              </a:ext>
            </a:extLst>
          </p:cNvPr>
          <p:cNvSpPr/>
          <p:nvPr/>
        </p:nvSpPr>
        <p:spPr>
          <a:xfrm>
            <a:off x="1347788" y="4469948"/>
            <a:ext cx="4567237" cy="378277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1F62886-60F7-A3B1-F2E6-280B86622CF3}"/>
              </a:ext>
            </a:extLst>
          </p:cNvPr>
          <p:cNvSpPr/>
          <p:nvPr/>
        </p:nvSpPr>
        <p:spPr>
          <a:xfrm>
            <a:off x="1085851" y="4646939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05200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6EA07D-DD81-A078-DEA8-7DF37D6D8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9213E206-0076-456D-AE6F-D8CC4B01FE6C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회사 소개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-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오시는 길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E8AFD922-9D8C-DE25-6576-1FDAD79F4C48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408D62D-1E44-0099-35CC-76863AC60D4A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6D1D739E-4267-FB62-B540-24B23986349F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CB34CB3-FFA7-E7E4-15DF-103B6572E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FE3D0E35-743D-6A99-DEF4-335901C39C56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8D59D196-66DD-FA30-30FB-908BDF5C4007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117023B-B41A-AB43-87C3-D6115D3E2E0B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82497BD6-4E02-EF07-6E4D-94981934C4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C58A798E-A0EB-CF0A-F7E0-B4F9DA3835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04BEF0EA-795C-4276-F1E7-6E527BD49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35E22F27-2592-ED54-5E90-81CA2CCBCB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FB27C8EF-2D74-2569-79CD-0450CF7AFC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E75027B6-CE98-FE1A-7A54-FF52AD071B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9F219517-0252-CB46-0BA7-143EBB9CD15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8ADA00D1-5310-6747-A958-37E98715B3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2B39EC2B-8B2D-74F9-5427-3AC457974D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15889242-2A29-AE1E-0549-3D4211C4BDC6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50C542D-E075-E01F-107A-3801F1E441F0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71EC56AC-F53E-696D-0E46-89F1836497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40DC875-E7E2-6C00-4893-990D608992F8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EF357B7D-383B-F9F3-7150-481042DD2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71" y="1179093"/>
            <a:ext cx="5847651" cy="5048655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5AB8FDD-F051-AABF-8AE0-A30F5FAC4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460797"/>
              </p:ext>
            </p:extLst>
          </p:nvPr>
        </p:nvGraphicFramePr>
        <p:xfrm>
          <a:off x="7035276" y="2351234"/>
          <a:ext cx="4382582" cy="2704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9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698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오시는 길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73368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4733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오시는 길 </a:t>
                      </a:r>
                      <a:r>
                        <a:rPr lang="en-US" altLang="ko-KR" sz="1600" b="1" dirty="0" smtClean="0"/>
                        <a:t>KAKAO </a:t>
                      </a:r>
                      <a:r>
                        <a:rPr lang="en-US" altLang="ko-KR" sz="1600" b="1" dirty="0"/>
                        <a:t>map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en-US" altLang="ko-KR" sz="1600" dirty="0" err="1"/>
                        <a:t>kakao</a:t>
                      </a:r>
                      <a:r>
                        <a:rPr lang="en-US" altLang="ko-KR" sz="1600" dirty="0"/>
                        <a:t> map</a:t>
                      </a:r>
                      <a:r>
                        <a:rPr lang="ko-KR" altLang="en-US" sz="1600" dirty="0"/>
                        <a:t>을 이용하여 시각적으로 대략적인 회사 위치 안내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517730"/>
                  </a:ext>
                </a:extLst>
              </a:tr>
              <a:tr h="4733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주소</a:t>
                      </a:r>
                      <a:r>
                        <a:rPr lang="en-US" altLang="ko-KR" sz="1600" b="1" dirty="0"/>
                        <a:t>,</a:t>
                      </a:r>
                      <a:r>
                        <a:rPr lang="ko-KR" altLang="en-US" sz="1600" b="1" dirty="0"/>
                        <a:t>운영 시간</a:t>
                      </a:r>
                      <a:r>
                        <a:rPr lang="en-US" altLang="ko-KR" sz="1600" b="1" dirty="0"/>
                        <a:t> </a:t>
                      </a:r>
                      <a:r>
                        <a:rPr lang="ko-KR" altLang="en-US" sz="1600" b="1" dirty="0"/>
                        <a:t>작성</a:t>
                      </a:r>
                      <a:endParaRPr lang="en-US" altLang="ko-KR" sz="1600" b="1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583335"/>
                  </a:ext>
                </a:extLst>
              </a:tr>
              <a:tr h="4733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주차 안내</a:t>
                      </a:r>
                      <a:endParaRPr lang="en-US" altLang="ko-KR" sz="1600" b="1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249322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6D4ECC-5A3E-D2AF-4064-FFE1D68A019C}"/>
              </a:ext>
            </a:extLst>
          </p:cNvPr>
          <p:cNvSpPr/>
          <p:nvPr/>
        </p:nvSpPr>
        <p:spPr>
          <a:xfrm>
            <a:off x="1377951" y="2237683"/>
            <a:ext cx="4527550" cy="2833081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A173C80-90CB-413A-7826-F610C66E4947}"/>
              </a:ext>
            </a:extLst>
          </p:cNvPr>
          <p:cNvSpPr/>
          <p:nvPr/>
        </p:nvSpPr>
        <p:spPr>
          <a:xfrm>
            <a:off x="1354138" y="1967354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C57184-7FDB-7817-D13C-1FBC810C03C6}"/>
              </a:ext>
            </a:extLst>
          </p:cNvPr>
          <p:cNvSpPr/>
          <p:nvPr/>
        </p:nvSpPr>
        <p:spPr>
          <a:xfrm>
            <a:off x="1377951" y="5129049"/>
            <a:ext cx="4527550" cy="438708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E2F5AE-9535-4570-3C8A-0794D1123413}"/>
              </a:ext>
            </a:extLst>
          </p:cNvPr>
          <p:cNvSpPr/>
          <p:nvPr/>
        </p:nvSpPr>
        <p:spPr>
          <a:xfrm>
            <a:off x="1377951" y="5630805"/>
            <a:ext cx="4527550" cy="438708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5423F16-ACFA-FD9A-C402-6FC8794CFC5E}"/>
              </a:ext>
            </a:extLst>
          </p:cNvPr>
          <p:cNvSpPr/>
          <p:nvPr/>
        </p:nvSpPr>
        <p:spPr>
          <a:xfrm>
            <a:off x="1107633" y="5109997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457297-32CD-36DD-7F31-410761A49A0F}"/>
              </a:ext>
            </a:extLst>
          </p:cNvPr>
          <p:cNvSpPr/>
          <p:nvPr/>
        </p:nvSpPr>
        <p:spPr>
          <a:xfrm>
            <a:off x="1107633" y="5614137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94075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60CAD5-5BE7-11AC-194E-70F8789ED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C9B6CA3A-F3E7-EF04-4BAB-BFDEDA291D11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마이페이지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회원정보 수정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0152809-DC34-EF7E-783D-96823B89D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79" y="1627506"/>
            <a:ext cx="5711201" cy="4151828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CC61550A-1D43-013B-2E16-FE1D3DB3FC4F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5CCF785-D5A2-286D-4061-F8B28DE63550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FC762B6-0166-45AF-547F-2F16DF79F84B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A072258-D986-137C-EB2C-6433D4E77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AB6D4A40-3826-D2EF-A6FA-1F71249B2F34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37FC1A47-53D0-E887-6A6C-0FC5DAA989C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84D6405-D5AA-89F0-241A-EC56071536DA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44CBCE3D-23E2-08FF-52AD-8750093D26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887EF7BC-658E-A082-00C6-09C39B8FE1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9B54CC73-A894-D69B-10DD-C21CFF9202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A3BDBA8B-7915-D772-9DCF-A13F16DB70C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0B19AD2F-2A2B-9C24-8710-CF176AB55F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6811332C-163B-EF24-FC48-4910D1B5238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D5F43F32-ADEE-31D0-42F7-A9B63B6702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5C7999A7-81DE-1567-3997-32CB07F9B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5DD3A13C-E7DA-B143-F7EE-137257EE24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DF0B21E-C312-8CB8-9F77-2C531B1FA329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035A6CA-9584-A734-6865-F0E2BA0CC0C9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E657E8BC-5088-64AF-C78D-C73DAFB22E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DA8624C-A87D-6811-D39E-0C8EEC0A23C0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A66A6BC-0F65-8FEC-8A77-932F88615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105362"/>
              </p:ext>
            </p:extLst>
          </p:nvPr>
        </p:nvGraphicFramePr>
        <p:xfrm>
          <a:off x="7035277" y="1495386"/>
          <a:ext cx="4382582" cy="4444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9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698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회원정보 수정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73368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4733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회원정보수정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이름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아이디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생년월일 수정 불가능</a:t>
                      </a: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비밀번호 변경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비밀번호 잘못 입력 시</a:t>
                      </a: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‘</a:t>
                      </a:r>
                      <a:r>
                        <a:rPr lang="ko-KR" altLang="en-US" sz="1600" dirty="0"/>
                        <a:t>비밀번호를 확인해주세요</a:t>
                      </a:r>
                      <a:r>
                        <a:rPr lang="en-US" altLang="ko-KR" sz="1600" dirty="0"/>
                        <a:t>.’</a:t>
                      </a:r>
                      <a:r>
                        <a:rPr lang="ko-KR" altLang="en-US" sz="1600" dirty="0"/>
                        <a:t>경고 창</a:t>
                      </a:r>
                      <a:endParaRPr lang="en-US" altLang="ko-KR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517730"/>
                  </a:ext>
                </a:extLst>
              </a:tr>
              <a:tr h="4733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취소 클릭 시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</a:t>
                      </a:r>
                      <a:r>
                        <a:rPr lang="ko-KR" altLang="en-US" sz="1600" dirty="0"/>
                        <a:t> 마이페이지</a:t>
                      </a:r>
                      <a:r>
                        <a:rPr lang="en-US" altLang="ko-KR" sz="1600" dirty="0"/>
                        <a:t>-</a:t>
                      </a:r>
                      <a:r>
                        <a:rPr lang="ko-KR" altLang="en-US" sz="1600" dirty="0"/>
                        <a:t>마이페이지로 이동 </a:t>
                      </a:r>
                      <a:endParaRPr lang="en-US" altLang="ko-KR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266601"/>
                  </a:ext>
                </a:extLst>
              </a:tr>
              <a:tr h="4733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저장 클릭 시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‘</a:t>
                      </a:r>
                      <a:r>
                        <a:rPr lang="ko-KR" altLang="en-US" sz="1600" dirty="0"/>
                        <a:t>회원정보가 수정되었습니다</a:t>
                      </a:r>
                      <a:r>
                        <a:rPr lang="en-US" altLang="ko-KR" sz="1600" dirty="0"/>
                        <a:t>.’</a:t>
                      </a:r>
                      <a:r>
                        <a:rPr lang="ko-KR" altLang="en-US" sz="1600" dirty="0"/>
                        <a:t>창 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마이페이지</a:t>
                      </a:r>
                      <a:r>
                        <a:rPr lang="en-US" altLang="ko-KR" sz="1600" dirty="0"/>
                        <a:t>-</a:t>
                      </a:r>
                      <a:r>
                        <a:rPr lang="ko-KR" altLang="en-US" sz="1600" dirty="0"/>
                        <a:t>마이페이지로 이동</a:t>
                      </a:r>
                      <a:endParaRPr lang="en-US" altLang="ko-KR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677071"/>
                  </a:ext>
                </a:extLst>
              </a:tr>
              <a:tr h="4733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바로가기 사이드 바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해당 질환진단 페이지 클릭 시 이동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327997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0B5F8E23-4F47-C135-1D08-2C653E174EDF}"/>
              </a:ext>
            </a:extLst>
          </p:cNvPr>
          <p:cNvSpPr/>
          <p:nvPr/>
        </p:nvSpPr>
        <p:spPr>
          <a:xfrm>
            <a:off x="2322951" y="2268320"/>
            <a:ext cx="2852299" cy="2718018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BA64B0-3C33-F2B9-FDDE-83B8BF59AC7A}"/>
              </a:ext>
            </a:extLst>
          </p:cNvPr>
          <p:cNvSpPr/>
          <p:nvPr/>
        </p:nvSpPr>
        <p:spPr>
          <a:xfrm>
            <a:off x="2041645" y="2253080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2D7B53D-AE90-526F-09A7-C6D7BC3AF414}"/>
              </a:ext>
            </a:extLst>
          </p:cNvPr>
          <p:cNvSpPr/>
          <p:nvPr/>
        </p:nvSpPr>
        <p:spPr>
          <a:xfrm>
            <a:off x="4134591" y="5138101"/>
            <a:ext cx="599222" cy="292573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2F040F-874D-A387-74AD-78E185B94DFB}"/>
              </a:ext>
            </a:extLst>
          </p:cNvPr>
          <p:cNvSpPr/>
          <p:nvPr/>
        </p:nvSpPr>
        <p:spPr>
          <a:xfrm>
            <a:off x="4787844" y="5236092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9275017-AAFB-6EBC-8DC9-285D803656EA}"/>
              </a:ext>
            </a:extLst>
          </p:cNvPr>
          <p:cNvSpPr/>
          <p:nvPr/>
        </p:nvSpPr>
        <p:spPr>
          <a:xfrm>
            <a:off x="3463580" y="5138100"/>
            <a:ext cx="599222" cy="292573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7489424-7C8B-ADBE-DC44-DE2CB274288F}"/>
              </a:ext>
            </a:extLst>
          </p:cNvPr>
          <p:cNvSpPr/>
          <p:nvPr/>
        </p:nvSpPr>
        <p:spPr>
          <a:xfrm>
            <a:off x="3182508" y="5236092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8AAACEE-BBDD-59FE-E46F-79D33FF13CD2}"/>
              </a:ext>
            </a:extLst>
          </p:cNvPr>
          <p:cNvSpPr/>
          <p:nvPr/>
        </p:nvSpPr>
        <p:spPr>
          <a:xfrm>
            <a:off x="789761" y="2694972"/>
            <a:ext cx="943788" cy="1457373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79ECB12-44AB-F3D2-5A0E-E52658E93548}"/>
              </a:ext>
            </a:extLst>
          </p:cNvPr>
          <p:cNvSpPr/>
          <p:nvPr/>
        </p:nvSpPr>
        <p:spPr>
          <a:xfrm>
            <a:off x="774141" y="2424349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22730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31483-5FE2-B9FC-D465-CDFBE6595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053E4B92-16F2-F372-7C4E-CD1D0AE5A70F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마이페이지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예약 조회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0DAC00B-4DA7-C3B2-B8DE-27AEB079C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297" y="1288472"/>
            <a:ext cx="6040800" cy="5009067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A7A86534-4DFA-F2D6-B96F-B99BB602DCB9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3B2D925-FF68-C140-A67C-DE8EC1ABF2A5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1402060B-6DF8-9F96-DCE3-AB837FBC730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3971989-6F5F-B75E-902D-6B783FE53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E248BC43-E6B0-BA4A-07E1-74806268801F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5FAC16D5-DEB0-B840-0BE4-E7FB26C0B232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4A63779-09E0-368A-B885-378FFE5E28A2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52BD3848-F495-EF2F-842E-CED5AE3987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F2F0F4A7-0BEB-D665-22DB-E338F971DF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25301465-6801-BBC6-00C6-0ACA37F232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74912C19-8AD5-A4A5-E57D-50C605C8D64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B134ECE9-75BC-3071-8559-BD6DA8FDA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2E087BF2-7F0D-6950-4BD9-793CBCB5CA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23555153-CDD1-2041-A73F-63C8FF827A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0F265F48-505E-F358-6137-8C2383591B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449E6B89-F638-7DB2-C34D-4122F514BF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FEBDAB32-2302-D866-952F-1382C5343AF3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EC20D80-92D7-4E25-A4DC-6521477C7969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F00EB963-3859-5993-C0E6-5E51F586CC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DE411F5-5B54-612F-8593-770B7F76A4AE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E89B3ED-9C04-F1FB-C0AA-A946C7A3B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638525"/>
              </p:ext>
            </p:extLst>
          </p:nvPr>
        </p:nvGraphicFramePr>
        <p:xfrm>
          <a:off x="7035276" y="2278521"/>
          <a:ext cx="4382581" cy="279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4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7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6986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마이페이지 </a:t>
                      </a:r>
                      <a:r>
                        <a:rPr lang="en-US" altLang="ko-KR" sz="1500" dirty="0"/>
                        <a:t>– </a:t>
                      </a:r>
                      <a:r>
                        <a:rPr lang="ko-KR" altLang="en-US" sz="1500" dirty="0"/>
                        <a:t>예약 조회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73368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1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예약 번호</a:t>
                      </a:r>
                      <a:r>
                        <a:rPr lang="en-US" altLang="ko-KR" sz="1500" b="1" dirty="0"/>
                        <a:t>,</a:t>
                      </a:r>
                      <a:r>
                        <a:rPr lang="ko-KR" altLang="en-US" sz="1500" b="1" dirty="0"/>
                        <a:t>시간</a:t>
                      </a:r>
                      <a:r>
                        <a:rPr lang="en-US" altLang="ko-KR" sz="1500" b="1" dirty="0"/>
                        <a:t>,</a:t>
                      </a:r>
                      <a:r>
                        <a:rPr lang="ko-KR" altLang="en-US" sz="1500" b="1" dirty="0"/>
                        <a:t>상담사 확인</a:t>
                      </a:r>
                      <a:endParaRPr lang="en-US" altLang="ko-KR" sz="15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/>
                        <a:t>: </a:t>
                      </a:r>
                      <a:r>
                        <a:rPr lang="ko-KR" altLang="en-US" sz="1500" dirty="0"/>
                        <a:t>예약을 하지 않을 경우</a:t>
                      </a:r>
                      <a:r>
                        <a:rPr lang="en-US" altLang="ko-KR" sz="1500" dirty="0"/>
                        <a:t>, ‘</a:t>
                      </a:r>
                      <a:r>
                        <a:rPr lang="ko-KR" altLang="en-US" sz="1500" dirty="0"/>
                        <a:t>예약 정보가 없습니다</a:t>
                      </a:r>
                      <a:r>
                        <a:rPr lang="en-US" altLang="ko-KR" sz="1500" dirty="0"/>
                        <a:t>’</a:t>
                      </a:r>
                      <a:r>
                        <a:rPr lang="ko-KR" altLang="en-US" sz="1500" dirty="0"/>
                        <a:t> 경고 창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154131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2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예약 취소 클릭 시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: ‘</a:t>
                      </a:r>
                      <a:r>
                        <a:rPr lang="ko-KR" altLang="en-US" sz="1500" dirty="0"/>
                        <a:t>예약이 취소 되었습니다</a:t>
                      </a:r>
                      <a:r>
                        <a:rPr lang="en-US" altLang="ko-KR" sz="1500" dirty="0"/>
                        <a:t>.’ </a:t>
                      </a:r>
                      <a:r>
                        <a:rPr lang="ko-KR" altLang="en-US" sz="1500" dirty="0"/>
                        <a:t>창 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752940"/>
                  </a:ext>
                </a:extLst>
              </a:tr>
              <a:tr h="33185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dirty="0"/>
                        <a:t>3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b="1" dirty="0"/>
                        <a:t># </a:t>
                      </a:r>
                      <a:r>
                        <a:rPr lang="ko-KR" altLang="en-US" sz="1500" b="1" dirty="0"/>
                        <a:t>날짜</a:t>
                      </a:r>
                      <a:r>
                        <a:rPr lang="en-US" altLang="ko-KR" sz="1500" b="1" dirty="0"/>
                        <a:t>/</a:t>
                      </a:r>
                      <a:r>
                        <a:rPr lang="ko-KR" altLang="en-US" sz="1500" b="1" dirty="0"/>
                        <a:t>시간 변경 클릭 시</a:t>
                      </a:r>
                      <a:endParaRPr lang="en-US" altLang="ko-KR" sz="15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500" dirty="0"/>
                        <a:t>: </a:t>
                      </a:r>
                      <a:r>
                        <a:rPr lang="ko-KR" altLang="en-US" sz="1500" dirty="0"/>
                        <a:t>상담 예약 페이지로 이동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317150"/>
                  </a:ext>
                </a:extLst>
              </a:tr>
            </a:tbl>
          </a:graphicData>
        </a:graphic>
      </p:graphicFrame>
      <p:sp>
        <p:nvSpPr>
          <p:cNvPr id="17" name="직사각형 16">
            <a:extLst>
              <a:ext uri="{FF2B5EF4-FFF2-40B4-BE49-F238E27FC236}">
                <a16:creationId xmlns:a16="http://schemas.microsoft.com/office/drawing/2014/main" id="{1C8C74BC-7465-E9B5-5B65-465678A55F77}"/>
              </a:ext>
            </a:extLst>
          </p:cNvPr>
          <p:cNvSpPr/>
          <p:nvPr/>
        </p:nvSpPr>
        <p:spPr>
          <a:xfrm>
            <a:off x="2162176" y="3205293"/>
            <a:ext cx="3956050" cy="728531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E1BEE13-5F6D-9749-0ABB-C3F8E95FD2C4}"/>
              </a:ext>
            </a:extLst>
          </p:cNvPr>
          <p:cNvSpPr/>
          <p:nvPr/>
        </p:nvSpPr>
        <p:spPr>
          <a:xfrm>
            <a:off x="5140638" y="4188714"/>
            <a:ext cx="924241" cy="302324"/>
          </a:xfrm>
          <a:prstGeom prst="rect">
            <a:avLst/>
          </a:prstGeom>
          <a:noFill/>
          <a:ln w="1905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B8E7ED2-1407-1363-3CDC-94BD88A7978C}"/>
              </a:ext>
            </a:extLst>
          </p:cNvPr>
          <p:cNvSpPr/>
          <p:nvPr/>
        </p:nvSpPr>
        <p:spPr>
          <a:xfrm>
            <a:off x="1898947" y="3184991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76F79DE-A511-4F27-446D-107644B439F0}"/>
              </a:ext>
            </a:extLst>
          </p:cNvPr>
          <p:cNvSpPr/>
          <p:nvPr/>
        </p:nvSpPr>
        <p:spPr>
          <a:xfrm>
            <a:off x="4147820" y="4188714"/>
            <a:ext cx="924241" cy="302324"/>
          </a:xfrm>
          <a:prstGeom prst="rect">
            <a:avLst/>
          </a:prstGeom>
          <a:noFill/>
          <a:ln w="1905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B577B97-ED5C-5EC8-08B1-7900294AA73B}"/>
              </a:ext>
            </a:extLst>
          </p:cNvPr>
          <p:cNvSpPr/>
          <p:nvPr/>
        </p:nvSpPr>
        <p:spPr>
          <a:xfrm>
            <a:off x="4146234" y="4550932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453187B-44E1-AE28-3C0E-CBDFB2DF2C0A}"/>
              </a:ext>
            </a:extLst>
          </p:cNvPr>
          <p:cNvSpPr/>
          <p:nvPr/>
        </p:nvSpPr>
        <p:spPr>
          <a:xfrm>
            <a:off x="5137464" y="4550932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62860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4386C4-4BD7-3ED7-2402-E791EA88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0BFE03C1-6744-BF3A-4A01-D4506CE5FD9D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마이페이지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진단 결과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32923D-C3C4-653F-BC0B-408A33390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98" y="1841500"/>
            <a:ext cx="6008438" cy="3755915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50C785FC-CC11-1245-D843-2EF3C03CA3C0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AFDB38E-6883-596E-E287-ECCDA75ADF13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2AB71C11-6F09-54BA-CACD-C75F3AEF366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138415B-DE56-9441-9549-293D7C500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A3220485-4A67-F6C8-9A0B-F1C60D71E0E8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BE9FF670-5144-6342-C806-A01C02A7A2DE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1538C6C-F8F6-1CB4-DB5A-BFB3863CBA16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088AA2BA-B974-B92D-21B3-85A8B768BF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1BD1E93B-8DCD-A20B-5908-0D420B7AC3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C54A5F25-D5C6-BE87-B7F9-5599F077D8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C83037C3-B6DB-9DBF-340E-BA00A92D27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21D94247-70A7-D8B8-9F4E-8029CCB4A6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D4AEFB50-D49C-25B5-CBB5-C9401D7C60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17CD7B31-44F0-6714-F8CF-31D1AEBE53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1B766B5F-5170-39FA-B1E8-5B03DB9F3F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1C5F6864-C1F0-FA8A-3F99-B675E6A206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62314E7B-F47C-35E1-3880-D20E5F2C11C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5471C50-2CF3-E085-FA56-329E1D8C3FA2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BB0544D0-1AD1-0384-98BA-EC95F31181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2D39F71-58CA-00DF-28AB-1D4A62653497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D85C4FF8-8595-7A0F-4FE5-1C1EBC4AF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085412"/>
              </p:ext>
            </p:extLst>
          </p:nvPr>
        </p:nvGraphicFramePr>
        <p:xfrm>
          <a:off x="7035277" y="2513311"/>
          <a:ext cx="4382581" cy="2589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8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289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질환 진단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32135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4652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자가진단 결과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</a:t>
                      </a:r>
                      <a:r>
                        <a:rPr lang="ko-KR" altLang="en-US" sz="1600" dirty="0"/>
                        <a:t>모델의 성능 텍스트로 제공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280455"/>
                  </a:ext>
                </a:extLst>
              </a:tr>
              <a:tr h="465213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1600" dirty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1:1</a:t>
                      </a:r>
                      <a:r>
                        <a:rPr lang="ko-KR" altLang="en-US" sz="1600" b="1" dirty="0"/>
                        <a:t>상담 클릭 시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예약 안내 페이지로 이동</a:t>
                      </a:r>
                      <a:endParaRPr lang="en-US" altLang="ko-KR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426846"/>
                  </a:ext>
                </a:extLst>
              </a:tr>
              <a:tr h="465213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 err="1"/>
                        <a:t>뒤로가기</a:t>
                      </a:r>
                      <a:r>
                        <a:rPr lang="ko-KR" altLang="en-US" sz="1600" b="1" dirty="0"/>
                        <a:t> 클릭 시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피부 진단 페이지로 이동</a:t>
                      </a:r>
                      <a:endParaRPr lang="en-US" altLang="ko-KR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02657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8A8CBC0E-390C-AABF-367B-4284C58874A6}"/>
              </a:ext>
            </a:extLst>
          </p:cNvPr>
          <p:cNvSpPr/>
          <p:nvPr/>
        </p:nvSpPr>
        <p:spPr>
          <a:xfrm>
            <a:off x="2222871" y="3137354"/>
            <a:ext cx="3936629" cy="1466015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AFBE361-12CB-A10E-221F-B781BC002AC4}"/>
              </a:ext>
            </a:extLst>
          </p:cNvPr>
          <p:cNvSpPr/>
          <p:nvPr/>
        </p:nvSpPr>
        <p:spPr>
          <a:xfrm>
            <a:off x="2203821" y="2856974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9D86EF2-B70E-024C-7B71-2A7C31ED7D3A}"/>
              </a:ext>
            </a:extLst>
          </p:cNvPr>
          <p:cNvSpPr/>
          <p:nvPr/>
        </p:nvSpPr>
        <p:spPr>
          <a:xfrm>
            <a:off x="3230881" y="4926599"/>
            <a:ext cx="1744979" cy="346441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10EB639-7683-67B7-7BB8-5F4F8F2DD5BF}"/>
              </a:ext>
            </a:extLst>
          </p:cNvPr>
          <p:cNvSpPr/>
          <p:nvPr/>
        </p:nvSpPr>
        <p:spPr>
          <a:xfrm>
            <a:off x="2951508" y="5081633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61328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F14A30-67EA-3419-4F32-9B03CBA59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119A03D0-5B9A-A14E-6308-E41356629247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: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스토리 보드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마이페이지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회원탈퇴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3F1F362-E002-77E9-C090-DA195BA05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42" y="1828662"/>
            <a:ext cx="5832709" cy="4343400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F01A08F8-2AC5-9603-C0A1-CE86E1EC303B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3D9A66-2F18-F4C0-25A1-FCD24357403C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901D3DC0-1C41-28DF-6D84-D2AF7EB4F7B5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F95FEC2-E303-D1F9-2422-2FD588FBA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65133111-F830-7BFF-2F3B-1DF4D6BEC3D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C4F37ABC-9348-BE22-92C8-AB092F88004E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988C583-0BBC-A21D-267C-176D180CBA69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C83974B4-F5BF-6981-044D-719CB305D6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8B81D3CF-86C6-881A-17A1-A9B61892F2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F2BCA1FB-24F4-8201-203D-3D45F86460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AE9C44F7-01A1-A6D6-B824-D6F8673FCD6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733677C6-B760-C0A6-63D5-55EE4EF568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4107E0CF-0FB4-1992-E3A5-AD2EC1E4CD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AA422026-5DE9-F98E-219C-AB33CDF6E7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ACC693DB-13EB-FAB3-47DF-056DA41A00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1CA3A565-A83B-1E73-B933-68AF74E2A2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CD167595-F718-AF49-02D1-2C91714B113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89D5B2B-E75B-90BC-574D-E8DEEFE38CED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0FA6B00-A560-589D-88E3-06861C5E16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DE3B3E7-B0D0-8C99-7C55-D90FCA5ACBEA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B215CA5-2BE6-BE62-C1D9-98665A2F4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830754"/>
              </p:ext>
            </p:extLst>
          </p:nvPr>
        </p:nvGraphicFramePr>
        <p:xfrm>
          <a:off x="7035276" y="2184861"/>
          <a:ext cx="4382581" cy="3631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0763">
                  <a:extLst>
                    <a:ext uri="{9D8B030D-6E8A-4147-A177-3AD203B41FA5}">
                      <a16:colId xmlns:a16="http://schemas.microsoft.com/office/drawing/2014/main" val="624134014"/>
                    </a:ext>
                  </a:extLst>
                </a:gridCol>
                <a:gridCol w="3521818">
                  <a:extLst>
                    <a:ext uri="{9D8B030D-6E8A-4147-A177-3AD203B41FA5}">
                      <a16:colId xmlns:a16="http://schemas.microsoft.com/office/drawing/2014/main" val="3315852255"/>
                    </a:ext>
                  </a:extLst>
                </a:gridCol>
              </a:tblGrid>
              <a:tr h="4289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 err="1"/>
                        <a:t>화면명</a:t>
                      </a:r>
                      <a:endParaRPr lang="ko-KR" altLang="en-US" sz="15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500" dirty="0"/>
                        <a:t>회원 탈퇴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302176"/>
                  </a:ext>
                </a:extLst>
              </a:tr>
              <a:tr h="432135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화면설명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33341"/>
                  </a:ext>
                </a:extLst>
              </a:tr>
              <a:tr h="4652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자가진단 결과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탈퇴 전 주의사항 기입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062150"/>
                  </a:ext>
                </a:extLst>
              </a:tr>
              <a:tr h="4652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유의사항에 동의하지 않을 경우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‘</a:t>
                      </a:r>
                      <a:r>
                        <a:rPr lang="ko-KR" altLang="en-US" sz="1600" dirty="0"/>
                        <a:t>유의사항에 동의해주세요</a:t>
                      </a:r>
                      <a:r>
                        <a:rPr lang="en-US" altLang="ko-KR" sz="1600" dirty="0"/>
                        <a:t>’ </a:t>
                      </a:r>
                      <a:r>
                        <a:rPr lang="ko-KR" altLang="en-US" sz="1600" dirty="0"/>
                        <a:t>경고</a:t>
                      </a:r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752940"/>
                  </a:ext>
                </a:extLst>
              </a:tr>
              <a:tr h="4652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비밀번호 변경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</a:t>
                      </a:r>
                      <a:r>
                        <a:rPr lang="ko-KR" altLang="en-US" sz="1600" dirty="0"/>
                        <a:t>비밀번호 잘못 입력 시</a:t>
                      </a:r>
                      <a:endParaRPr lang="en-US" altLang="ko-KR" sz="1600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‘</a:t>
                      </a:r>
                      <a:r>
                        <a:rPr lang="ko-KR" altLang="en-US" sz="1600" dirty="0"/>
                        <a:t>비밀번호를 확인해주세요</a:t>
                      </a:r>
                      <a:r>
                        <a:rPr lang="en-US" altLang="ko-KR" sz="1600" dirty="0"/>
                        <a:t>.’ </a:t>
                      </a:r>
                      <a:r>
                        <a:rPr lang="ko-KR" altLang="en-US" sz="1600" dirty="0"/>
                        <a:t>경고</a:t>
                      </a:r>
                      <a:endParaRPr lang="en-US" altLang="ko-KR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825529"/>
                  </a:ext>
                </a:extLst>
              </a:tr>
              <a:tr h="4652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/>
                        <a:t>4</a:t>
                      </a:r>
                      <a:endParaRPr lang="ko-KR" altLang="en-US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/>
                        <a:t># </a:t>
                      </a:r>
                      <a:r>
                        <a:rPr lang="ko-KR" altLang="en-US" sz="1600" b="1" dirty="0"/>
                        <a:t>회원탈퇴 클릭 시</a:t>
                      </a:r>
                      <a:endParaRPr lang="en-US" altLang="ko-KR" sz="1600" b="1" dirty="0"/>
                    </a:p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: ‘</a:t>
                      </a:r>
                      <a:r>
                        <a:rPr lang="ko-KR" altLang="en-US" sz="1600" dirty="0"/>
                        <a:t>회원탈퇴가 정상적으로 되었습니다</a:t>
                      </a:r>
                      <a:r>
                        <a:rPr lang="en-US" altLang="ko-KR" sz="1600" dirty="0"/>
                        <a:t>.’ </a:t>
                      </a:r>
                      <a:r>
                        <a:rPr lang="ko-KR" altLang="en-US" sz="1600" dirty="0"/>
                        <a:t>창 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 메인 페이지 이동</a:t>
                      </a:r>
                      <a:endParaRPr lang="en-US" altLang="ko-KR" sz="1600" dirty="0"/>
                    </a:p>
                  </a:txBody>
                  <a:tcPr marL="82882" marR="82882" marT="41441" marB="41441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02657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9C41912D-447B-AC24-A115-69423018B1F8}"/>
              </a:ext>
            </a:extLst>
          </p:cNvPr>
          <p:cNvSpPr/>
          <p:nvPr/>
        </p:nvSpPr>
        <p:spPr>
          <a:xfrm>
            <a:off x="2200709" y="3105149"/>
            <a:ext cx="3730192" cy="912733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E11ED4-ADAF-87D1-3E64-21061171BF8F}"/>
              </a:ext>
            </a:extLst>
          </p:cNvPr>
          <p:cNvSpPr/>
          <p:nvPr/>
        </p:nvSpPr>
        <p:spPr>
          <a:xfrm>
            <a:off x="1898322" y="3080399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D48C3D-C3B4-4F41-A80D-18A7C472DF00}"/>
              </a:ext>
            </a:extLst>
          </p:cNvPr>
          <p:cNvSpPr/>
          <p:nvPr/>
        </p:nvSpPr>
        <p:spPr>
          <a:xfrm>
            <a:off x="2200709" y="4062917"/>
            <a:ext cx="1842654" cy="167999"/>
          </a:xfrm>
          <a:prstGeom prst="rect">
            <a:avLst/>
          </a:prstGeom>
          <a:noFill/>
          <a:ln w="1905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8DA2408-3A65-5D84-D904-D7648F8B859C}"/>
              </a:ext>
            </a:extLst>
          </p:cNvPr>
          <p:cNvSpPr/>
          <p:nvPr/>
        </p:nvSpPr>
        <p:spPr>
          <a:xfrm>
            <a:off x="1898322" y="4041569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49848D-702A-B937-69D5-FB0AFA81C269}"/>
              </a:ext>
            </a:extLst>
          </p:cNvPr>
          <p:cNvSpPr/>
          <p:nvPr/>
        </p:nvSpPr>
        <p:spPr>
          <a:xfrm>
            <a:off x="2200709" y="4572000"/>
            <a:ext cx="3196791" cy="304644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AF3B90B-2192-B7B1-56EF-35A6D71847B4}"/>
              </a:ext>
            </a:extLst>
          </p:cNvPr>
          <p:cNvSpPr/>
          <p:nvPr/>
        </p:nvSpPr>
        <p:spPr>
          <a:xfrm>
            <a:off x="1898322" y="4659837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F6FF863-DD42-2D65-0D7A-5EADC96FBD8E}"/>
              </a:ext>
            </a:extLst>
          </p:cNvPr>
          <p:cNvSpPr/>
          <p:nvPr/>
        </p:nvSpPr>
        <p:spPr>
          <a:xfrm>
            <a:off x="3590924" y="5067197"/>
            <a:ext cx="754259" cy="274934"/>
          </a:xfrm>
          <a:prstGeom prst="rect">
            <a:avLst/>
          </a:prstGeom>
          <a:noFill/>
          <a:ln w="38100">
            <a:solidFill>
              <a:srgbClr val="FFB1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9EF1E23-2A5C-9432-7494-D791B8DF9877}"/>
              </a:ext>
            </a:extLst>
          </p:cNvPr>
          <p:cNvSpPr/>
          <p:nvPr/>
        </p:nvSpPr>
        <p:spPr>
          <a:xfrm>
            <a:off x="3306641" y="5137338"/>
            <a:ext cx="220980" cy="216807"/>
          </a:xfrm>
          <a:prstGeom prst="rect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37506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설계도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역할 분담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rcRect l="439" t="862" r="494" b="937"/>
          <a:stretch>
            <a:fillRect/>
          </a:stretch>
        </p:blipFill>
        <p:spPr>
          <a:xfrm>
            <a:off x="2091530" y="1612900"/>
            <a:ext cx="8008939" cy="409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8821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9E6BE-53B8-C6B2-4001-CA5355B8B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11677003-45A1-46FA-8635-446CBBB75EFA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계획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데이터 출처 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1D7FD06F-E82E-5145-E651-EB8AAE66683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80683C4-EDCF-C7D2-B6F9-A70DD15C7178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9DDB05C8-4FA1-B3D3-03DA-CD509E302EB2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4928CF5-3D16-CE60-370A-902FE3C8E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A671A1B0-DB9F-1713-AB6A-A85F3FDAA4A6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25F5BB33-EF2D-C7FE-A16D-B8F3A42D9265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1746C62-B367-B7F5-10A9-944153B448F8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BFDDE2FF-23CC-5C1F-F5AA-E0E13204C07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24E8D01C-9256-0D61-7AA1-A9F55C3AC0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2DE0B5A1-E144-D86D-643E-91ECF171A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50DA99F-07B4-2FF9-CA74-658D4E1049C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DDF23A4-27C2-CD4E-5AEA-C81A9DD4C4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A957B886-F97A-532C-319A-1E0C751A3D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A0F11BB4-9995-E31D-B315-44CB7EB56CC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72BF4C3D-41BB-6AB8-2318-6FB56107D5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4B9FE771-DD5B-29F2-3115-04E3DE175CF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32EFDADE-DF90-B774-FB06-8BDA6864C618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DE70C0D1-FFB7-04E6-DE7B-8F2FC6704546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515BA7F4-D275-094A-5649-66886F8E4A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EE25BBC-F57E-CBEF-9861-A2CF70E0A4AE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115EB167-D5AF-3A64-E288-A5FA18D96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557" y="2184482"/>
            <a:ext cx="6235524" cy="3949818"/>
          </a:xfrm>
          <a:prstGeom prst="rect">
            <a:avLst/>
          </a:prstGeom>
          <a:ln w="63500">
            <a:solidFill>
              <a:srgbClr val="FFB1B1"/>
            </a:solidFill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6B8C3F-41B4-C848-1A78-AC33F1D20B57}"/>
              </a:ext>
            </a:extLst>
          </p:cNvPr>
          <p:cNvSpPr txBox="1"/>
          <p:nvPr/>
        </p:nvSpPr>
        <p:spPr>
          <a:xfrm>
            <a:off x="752476" y="1229472"/>
            <a:ext cx="7369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https://www.kaggle.com/datasets/pacificrm/skindiseasedataset/data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FCD451D-53F1-B773-37F1-7B6F3C21F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770" y="1997647"/>
            <a:ext cx="1247171" cy="4136653"/>
          </a:xfrm>
          <a:prstGeom prst="rect">
            <a:avLst/>
          </a:prstGeom>
          <a:ln w="63500">
            <a:solidFill>
              <a:srgbClr val="FFB1B1"/>
            </a:solidFill>
          </a:ln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F6306793-E0C0-F637-F711-6EA525244DAB}"/>
              </a:ext>
            </a:extLst>
          </p:cNvPr>
          <p:cNvSpPr/>
          <p:nvPr/>
        </p:nvSpPr>
        <p:spPr>
          <a:xfrm>
            <a:off x="2455669" y="5628528"/>
            <a:ext cx="6702552" cy="246888"/>
          </a:xfrm>
          <a:prstGeom prst="rightArrow">
            <a:avLst/>
          </a:prstGeom>
          <a:solidFill>
            <a:srgbClr val="FFB1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65864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E3CDC-AC48-E1A4-DA6B-29A31B30C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45AE2A89-9F7A-DF30-3725-EF814CE22C88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모델 </a:t>
            </a:r>
            <a:r>
              <a:rPr lang="ko-KR" altLang="en-US" sz="2400" b="1" kern="0" dirty="0" err="1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딥러닝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모델 생성 로그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A64841FC-7EB6-5BE6-FAAE-7C34D93A3CD1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F88C0FE-A7CF-B323-C48B-CAEAF21B880F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9FD6107B-75BF-76E0-E43C-62DEBA6142D4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D3402AD-4DE1-9BB3-D4A7-52FD5D61E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AC18EFAF-95AB-70C3-54DE-3E5417C45ECE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1E6DAEC4-EC88-8295-3148-04CAC5EB3790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8AE247B-68D7-A0E5-45BA-99483E270288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1154059-E4F6-5476-5B69-3FEB158DA4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F87582B7-7B99-9FF9-FC72-AE11596D2C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79177823-425A-727B-AA7E-96611FF551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8C7CB67-B7EA-DC9D-C9F2-696428EA1D6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571458F6-BC0D-C51D-68E7-A6615358B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F63FE3C-9E36-9134-E552-E11F5CE7A23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A113ADD8-1AD3-C947-C699-2A3781DA17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AB74EBA1-D41A-3E74-AA7D-168E38CF8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DAE2A2B-1C39-31D6-E2D2-159D78F990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E77B01CA-E863-9AA0-1879-55B475CA2301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33B280B-5F99-B127-EB5A-C567D3AC9D17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884DA235-CC96-AC3D-DBCC-66A7DB964B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57BD258-5757-7F5D-376C-6802B7632241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3" name="Google Shape;91;p14">
            <a:extLst>
              <a:ext uri="{FF2B5EF4-FFF2-40B4-BE49-F238E27FC236}">
                <a16:creationId xmlns:a16="http://schemas.microsoft.com/office/drawing/2014/main" id="{FFD264A1-463B-059E-C251-4DD1C65879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7435436"/>
              </p:ext>
            </p:extLst>
          </p:nvPr>
        </p:nvGraphicFramePr>
        <p:xfrm>
          <a:off x="694600" y="3715980"/>
          <a:ext cx="10882248" cy="227344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88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0545">
                <a:tc>
                  <a:txBody>
                    <a:bodyPr/>
                    <a:lstStyle/>
                    <a:p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</a:t>
                      </a:r>
                      <a:r>
                        <a:rPr lang="ko-KR" altLang="en-US" sz="14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전처리</a:t>
                      </a: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ko-KR" altLang="en-US" sz="14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데이터로더</a:t>
                      </a: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545">
                <a:tc>
                  <a:txBody>
                    <a:bodyPr/>
                    <a:lstStyle/>
                    <a:p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train_transform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transforms.Compose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transforms.Resize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((IMAGE_SIZE, IMAGE_SIZE)),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transforms.RandomHorizontalFlip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(p=0.5),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transforms.RandomRotation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(10),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transforms.ToTensor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(),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transforms.Normalize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([0.485]*3, [0.229]*3),])</a:t>
                      </a:r>
                    </a:p>
                    <a:p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val_transform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transforms.Compose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transforms.Resize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((IMAGE_SIZE,IMAGE_SIZE)),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transforms.ToTensor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(),transforms.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Normalize([0.485]*3, [0.229]*3),])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oogle Shape;91;p14">
            <a:extLst>
              <a:ext uri="{FF2B5EF4-FFF2-40B4-BE49-F238E27FC236}">
                <a16:creationId xmlns:a16="http://schemas.microsoft.com/office/drawing/2014/main" id="{10896BDD-06C9-92AF-459E-493D620F75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3016937"/>
              </p:ext>
            </p:extLst>
          </p:nvPr>
        </p:nvGraphicFramePr>
        <p:xfrm>
          <a:off x="678897" y="1395862"/>
          <a:ext cx="10913655" cy="226939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913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6077">
                <a:tc>
                  <a:txBody>
                    <a:bodyPr/>
                    <a:lstStyle/>
                    <a:p>
                      <a:r>
                        <a:rPr lang="ko-KR" altLang="en-US" sz="1400" b="1" dirty="0"/>
                        <a:t>사용모델 </a:t>
                      </a:r>
                      <a:r>
                        <a:rPr lang="en-US" altLang="ko-KR" sz="1400" b="1" dirty="0"/>
                        <a:t>: efficientnet_b0 , 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EPOCHS</a:t>
                      </a:r>
                      <a:r>
                        <a:rPr lang="ko-KR" altLang="en-US" sz="14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설정값</a:t>
                      </a:r>
                      <a:endParaRPr lang="en-US" altLang="ko-KR" sz="1400" b="1" dirty="0"/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5045"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model = models.efficientnet_b0(pretrained=True) </a:t>
                      </a:r>
                    </a:p>
                    <a:p>
                      <a:r>
                        <a:rPr lang="en-US" altLang="ko-KR" sz="1200" dirty="0" err="1"/>
                        <a:t>model.classifier</a:t>
                      </a:r>
                      <a:r>
                        <a:rPr lang="en-US" altLang="ko-KR" sz="1200" dirty="0"/>
                        <a:t>[1] = </a:t>
                      </a:r>
                      <a:r>
                        <a:rPr lang="en-US" altLang="ko-KR" sz="1200" dirty="0" err="1"/>
                        <a:t>nn.Linear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model.classifier</a:t>
                      </a:r>
                      <a:r>
                        <a:rPr lang="en-US" altLang="ko-KR" sz="1200" dirty="0"/>
                        <a:t>[1].</a:t>
                      </a:r>
                      <a:r>
                        <a:rPr lang="en-US" altLang="ko-KR" sz="1200" dirty="0" err="1"/>
                        <a:t>in_features</a:t>
                      </a:r>
                      <a:r>
                        <a:rPr lang="en-US" altLang="ko-KR" sz="1200" dirty="0"/>
                        <a:t>, </a:t>
                      </a:r>
                      <a:r>
                        <a:rPr lang="en-US" altLang="ko-KR" sz="1200" dirty="0" err="1"/>
                        <a:t>len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train_ds.classes</a:t>
                      </a:r>
                      <a:r>
                        <a:rPr lang="en-US" altLang="ko-KR" sz="1200" dirty="0"/>
                        <a:t>))</a:t>
                      </a:r>
                    </a:p>
                    <a:p>
                      <a:r>
                        <a:rPr lang="en-US" altLang="ko-KR" sz="1200" dirty="0"/>
                        <a:t>model.to(device)</a:t>
                      </a:r>
                    </a:p>
                    <a:p>
                      <a:endParaRPr lang="en-US" altLang="ko-KR" sz="1200" dirty="0"/>
                    </a:p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-----------------------------------------------------------------------------------------------------------------------------------------------------------------------------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EPOCHS = 35 </a:t>
                      </a:r>
                    </a:p>
                    <a:p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best_val_acc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0</a:t>
                      </a:r>
                    </a:p>
                    <a:p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EarlyStopping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patience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patience, counter = 5, 0  # patience=5</a:t>
                      </a:r>
                      <a:endParaRPr lang="en-US" altLang="ko-KR" sz="11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4175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7E777A-6256-91C6-33B7-47C078AA2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92D1250E-0183-270D-527A-68744DDB01F3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모델 </a:t>
            </a:r>
            <a:r>
              <a:rPr lang="ko-KR" altLang="en-US" sz="2400" b="1" kern="0" dirty="0" err="1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딥러닝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모델 생성 로그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13E813A9-E07E-2E44-5E2C-FCEFA54F0F29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B243C26-24A7-B7D1-B552-4652E8A35C54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45A6A090-0809-9E6E-65C6-E1FEA3FB8C0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1C5ABEA-3DE6-BB9C-A823-2C92AB565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A42AEB8-A46A-085B-DF82-38D0947A0999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ED9BBAA-CBB4-AE1E-5CDF-14A683AB33D2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AF54CC1-3819-9EDD-2F33-288C2A1D93A0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3003204B-FEB9-75BE-32E2-B90578CA07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7D31A9D8-68FE-CD59-0934-6C4781F0E0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2461E860-BB9E-5A38-6EDF-C0D861783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60545FE4-BFBE-F3C1-C709-4B37545AC7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15B98A49-DA11-8BD8-C05F-D60A0CE839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B60D0ECD-5A68-BA84-160A-D818E9C14E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993059D6-2EF8-72DB-C7EA-B50F48428A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00C3033C-7DAF-F7E7-1C11-8435D6053F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E8B70219-BBF6-DFAF-D9FC-132AE4C4F6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F7793FC1-63A5-1B5B-85FC-F63722BCC124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A6FB3F0-F046-0F75-FE4C-1515D49D0742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3F7F41E4-39D7-4809-D002-60D582259D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B23D342-D822-C16A-A1C9-B1D8B69D7DA1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graphicFrame>
        <p:nvGraphicFramePr>
          <p:cNvPr id="10" name="Google Shape;91;p14">
            <a:extLst>
              <a:ext uri="{FF2B5EF4-FFF2-40B4-BE49-F238E27FC236}">
                <a16:creationId xmlns:a16="http://schemas.microsoft.com/office/drawing/2014/main" id="{55122225-20C9-27C9-B55B-EB2F95F26C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8369845"/>
              </p:ext>
            </p:extLst>
          </p:nvPr>
        </p:nvGraphicFramePr>
        <p:xfrm>
          <a:off x="678898" y="1501025"/>
          <a:ext cx="10913654" cy="154192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913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0545">
                <a:tc>
                  <a:txBody>
                    <a:bodyPr/>
                    <a:lstStyle/>
                    <a:p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클래스 불균형 보정 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가중치 계산</a:t>
                      </a: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545"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labels = [label for _, label in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train_ds.samples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classes =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np.arange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train_ds.classes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))</a:t>
                      </a:r>
                    </a:p>
                    <a:p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class_weights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compute_class_weight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('balanced', classes=classes, y=labels)</a:t>
                      </a:r>
                    </a:p>
                    <a:p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class_weights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torch.tensor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class_weights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dtype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torch.float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).to(device)</a:t>
                      </a:r>
                    </a:p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print('Class weights:',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class_weights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Google Shape;91;p14">
            <a:extLst>
              <a:ext uri="{FF2B5EF4-FFF2-40B4-BE49-F238E27FC236}">
                <a16:creationId xmlns:a16="http://schemas.microsoft.com/office/drawing/2014/main" id="{51D337D5-D06E-51A0-A040-800BBD116A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3277995"/>
              </p:ext>
            </p:extLst>
          </p:nvPr>
        </p:nvGraphicFramePr>
        <p:xfrm>
          <a:off x="669050" y="3481013"/>
          <a:ext cx="10923501" cy="245227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923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889">
                <a:tc>
                  <a:txBody>
                    <a:bodyPr/>
                    <a:lstStyle/>
                    <a:p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체크포인트 경로 설정</a:t>
                      </a:r>
                    </a:p>
                  </a:txBody>
                  <a:tcPr marL="91450" marR="91450" marT="41568" marB="41568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4784">
                <a:tc>
                  <a:txBody>
                    <a:bodyPr/>
                    <a:lstStyle/>
                    <a:p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class_count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class_names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if '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class_names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 in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globals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else (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getattr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model.classifier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[1], '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out_features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', None) or 0)</a:t>
                      </a:r>
                    </a:p>
                    <a:p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model_name_base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f"skin_model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_{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class_count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cls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checkpoint_path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os.path.join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results_dir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f'best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_{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model_name_base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}.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pth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latest_checkpoint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os.path.join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results_dir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f'latest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_{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model_name_base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}.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pth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periodic_checkpoint_dir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os.path.join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results_dir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f'periodic_checkpoints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_{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model_name_base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}')</a:t>
                      </a:r>
                    </a:p>
                    <a:p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os.makedirs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periodic_checkpoint_dir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exist_ok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=True)</a:t>
                      </a:r>
                    </a:p>
                    <a:p>
                      <a:endParaRPr lang="en-US" altLang="ko-KR" sz="12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log_path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os.path.join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results_dir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'train_log.txt')</a:t>
                      </a:r>
                    </a:p>
                    <a:p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metrics_log_path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os.path.join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results_dir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'metrics_log.csv')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50" marR="91450" marT="41568" marB="41568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0122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모델 </a:t>
            </a:r>
            <a:r>
              <a:rPr lang="ko-KR" altLang="en-US" sz="2400" b="1" kern="0" dirty="0" err="1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딥러닝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모델 생성 로그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35" name="image2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289048" y="2182225"/>
            <a:ext cx="8271073" cy="2193128"/>
          </a:xfrm>
          <a:prstGeom prst="rect">
            <a:avLst/>
          </a:prstGeom>
          <a:ln/>
        </p:spPr>
      </p:pic>
      <p:pic>
        <p:nvPicPr>
          <p:cNvPr id="37" name="image1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228440" y="4778215"/>
            <a:ext cx="5876448" cy="1536667"/>
          </a:xfrm>
          <a:prstGeom prst="rect">
            <a:avLst/>
          </a:prstGeom>
          <a:ln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B0E62B-CA24-FB2A-BE3B-A4B765595E19}"/>
              </a:ext>
            </a:extLst>
          </p:cNvPr>
          <p:cNvSpPr txBox="1"/>
          <p:nvPr/>
        </p:nvSpPr>
        <p:spPr>
          <a:xfrm>
            <a:off x="891215" y="4418665"/>
            <a:ext cx="7101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모델의 전체 정확도는 </a:t>
            </a:r>
            <a:r>
              <a:rPr lang="en-US" altLang="ko-KR" sz="1600" b="1" dirty="0"/>
              <a:t>78.07%</a:t>
            </a:r>
            <a:r>
              <a:rPr lang="ko-KR" altLang="en-US" sz="1600" b="1" dirty="0"/>
              <a:t>로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대부분의 피부 질환을 안정적으로 분류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F92B59-081C-7D34-8688-057FA2FEC94B}"/>
              </a:ext>
            </a:extLst>
          </p:cNvPr>
          <p:cNvSpPr txBox="1"/>
          <p:nvPr/>
        </p:nvSpPr>
        <p:spPr>
          <a:xfrm>
            <a:off x="891215" y="981188"/>
            <a:ext cx="846540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00000"/>
                </a:solidFill>
              </a:rPr>
              <a:t>데이터셋 </a:t>
            </a:r>
            <a:r>
              <a:rPr lang="en-US" altLang="ko-KR" sz="1600" b="1" dirty="0">
                <a:solidFill>
                  <a:srgbClr val="000000"/>
                </a:solidFill>
              </a:rPr>
              <a:t>: </a:t>
            </a:r>
            <a:r>
              <a:rPr lang="ko-KR" altLang="en-US" sz="1600" b="1" dirty="0">
                <a:solidFill>
                  <a:srgbClr val="000000"/>
                </a:solidFill>
              </a:rPr>
              <a:t>약 </a:t>
            </a:r>
            <a:r>
              <a:rPr lang="en-US" altLang="ko-KR" sz="1600" b="1" dirty="0">
                <a:solidFill>
                  <a:srgbClr val="000000"/>
                </a:solidFill>
              </a:rPr>
              <a:t>15000</a:t>
            </a:r>
            <a:r>
              <a:rPr lang="ko-KR" altLang="en-US" sz="1600" b="1" i="0" u="none" strike="noStrike" dirty="0">
                <a:solidFill>
                  <a:srgbClr val="000000"/>
                </a:solidFill>
                <a:effectLst/>
              </a:rPr>
              <a:t>개</a:t>
            </a:r>
            <a:r>
              <a:rPr lang="en-US" altLang="ko-KR" sz="1600" b="1" i="0" u="none" strike="noStrike" dirty="0">
                <a:solidFill>
                  <a:srgbClr val="000000"/>
                </a:solidFill>
                <a:effectLst/>
              </a:rPr>
              <a:t>,</a:t>
            </a:r>
            <a:r>
              <a:rPr lang="ko-KR" altLang="en-US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ko-KR" sz="1600" b="1" i="0" u="none" strike="noStrike" dirty="0">
                <a:solidFill>
                  <a:srgbClr val="000000"/>
                </a:solidFill>
                <a:effectLst/>
              </a:rPr>
              <a:t>22</a:t>
            </a:r>
            <a:r>
              <a:rPr lang="ko-KR" altLang="en-US" sz="1600" b="1" i="0" u="none" strike="noStrike" dirty="0">
                <a:solidFill>
                  <a:srgbClr val="000000"/>
                </a:solidFill>
                <a:effectLst/>
              </a:rPr>
              <a:t>클래스로</a:t>
            </a:r>
            <a:r>
              <a:rPr lang="en-US" altLang="ko-KR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ko-KR" altLang="en-US" sz="1600" b="1" i="0" u="none" strike="noStrike" dirty="0">
                <a:solidFill>
                  <a:srgbClr val="000000"/>
                </a:solidFill>
                <a:effectLst/>
              </a:rPr>
              <a:t>구성된 이미지 사용</a:t>
            </a:r>
            <a:endParaRPr lang="en-US" altLang="ko-KR" sz="1600" b="1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>
                <a:solidFill>
                  <a:srgbClr val="000000"/>
                </a:solidFill>
              </a:rPr>
              <a:t>모델 </a:t>
            </a:r>
            <a:r>
              <a:rPr lang="en-US" altLang="ko-KR" sz="1600" b="1" dirty="0">
                <a:solidFill>
                  <a:srgbClr val="000000"/>
                </a:solidFill>
              </a:rPr>
              <a:t>: </a:t>
            </a:r>
            <a:r>
              <a:rPr lang="en-US" altLang="ko-KR" sz="1600" b="1" i="0" u="none" strike="noStrike" dirty="0">
                <a:solidFill>
                  <a:srgbClr val="000000"/>
                </a:solidFill>
                <a:effectLst/>
              </a:rPr>
              <a:t>EfficientNet-b0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i="0" u="none" strike="noStrike" dirty="0">
                <a:solidFill>
                  <a:srgbClr val="000000"/>
                </a:solidFill>
                <a:effectLst/>
              </a:rPr>
              <a:t>학습 파라미터 수 </a:t>
            </a:r>
            <a:r>
              <a:rPr lang="en-US" altLang="ko-KR" sz="1600" b="1" i="0" u="none" strike="noStrike" dirty="0">
                <a:solidFill>
                  <a:srgbClr val="000000"/>
                </a:solidFill>
                <a:effectLst/>
              </a:rPr>
              <a:t>:</a:t>
            </a:r>
            <a:r>
              <a:rPr lang="ko-KR" altLang="en-US" sz="1600" b="1" i="0" u="none" strike="noStrike" dirty="0">
                <a:solidFill>
                  <a:srgbClr val="000000"/>
                </a:solidFill>
                <a:effectLst/>
              </a:rPr>
              <a:t> 약 </a:t>
            </a:r>
            <a:r>
              <a:rPr lang="en-US" altLang="ko-KR" sz="1600" b="1" i="0" u="none" strike="noStrike" dirty="0">
                <a:solidFill>
                  <a:srgbClr val="000000"/>
                </a:solidFill>
                <a:effectLst/>
              </a:rPr>
              <a:t>4,035,730</a:t>
            </a:r>
            <a:r>
              <a:rPr lang="ko-KR" altLang="en-US" sz="1600" b="1" i="0" u="none" strike="noStrike" dirty="0">
                <a:solidFill>
                  <a:srgbClr val="000000"/>
                </a:solidFill>
                <a:effectLst/>
              </a:rPr>
              <a:t>개</a:t>
            </a:r>
            <a:endParaRPr lang="en-US" altLang="ko-KR" sz="1600" b="1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i="0" u="none" strike="noStrike" dirty="0">
                <a:solidFill>
                  <a:srgbClr val="000000"/>
                </a:solidFill>
                <a:effectLst/>
              </a:rPr>
              <a:t>설정 </a:t>
            </a:r>
            <a:r>
              <a:rPr lang="en-US" altLang="ko-KR" sz="1600" b="1" i="0" u="none" strike="noStrike" dirty="0">
                <a:solidFill>
                  <a:srgbClr val="000000"/>
                </a:solidFill>
                <a:effectLst/>
              </a:rPr>
              <a:t>: Batch size</a:t>
            </a:r>
            <a:r>
              <a:rPr lang="ko-KR" altLang="en-US" sz="1600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ko-KR" sz="1600" b="1" i="0" u="none" strike="noStrike" dirty="0">
                <a:solidFill>
                  <a:srgbClr val="000000"/>
                </a:solidFill>
                <a:effectLst/>
              </a:rPr>
              <a:t>: 32, Learningrate</a:t>
            </a:r>
            <a:r>
              <a:rPr lang="en-US" altLang="ko-KR" sz="1600" b="1" dirty="0">
                <a:solidFill>
                  <a:srgbClr val="000000"/>
                </a:solidFill>
              </a:rPr>
              <a:t>:</a:t>
            </a:r>
            <a:r>
              <a:rPr lang="en-US" altLang="ko-KR" sz="1600" b="1" i="0" u="none" strike="noStrike" dirty="0">
                <a:solidFill>
                  <a:srgbClr val="000000"/>
                </a:solidFill>
                <a:effectLst/>
              </a:rPr>
              <a:t>1e-4,</a:t>
            </a:r>
            <a:r>
              <a:rPr lang="en-US" altLang="ko-KR" dirty="0"/>
              <a:t> </a:t>
            </a:r>
            <a:r>
              <a:rPr lang="en-US" altLang="ko-KR" sz="1600" b="1" dirty="0"/>
              <a:t>EPOCHS = 35 </a:t>
            </a:r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99607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모델 </a:t>
            </a:r>
            <a:r>
              <a:rPr lang="ko-KR" altLang="en-US" sz="2400" b="1" kern="0" dirty="0" err="1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딥러닝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시각화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38" name="image3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707549" y="2509750"/>
            <a:ext cx="5636226" cy="3063915"/>
          </a:xfrm>
          <a:prstGeom prst="rect">
            <a:avLst/>
          </a:prstGeom>
          <a:ln/>
        </p:spPr>
      </p:pic>
      <p:pic>
        <p:nvPicPr>
          <p:cNvPr id="39" name="image4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6239250" y="1578004"/>
            <a:ext cx="5107027" cy="4927409"/>
          </a:xfrm>
          <a:prstGeom prst="rect">
            <a:avLst/>
          </a:prstGeom>
          <a:ln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4DCEA9-C2DE-BE69-FD08-73F1465773CB}"/>
              </a:ext>
            </a:extLst>
          </p:cNvPr>
          <p:cNvSpPr txBox="1"/>
          <p:nvPr/>
        </p:nvSpPr>
        <p:spPr>
          <a:xfrm>
            <a:off x="6515015" y="128401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혼동행렬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F59BB1-74D7-7037-4CA5-D3DEF9D8CA73}"/>
              </a:ext>
            </a:extLst>
          </p:cNvPr>
          <p:cNvSpPr txBox="1"/>
          <p:nvPr/>
        </p:nvSpPr>
        <p:spPr>
          <a:xfrm>
            <a:off x="845723" y="227161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학습곡선</a:t>
            </a:r>
          </a:p>
        </p:txBody>
      </p:sp>
    </p:spTree>
    <p:extLst>
      <p:ext uri="{BB962C8B-B14F-4D97-AF65-F5344CB8AC3E}">
        <p14:creationId xmlns:p14="http://schemas.microsoft.com/office/powerpoint/2010/main" val="35938630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구현 화면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메인 페이지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915" y="1174035"/>
            <a:ext cx="3720168" cy="504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215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구현 화면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공지사항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BBFCA6F8-EEC2-9200-96D6-86DEDD3F4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236665"/>
            <a:ext cx="5310531" cy="263060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D0631A6-799F-E69C-B906-61A1F001B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00" y="2247505"/>
            <a:ext cx="5058481" cy="32865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5A41C0-F2D3-35F8-BE59-3D1AB7FFE43A}"/>
              </a:ext>
            </a:extLst>
          </p:cNvPr>
          <p:cNvSpPr txBox="1"/>
          <p:nvPr/>
        </p:nvSpPr>
        <p:spPr>
          <a:xfrm>
            <a:off x="7847451" y="1693507"/>
            <a:ext cx="2169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공지사항 내용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D0E501-657A-073D-66CA-6C06134AC43D}"/>
              </a:ext>
            </a:extLst>
          </p:cNvPr>
          <p:cNvSpPr txBox="1"/>
          <p:nvPr/>
        </p:nvSpPr>
        <p:spPr>
          <a:xfrm>
            <a:off x="2367147" y="1693507"/>
            <a:ext cx="2169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공지사항 리스트</a:t>
            </a:r>
          </a:p>
        </p:txBody>
      </p:sp>
    </p:spTree>
    <p:extLst>
      <p:ext uri="{BB962C8B-B14F-4D97-AF65-F5344CB8AC3E}">
        <p14:creationId xmlns:p14="http://schemas.microsoft.com/office/powerpoint/2010/main" val="18201172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구현 화면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공지사항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7938891" y="1588396"/>
            <a:ext cx="2169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ADMIN </a:t>
            </a:r>
            <a:r>
              <a:rPr lang="ko-KR" altLang="en-US" b="1" dirty="0"/>
              <a:t>화면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54" y="2064522"/>
            <a:ext cx="5867224" cy="361272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902047" y="1588396"/>
            <a:ext cx="2984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일반 회원 및 비회원 화면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578" y="2079859"/>
            <a:ext cx="5550568" cy="388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2230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구현 화면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질환 진단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062FE92C-5DE1-AA82-7D2F-018A7041F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222" y="1401778"/>
            <a:ext cx="4399186" cy="4651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371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BB8B3-F7E3-5723-2C60-175F7747E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50C56E36-8591-1D77-C6F4-5BA0601D2875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구현 화면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질환 진단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5D84699E-CC65-151E-0FC1-842D3D707D1A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45650B0-AAC3-E9A9-FEC5-5568A59E3CC8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31128B7-68BA-FED8-E20F-323FF49C7D0F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26BC781-82A1-D467-7E99-A478235DD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39FF3E11-8F73-706B-8A95-B442ACA70115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C1CF6EE0-635B-0F3F-A6DB-20142F0DE236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4C22EF15-CF63-177F-3EB5-39FCFC4049FD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7EB31B90-EF49-5D21-69B5-2A180D8ECD5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181A21BD-AC02-9504-C78B-0A9FA46324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6F6AA078-8FE6-9E73-939B-7400D4AEC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0A287D89-1D49-3C99-ADF0-2E3B6F5D614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12A0586E-763D-2C8E-AF4B-7E53BA73C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44CA356A-768E-7236-1ACD-1423A907C3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724A86BD-9B99-D427-BD90-04063C90099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0A78081D-3ED9-4634-E5B0-6E0BFA2961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7F225B43-CE62-4E7F-C5E0-DEF42FBADA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52E0982-85F5-9609-09BD-AE6011517F68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3B243BE-5CBF-45CC-5F87-17567A8C0890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88FCFCD5-6F76-41EE-6C55-6438C65ECB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31F6EFC-CBC3-C4CE-777A-85961A3E1B2F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932DF981-7CB0-A0F3-2C6C-FECF16BCD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117" y="1746601"/>
            <a:ext cx="2796135" cy="43748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5AB0BAA-E43B-DA14-2D44-2A04714C4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160" y="1807782"/>
            <a:ext cx="4050814" cy="29329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CA7E4A-2853-CDDE-B7BA-D9D7F48A590A}"/>
              </a:ext>
            </a:extLst>
          </p:cNvPr>
          <p:cNvSpPr txBox="1"/>
          <p:nvPr/>
        </p:nvSpPr>
        <p:spPr>
          <a:xfrm>
            <a:off x="2205858" y="1203498"/>
            <a:ext cx="2206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질환 진단 페이지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8C2FDE-24D1-9098-CEB8-6C061853AA51}"/>
              </a:ext>
            </a:extLst>
          </p:cNvPr>
          <p:cNvSpPr txBox="1"/>
          <p:nvPr/>
        </p:nvSpPr>
        <p:spPr>
          <a:xfrm>
            <a:off x="7213926" y="1203498"/>
            <a:ext cx="1952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진단 결과 페이지</a:t>
            </a:r>
          </a:p>
        </p:txBody>
      </p:sp>
    </p:spTree>
    <p:extLst>
      <p:ext uri="{BB962C8B-B14F-4D97-AF65-F5344CB8AC3E}">
        <p14:creationId xmlns:p14="http://schemas.microsoft.com/office/powerpoint/2010/main" val="21760371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구현 화면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예약 안내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2575503" y="1203498"/>
            <a:ext cx="1950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상담 예약 페이지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6368" y="1203498"/>
            <a:ext cx="2261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상담 시간표 페이지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E92D82E-55B4-61D3-8374-4A889749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558" y="1682466"/>
            <a:ext cx="4368471" cy="473731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0B1968-7DC5-6918-DAE7-1B7F3CC5C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58" y="1742848"/>
            <a:ext cx="4857754" cy="473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386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41C8D-C9D8-103F-0F28-3018E7A74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EEED890-E5D3-001F-2DE0-16C5027E7954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구현 화면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예약 안내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ADD49D3C-8E9A-4F00-7629-A2C360A33370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4ABF8F-2635-1AF7-C98B-68775242106C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84844F8-921A-D190-20D3-5F93E92BEF65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3020CDF-BD62-3863-1ADD-344256D1E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CCC52DD6-E6C8-5640-65A2-957E3CAED41E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4DFF83C2-2779-84DE-C65A-97F72B3F9C20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6D29703-89A6-832D-58E1-E908E4A4E81A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C2CB19E1-987C-E52E-1EDD-A66D874DE3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AE8A16C-5C65-DC7A-2F21-BD0038140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6DBB14F8-1F85-6E2F-43E4-6C61D15E5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8FBA198B-FBF2-403C-F059-8FF687F939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C0B3353E-89E9-1614-94F3-286F113F5D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D2A1930D-B711-6E06-DD95-CA0308BFCC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5CC1A6F3-BFFE-FF06-ABC6-3B25CA81F5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7E15F129-274E-E5E8-FDC1-AE61A41A5B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E4D42FF1-D055-0AB3-89F8-296ADC2C541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E3063AFD-9213-FBB3-9876-BB31FD057B4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48AFDCF-4176-88D1-7A20-9D9813FD06D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14C22C72-D61A-18BB-EE4F-298B527494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BA3CB4B-568B-1D67-8C06-DD7DF21C271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554177C-82A5-65B7-4918-04B701009FDE}"/>
              </a:ext>
            </a:extLst>
          </p:cNvPr>
          <p:cNvSpPr txBox="1"/>
          <p:nvPr/>
        </p:nvSpPr>
        <p:spPr>
          <a:xfrm>
            <a:off x="3347938" y="1256966"/>
            <a:ext cx="1950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예약 조회 페이지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570B84B-2CFA-D6A3-726F-A1A21DCA4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7" y="1802899"/>
            <a:ext cx="7173326" cy="167663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157BB89-6477-53E6-13EE-C0BE1A83B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7" y="3740869"/>
            <a:ext cx="7135221" cy="236253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0154CE9-D817-CC36-83CC-A177794E57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687" y="1748736"/>
            <a:ext cx="3037881" cy="45664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A1B3C4C-408C-BE5C-A0BD-2B3B5DD89286}"/>
              </a:ext>
            </a:extLst>
          </p:cNvPr>
          <p:cNvSpPr txBox="1"/>
          <p:nvPr/>
        </p:nvSpPr>
        <p:spPr>
          <a:xfrm>
            <a:off x="8569186" y="1277034"/>
            <a:ext cx="2848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챗봇</a:t>
            </a:r>
            <a:r>
              <a:rPr lang="ko-KR" altLang="en-US" b="1" dirty="0"/>
              <a:t> 간편상담 페이지</a:t>
            </a:r>
          </a:p>
        </p:txBody>
      </p:sp>
    </p:spTree>
    <p:extLst>
      <p:ext uri="{BB962C8B-B14F-4D97-AF65-F5344CB8AC3E}">
        <p14:creationId xmlns:p14="http://schemas.microsoft.com/office/powerpoint/2010/main" val="20301932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514E8A-0213-893F-C1DB-E3E612771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A7801719-27B9-BD6E-2EDA-E2F0701B0287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구현 화면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소개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CBE0CDC7-AF91-9141-7F58-2412517CBE6F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59292D5-86AB-0726-7468-D3D5229157E8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49B60932-FA02-97AD-02DE-A34CE424D884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14721BF-742B-6852-F973-04F9E2EFE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61E8416A-D30C-E5CD-28B0-DE45430F3008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EC925ECC-906E-ED74-C129-E473D2520E2F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9C9075C-C8B0-17C8-2ADE-3E44555C08A2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91DCAA82-3783-04DC-11BD-9E8FC60332E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F67CD069-27AD-7328-8367-EF9C0532DE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8E9C00AE-53BA-A117-E605-22F6DA11CC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69E751D3-5C79-4543-8F37-9587DDA87D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B2CD7142-6CEE-1742-8FEC-9A8156E640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BA97926-6F07-6DBE-5B3E-B79284B58E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6D3051B2-5BF2-2897-4CA5-9A59A4DA7A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3E283874-4C70-5881-3AAA-D5794ADAA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83164311-9741-D9CE-A0C2-D845BC4CE0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1E970E7C-4A72-A602-3C19-B248EBD72066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A46C042-4309-BB8E-2D98-76C62A14F55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C2C95BEC-3928-5C10-83DC-7622B795B9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4F969E4-E065-EC9A-2986-B963C7ED9B13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0DD2FF0D-649F-B23C-0CC9-D4AEAEF6C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103" y="1567246"/>
            <a:ext cx="6715794" cy="441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646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구현 화면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소개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2294481" y="1438450"/>
            <a:ext cx="2206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상담사</a:t>
            </a:r>
            <a:r>
              <a:rPr lang="ko-KR" altLang="en-US" b="1" dirty="0"/>
              <a:t> 소개 페이지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0575" y="1438450"/>
            <a:ext cx="2261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오시는 길 페이지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56" y="2170609"/>
            <a:ext cx="5120095" cy="262080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FD43EC7-F9F7-12D4-E2AC-53690A143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290" y="1807782"/>
            <a:ext cx="4103244" cy="410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757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구현 화면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 err="1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마이페이지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2319999" y="1760268"/>
            <a:ext cx="164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회원정보 수정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18367" y="1760268"/>
            <a:ext cx="1211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회원 탈퇴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119" y="2427316"/>
            <a:ext cx="4923880" cy="302313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531" y="2401486"/>
            <a:ext cx="5228084" cy="2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0452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6F797-9233-070C-5D60-CF20A49F5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9D5933AE-990E-1C53-74C0-2400D6809009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주요기능</a:t>
            </a:r>
            <a:r>
              <a:rPr lang="en-US" altLang="ko-KR" sz="2400" b="1" kern="0" dirty="0" smtClean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 err="1" smtClean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마이페이지</a:t>
            </a:r>
            <a:r>
              <a:rPr lang="ko-KR" altLang="en-US" sz="2400" b="1" kern="0" dirty="0" smtClean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lang="en-US" altLang="ko-KR" sz="2400" b="1" kern="0" dirty="0" smtClean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 smtClean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회원정보 수정</a:t>
            </a:r>
            <a:r>
              <a:rPr lang="en-US" altLang="ko-KR" sz="2400" b="1" kern="0" dirty="0" smtClean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3AA0DA7-E3B6-E104-930F-BAE5E3C395AF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322306C-3336-B9F7-B85D-7FFFDDA37055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DF0ABBEE-EC71-3B6C-6100-D3CA0085C9DD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193D675-C0FC-7C97-8B0B-C5A4654FF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6D496668-4639-BCDC-B055-73EF12D2262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7F97B490-073F-F80C-C42D-8B44151E85B3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6A1F9DF-873A-D296-3CCD-B7B102E0AFB4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3B95E2E2-8354-A946-C12A-79E2B889E2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4A255F5B-E95E-EB1F-CBD4-6F5EBCA45E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FFD2B82E-2874-B66F-4B9C-B3F68688CB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A4F9448F-EA05-BB23-2985-DAE0D2A0130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7A2A623-0591-16AA-DC69-8EDDCE4E7C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35079D1E-16C8-4018-CD10-F1CDFF7098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8616AAAC-14CC-712B-224F-19458149796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7E5A98FC-B1CD-394B-AAFD-D7F5A89504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883C07FC-EFC7-1CBE-4B21-26A39A71DE8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971ACDC1-CBE6-DA9A-99B9-78F1086C5807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E681A50-90AA-F5D4-71B8-BDA5359DA97D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DD734EC-A0CE-BAFC-AD26-1CC3D9D0A9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7755E326-E15F-B51F-B4D5-918468CEDE8C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50" y="935587"/>
            <a:ext cx="5448301" cy="5623184"/>
          </a:xfrm>
          <a:prstGeom prst="rect">
            <a:avLst/>
          </a:prstGeom>
        </p:spPr>
      </p:pic>
      <p:cxnSp>
        <p:nvCxnSpPr>
          <p:cNvPr id="5" name="직선 화살표 연결선 4"/>
          <p:cNvCxnSpPr/>
          <p:nvPr/>
        </p:nvCxnSpPr>
        <p:spPr>
          <a:xfrm>
            <a:off x="4638634" y="1267860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200372" y="1106973"/>
            <a:ext cx="39133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로컬저장소의 </a:t>
            </a:r>
            <a:r>
              <a:rPr lang="en-US" altLang="ko-KR" sz="1500" dirty="0" err="1"/>
              <a:t>accessToken</a:t>
            </a:r>
            <a:r>
              <a:rPr lang="ko-KR" altLang="en-US" sz="1500" dirty="0"/>
              <a:t>을 가져온 후 </a:t>
            </a:r>
            <a:r>
              <a:rPr lang="en-US" altLang="ko-KR" sz="1500" dirty="0"/>
              <a:t/>
            </a:r>
            <a:br>
              <a:rPr lang="en-US" altLang="ko-KR" sz="1500" dirty="0"/>
            </a:br>
            <a:r>
              <a:rPr lang="ko-KR" altLang="en-US" sz="1500" dirty="0"/>
              <a:t>사용자 로그인 상태 확인</a:t>
            </a: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4638634" y="2517540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372" y="2356653"/>
            <a:ext cx="483032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/>
              <a:t>/</a:t>
            </a:r>
            <a:r>
              <a:rPr lang="en-US" altLang="ko-KR" sz="1500" dirty="0" err="1"/>
              <a:t>api</a:t>
            </a:r>
            <a:r>
              <a:rPr lang="en-US" altLang="ko-KR" sz="1500" dirty="0"/>
              <a:t>/member/info </a:t>
            </a:r>
            <a:r>
              <a:rPr lang="ko-KR" altLang="en-US" sz="1500" dirty="0"/>
              <a:t>경로의 </a:t>
            </a:r>
            <a:r>
              <a:rPr lang="en-US" altLang="ko-KR" sz="1500" dirty="0"/>
              <a:t>GET </a:t>
            </a:r>
            <a:r>
              <a:rPr lang="ko-KR" altLang="en-US" sz="1500" dirty="0"/>
              <a:t>요청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/>
              <a:t>Authorization </a:t>
            </a:r>
            <a:r>
              <a:rPr lang="ko-KR" altLang="en-US" sz="1500" dirty="0"/>
              <a:t>헤더에</a:t>
            </a:r>
            <a:endParaRPr lang="en-US" altLang="ko-KR" sz="1500" dirty="0"/>
          </a:p>
          <a:p>
            <a:r>
              <a:rPr lang="en-US" altLang="ko-KR" sz="1500" dirty="0"/>
              <a:t>    Bearer </a:t>
            </a:r>
            <a:r>
              <a:rPr lang="ko-KR" altLang="en-US" sz="1500" dirty="0"/>
              <a:t>토큰 </a:t>
            </a:r>
            <a:r>
              <a:rPr lang="ko-KR" altLang="en-US" sz="1500" dirty="0" err="1"/>
              <a:t>형식으로인증</a:t>
            </a:r>
            <a:r>
              <a:rPr lang="ko-KR" altLang="en-US" sz="1500" dirty="0"/>
              <a:t> 토큰을 포함하여 전송</a:t>
            </a:r>
            <a:endParaRPr lang="en-US" altLang="ko-KR" sz="1500" dirty="0"/>
          </a:p>
        </p:txBody>
      </p:sp>
      <p:cxnSp>
        <p:nvCxnSpPr>
          <p:cNvPr id="12" name="직선 화살표 연결선 11"/>
          <p:cNvCxnSpPr>
            <a:cxnSpLocks/>
          </p:cNvCxnSpPr>
          <p:nvPr/>
        </p:nvCxnSpPr>
        <p:spPr>
          <a:xfrm>
            <a:off x="5463390" y="5493278"/>
            <a:ext cx="162749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00372" y="5331693"/>
            <a:ext cx="47965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요청 실패 시 실패 알림 이후 </a:t>
            </a:r>
            <a:r>
              <a:rPr lang="en-US" altLang="ko-KR" sz="1500" dirty="0"/>
              <a:t>/login </a:t>
            </a:r>
            <a:r>
              <a:rPr lang="ko-KR" altLang="en-US" sz="1500" dirty="0"/>
              <a:t>페이지로 이동</a:t>
            </a:r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4638634" y="3773106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03495" y="3586292"/>
            <a:ext cx="388760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 err="1"/>
              <a:t>setUserInfo</a:t>
            </a:r>
            <a:r>
              <a:rPr lang="en-US" altLang="ko-KR" sz="1500" dirty="0"/>
              <a:t> </a:t>
            </a:r>
            <a:r>
              <a:rPr lang="ko-KR" altLang="en-US" sz="1500" dirty="0"/>
              <a:t>함수를 사용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사용자 상태 업데이트</a:t>
            </a:r>
            <a:r>
              <a:rPr lang="en-US" altLang="ko-KR" sz="1500" dirty="0"/>
              <a:t> </a:t>
            </a:r>
            <a:r>
              <a:rPr lang="ko-KR" altLang="en-US" sz="1500" dirty="0"/>
              <a:t>정보가 없을 경우</a:t>
            </a:r>
            <a:endParaRPr lang="en-US" altLang="ko-KR" sz="1500" dirty="0"/>
          </a:p>
          <a:p>
            <a:r>
              <a:rPr lang="en-US" altLang="ko-KR" sz="1500" dirty="0"/>
              <a:t>   </a:t>
            </a:r>
            <a:r>
              <a:rPr lang="ko-KR" altLang="en-US" sz="1500" dirty="0"/>
              <a:t> </a:t>
            </a:r>
            <a:r>
              <a:rPr lang="en-US" altLang="ko-KR" sz="1500" dirty="0"/>
              <a:t>“</a:t>
            </a:r>
            <a:r>
              <a:rPr lang="ko-KR" altLang="en-US" sz="1500" dirty="0"/>
              <a:t>정보 없음</a:t>
            </a:r>
            <a:r>
              <a:rPr lang="en-US" altLang="ko-KR" sz="1500" dirty="0"/>
              <a:t>”</a:t>
            </a:r>
            <a:r>
              <a:rPr lang="ko-KR" altLang="en-US" sz="1500" dirty="0"/>
              <a:t>으로 표시</a:t>
            </a:r>
          </a:p>
        </p:txBody>
      </p:sp>
    </p:spTree>
    <p:extLst>
      <p:ext uri="{BB962C8B-B14F-4D97-AF65-F5344CB8AC3E}">
        <p14:creationId xmlns:p14="http://schemas.microsoft.com/office/powerpoint/2010/main" val="11665067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주요기능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질병 진단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질병 목록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937" y="1580276"/>
            <a:ext cx="4224327" cy="338279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938" y="5267595"/>
            <a:ext cx="5471237" cy="879720"/>
          </a:xfrm>
          <a:prstGeom prst="rect">
            <a:avLst/>
          </a:prstGeom>
        </p:spPr>
      </p:pic>
      <p:cxnSp>
        <p:nvCxnSpPr>
          <p:cNvPr id="13" name="직선 화살표 연결선 12"/>
          <p:cNvCxnSpPr/>
          <p:nvPr/>
        </p:nvCxnSpPr>
        <p:spPr>
          <a:xfrm>
            <a:off x="4696691" y="2049088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258429" y="1873687"/>
            <a:ext cx="35028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선택되지 않았을 시 함수 실행 종료</a:t>
            </a:r>
            <a:r>
              <a:rPr lang="en-US" altLang="ko-KR" sz="1500" dirty="0"/>
              <a:t/>
            </a:r>
            <a:br>
              <a:rPr lang="en-US" altLang="ko-KR" sz="1500" dirty="0"/>
            </a:br>
            <a:r>
              <a:rPr lang="en-US" altLang="ko-KR" sz="1500" dirty="0"/>
              <a:t>(</a:t>
            </a:r>
            <a:r>
              <a:rPr lang="ko-KR" altLang="en-US" sz="1500" dirty="0"/>
              <a:t>불필요한 호출 방지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4696691" y="3298768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258430" y="3123367"/>
            <a:ext cx="51512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/>
              <a:t>Selected </a:t>
            </a:r>
            <a:r>
              <a:rPr lang="ko-KR" altLang="en-US" sz="1500" dirty="0"/>
              <a:t>값을 포함하여</a:t>
            </a:r>
            <a:endParaRPr lang="en-US" altLang="ko-KR" sz="1500" dirty="0"/>
          </a:p>
          <a:p>
            <a:r>
              <a:rPr lang="ko-KR" altLang="en-US" sz="1500" dirty="0"/>
              <a:t>    특정 질병 데이터를 </a:t>
            </a:r>
            <a:r>
              <a:rPr lang="ko-KR" altLang="en-US" sz="1500" dirty="0" err="1"/>
              <a:t>백엔드</a:t>
            </a:r>
            <a:r>
              <a:rPr lang="ko-KR" altLang="en-US" sz="1500" dirty="0"/>
              <a:t> </a:t>
            </a:r>
            <a:r>
              <a:rPr lang="en-US" altLang="ko-KR" sz="1500" dirty="0"/>
              <a:t>API</a:t>
            </a:r>
            <a:r>
              <a:rPr lang="ko-KR" altLang="en-US" sz="1500" dirty="0"/>
              <a:t> 요청</a:t>
            </a:r>
          </a:p>
        </p:txBody>
      </p:sp>
      <p:cxnSp>
        <p:nvCxnSpPr>
          <p:cNvPr id="43" name="직선 화살표 연결선 42"/>
          <p:cNvCxnSpPr/>
          <p:nvPr/>
        </p:nvCxnSpPr>
        <p:spPr>
          <a:xfrm>
            <a:off x="6232647" y="5707455"/>
            <a:ext cx="91629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345551" y="5532054"/>
            <a:ext cx="240642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핵심 서비스 계층 호출</a:t>
            </a:r>
            <a:r>
              <a:rPr lang="en-US" altLang="ko-KR" sz="1500" dirty="0"/>
              <a:t/>
            </a:r>
            <a:br>
              <a:rPr lang="en-US" altLang="ko-KR" sz="1500" dirty="0"/>
            </a:br>
            <a:r>
              <a:rPr lang="en-US" altLang="ko-KR" sz="1500" dirty="0"/>
              <a:t>DB</a:t>
            </a:r>
            <a:r>
              <a:rPr lang="ko-KR" altLang="en-US" sz="1500" dirty="0"/>
              <a:t> → 질병 정보 조회</a:t>
            </a:r>
          </a:p>
        </p:txBody>
      </p:sp>
      <p:cxnSp>
        <p:nvCxnSpPr>
          <p:cNvPr id="45" name="직선 화살표 연결선 44"/>
          <p:cNvCxnSpPr/>
          <p:nvPr/>
        </p:nvCxnSpPr>
        <p:spPr>
          <a:xfrm>
            <a:off x="4696691" y="4528407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261552" y="4353006"/>
            <a:ext cx="389080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데이터 조회 시작 시 로딩 상태 활성화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완료 시 로딩 상태 해제</a:t>
            </a:r>
            <a:r>
              <a:rPr lang="en-US" altLang="ko-KR" sz="1500" dirty="0"/>
              <a:t>(</a:t>
            </a:r>
            <a:r>
              <a:rPr lang="ko-KR" altLang="en-US" sz="1500" dirty="0"/>
              <a:t>성공</a:t>
            </a:r>
            <a:r>
              <a:rPr lang="en-US" altLang="ko-KR" sz="1500" dirty="0"/>
              <a:t>/</a:t>
            </a:r>
            <a:r>
              <a:rPr lang="ko-KR" altLang="en-US" sz="1500" dirty="0"/>
              <a:t>실패 무관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0946427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08759" y="242047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주요기능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(AI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진단 결과 도출 및 이력 저장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86" y="1021776"/>
            <a:ext cx="5491901" cy="5479232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cxnSp>
        <p:nvCxnSpPr>
          <p:cNvPr id="13" name="직선 화살표 연결선 12"/>
          <p:cNvCxnSpPr/>
          <p:nvPr/>
        </p:nvCxnSpPr>
        <p:spPr>
          <a:xfrm>
            <a:off x="3945224" y="1433094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54518" y="1276596"/>
            <a:ext cx="466506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이미지를 </a:t>
            </a:r>
            <a:r>
              <a:rPr lang="en-US" altLang="ko-KR" sz="1500" dirty="0" err="1"/>
              <a:t>Pytorch</a:t>
            </a:r>
            <a:r>
              <a:rPr lang="en-US" altLang="ko-KR" sz="1500" dirty="0"/>
              <a:t> </a:t>
            </a:r>
            <a:r>
              <a:rPr lang="ko-KR" altLang="en-US" sz="1500" dirty="0" err="1"/>
              <a:t>텐서로</a:t>
            </a:r>
            <a:r>
              <a:rPr lang="ko-KR" altLang="en-US" sz="1500" dirty="0"/>
              <a:t> 변환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모델</a:t>
            </a:r>
            <a:r>
              <a:rPr lang="en-US" altLang="ko-KR" sz="1500" dirty="0"/>
              <a:t>(</a:t>
            </a:r>
            <a:r>
              <a:rPr lang="en-US" altLang="ko-KR" sz="1500" dirty="0" err="1"/>
              <a:t>selected_model</a:t>
            </a:r>
            <a:r>
              <a:rPr lang="en-US" altLang="ko-KR" sz="1500" dirty="0"/>
              <a:t>)</a:t>
            </a:r>
            <a:r>
              <a:rPr lang="ko-KR" altLang="en-US" sz="1500" dirty="0"/>
              <a:t>을</a:t>
            </a:r>
            <a:r>
              <a:rPr lang="en-US" altLang="ko-KR" sz="1500" dirty="0"/>
              <a:t> </a:t>
            </a:r>
            <a:r>
              <a:rPr lang="ko-KR" altLang="en-US" sz="1500" dirty="0"/>
              <a:t>디바이스</a:t>
            </a:r>
            <a:r>
              <a:rPr lang="en-US" altLang="ko-KR" sz="1500" dirty="0"/>
              <a:t>(device)</a:t>
            </a:r>
            <a:r>
              <a:rPr lang="ko-KR" altLang="en-US" sz="1500" dirty="0"/>
              <a:t>로 이동</a:t>
            </a: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5144718" y="2376091"/>
            <a:ext cx="127816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693630" y="2231652"/>
            <a:ext cx="50839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원본과 </a:t>
            </a:r>
            <a:r>
              <a:rPr lang="ko-KR" altLang="en-US" sz="1500" dirty="0" err="1"/>
              <a:t>좌우반전</a:t>
            </a:r>
            <a:r>
              <a:rPr lang="en-US" altLang="ko-KR" sz="1500" dirty="0"/>
              <a:t>(</a:t>
            </a:r>
            <a:r>
              <a:rPr lang="en-US" altLang="ko-KR" sz="1500" dirty="0" err="1"/>
              <a:t>torch.flip</a:t>
            </a:r>
            <a:r>
              <a:rPr lang="en-US" altLang="ko-KR" sz="1500" dirty="0"/>
              <a:t>)</a:t>
            </a:r>
            <a:r>
              <a:rPr lang="ko-KR" altLang="en-US" sz="1500" dirty="0"/>
              <a:t>된 이미지 뷰의 예측확률을</a:t>
            </a:r>
            <a:endParaRPr lang="en-US" altLang="ko-KR" sz="1500" dirty="0"/>
          </a:p>
          <a:p>
            <a:r>
              <a:rPr lang="ko-KR" altLang="en-US" sz="1500" dirty="0"/>
              <a:t>     </a:t>
            </a:r>
            <a:r>
              <a:rPr lang="ko-KR" altLang="en-US" sz="1500" dirty="0" err="1"/>
              <a:t>평균내어</a:t>
            </a:r>
            <a:r>
              <a:rPr lang="ko-KR" altLang="en-US" sz="1500" dirty="0"/>
              <a:t> 예측 안정성을 높이는 </a:t>
            </a:r>
            <a:r>
              <a:rPr lang="en-US" altLang="ko-KR" sz="1500" dirty="0"/>
              <a:t>TTA </a:t>
            </a:r>
            <a:r>
              <a:rPr lang="ko-KR" altLang="en-US" sz="1500" dirty="0"/>
              <a:t>기술 사용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4518" y="5557528"/>
            <a:ext cx="504657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최종 결과를 </a:t>
            </a:r>
            <a:r>
              <a:rPr lang="en-US" altLang="ko-KR" sz="1500" dirty="0" err="1"/>
              <a:t>diagnosis_data</a:t>
            </a:r>
            <a:r>
              <a:rPr lang="ko-KR" altLang="en-US" sz="1500" dirty="0"/>
              <a:t>에 담아</a:t>
            </a:r>
            <a:endParaRPr lang="en-US" altLang="ko-KR" sz="1500" dirty="0"/>
          </a:p>
          <a:p>
            <a:r>
              <a:rPr lang="en-US" altLang="ko-KR" sz="1500" dirty="0"/>
              <a:t>    </a:t>
            </a:r>
            <a:r>
              <a:rPr lang="en-US" altLang="ko-KR" sz="1500" dirty="0" err="1"/>
              <a:t>send_to_spring</a:t>
            </a:r>
            <a:r>
              <a:rPr lang="en-US" altLang="ko-KR" sz="1500" dirty="0"/>
              <a:t> </a:t>
            </a:r>
            <a:r>
              <a:rPr lang="ko-KR" altLang="en-US" sz="1500" dirty="0"/>
              <a:t>함수를 통해 </a:t>
            </a:r>
            <a:r>
              <a:rPr lang="en-US" altLang="ko-KR" sz="1500" dirty="0"/>
              <a:t>Spring Boot </a:t>
            </a:r>
            <a:r>
              <a:rPr lang="ko-KR" altLang="en-US" sz="1500" dirty="0"/>
              <a:t>서버로 전송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진단 이력</a:t>
            </a:r>
            <a:r>
              <a:rPr lang="en-US" altLang="ko-KR" sz="1500" dirty="0"/>
              <a:t> DB</a:t>
            </a:r>
            <a:r>
              <a:rPr lang="ko-KR" altLang="en-US" sz="1500" dirty="0"/>
              <a:t>에 저장</a:t>
            </a:r>
          </a:p>
        </p:txBody>
      </p:sp>
      <p:cxnSp>
        <p:nvCxnSpPr>
          <p:cNvPr id="45" name="직선 화살표 연결선 44"/>
          <p:cNvCxnSpPr/>
          <p:nvPr/>
        </p:nvCxnSpPr>
        <p:spPr>
          <a:xfrm>
            <a:off x="4028921" y="4211046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654518" y="4036961"/>
            <a:ext cx="438960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 err="1"/>
              <a:t>Torch.topk</a:t>
            </a:r>
            <a:r>
              <a:rPr lang="ko-KR" altLang="en-US" sz="1500" dirty="0"/>
              <a:t>를 사용</a:t>
            </a:r>
            <a:r>
              <a:rPr lang="en-US" altLang="ko-KR" sz="1500" dirty="0"/>
              <a:t>,</a:t>
            </a:r>
            <a:r>
              <a:rPr lang="ko-KR" altLang="en-US" sz="1500" dirty="0"/>
              <a:t> 평균 확률 </a:t>
            </a:r>
            <a:r>
              <a:rPr lang="en-US" altLang="ko-KR" sz="1500" dirty="0"/>
              <a:t>TOP3</a:t>
            </a:r>
            <a:r>
              <a:rPr lang="ko-KR" altLang="en-US" sz="1500" dirty="0"/>
              <a:t>결과 추출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클래스 레이블과 매핑</a:t>
            </a:r>
          </a:p>
        </p:txBody>
      </p:sp>
      <p:cxnSp>
        <p:nvCxnSpPr>
          <p:cNvPr id="38" name="직선 화살표 연결선 37"/>
          <p:cNvCxnSpPr/>
          <p:nvPr/>
        </p:nvCxnSpPr>
        <p:spPr>
          <a:xfrm>
            <a:off x="5208218" y="5732437"/>
            <a:ext cx="127816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8981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736B49-892E-5D76-2E2C-ABBBCEC3F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61624439-3CE0-5940-92DA-DBD75417D776}"/>
              </a:ext>
            </a:extLst>
          </p:cNvPr>
          <p:cNvSpPr/>
          <p:nvPr/>
        </p:nvSpPr>
        <p:spPr>
          <a:xfrm>
            <a:off x="208759" y="242047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주요기능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진단 결과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971" y="987623"/>
            <a:ext cx="3809824" cy="189526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970" y="2866263"/>
            <a:ext cx="3809825" cy="3642601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2BBCE4D1-3236-A328-D3AF-C491D5C2BE1E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2C50DF6-D712-F851-7325-1FBD24D30B3D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5275729-75FC-9EFF-25A1-8146A10591D6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B2A6788-4851-CDF8-5A11-EE0C551A6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5828BEE1-2731-9F61-08FC-2139C10FF25B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A913E186-4F4F-454B-4ECB-6E997E6CAE89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FBF504-80DE-1C8C-4AA6-81922D0977D7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1944E533-CA66-29B8-FD48-9A3D0353D4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E7C985F2-D089-8AB4-7280-ADCF8BE82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17A675EA-7BFB-4E25-7AFE-8CAD41CF5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D6318913-CC74-BAFD-6352-69305810E4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D600421A-13D8-60F6-36BD-1C6B3FA22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C58A59C2-A6C3-710B-8A97-46B8AB9623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31F7D40C-DC19-5C24-5FE7-3360AC98C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2D6FE582-E6F1-DD4D-8B87-FC98D07D2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166449-E3A1-09B7-51E8-7FF658A81B6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8F629D6-5E1C-8C0B-DA0A-206A4F28ECCA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1B3A2BB-55EB-2968-DDFD-98BE155E01E1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238110F9-946C-7B83-4A03-F85F5ABA3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2CE3B7F-0ECD-273E-1C51-5FB34CE355E2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cxnSp>
        <p:nvCxnSpPr>
          <p:cNvPr id="13" name="직선 화살표 연결선 12"/>
          <p:cNvCxnSpPr/>
          <p:nvPr/>
        </p:nvCxnSpPr>
        <p:spPr>
          <a:xfrm>
            <a:off x="4477786" y="1433094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203591" y="1174996"/>
            <a:ext cx="375936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사용자 </a:t>
            </a:r>
            <a:r>
              <a:rPr lang="en-US" altLang="ko-KR" sz="1500" dirty="0"/>
              <a:t>ID </a:t>
            </a:r>
            <a:r>
              <a:rPr lang="ko-KR" altLang="en-US" sz="1500" dirty="0"/>
              <a:t>유효성 검사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/>
              <a:t>ID</a:t>
            </a:r>
            <a:r>
              <a:rPr lang="ko-KR" altLang="en-US" sz="1500" dirty="0"/>
              <a:t>가 없으면 에러 메시지 출력 후 종료</a:t>
            </a: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4477786" y="2629252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203591" y="2352253"/>
            <a:ext cx="361028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/>
              <a:t>API </a:t>
            </a:r>
            <a:r>
              <a:rPr lang="ko-KR" altLang="en-US" sz="1500" dirty="0"/>
              <a:t>기본 주소와 지정된 경로에</a:t>
            </a:r>
            <a:endParaRPr lang="en-US" altLang="ko-KR" sz="1500" dirty="0"/>
          </a:p>
          <a:p>
            <a:r>
              <a:rPr lang="en-US" altLang="ko-KR" sz="1500" dirty="0"/>
              <a:t>    </a:t>
            </a:r>
            <a:r>
              <a:rPr lang="en-US" altLang="ko-KR" sz="1500" dirty="0" err="1"/>
              <a:t>userId,selectedModel</a:t>
            </a:r>
            <a:r>
              <a:rPr lang="ko-KR" altLang="en-US" sz="1500" dirty="0"/>
              <a:t>을 </a:t>
            </a:r>
            <a:r>
              <a:rPr lang="en-US" altLang="ko-KR" sz="1500" dirty="0"/>
              <a:t>URL </a:t>
            </a:r>
            <a:r>
              <a:rPr lang="ko-KR" altLang="en-US" sz="1500" dirty="0"/>
              <a:t>인코딩 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인코딩을 쿼리 파라미터로 추가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5951" y="5444415"/>
            <a:ext cx="329128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/>
              <a:t>API </a:t>
            </a:r>
            <a:r>
              <a:rPr lang="ko-KR" altLang="en-US" sz="1500" dirty="0"/>
              <a:t>호출 실패 시 </a:t>
            </a:r>
            <a:endParaRPr lang="en-US" altLang="ko-KR" sz="1500" dirty="0"/>
          </a:p>
          <a:p>
            <a:r>
              <a:rPr lang="en-US" altLang="ko-KR" sz="1500" dirty="0"/>
              <a:t>    </a:t>
            </a:r>
            <a:r>
              <a:rPr lang="ko-KR" altLang="en-US" sz="1500" dirty="0"/>
              <a:t>에러 메시지 출력 및 결과 초기화</a:t>
            </a:r>
          </a:p>
        </p:txBody>
      </p:sp>
      <p:cxnSp>
        <p:nvCxnSpPr>
          <p:cNvPr id="45" name="직선 화살표 연결선 44"/>
          <p:cNvCxnSpPr/>
          <p:nvPr/>
        </p:nvCxnSpPr>
        <p:spPr>
          <a:xfrm>
            <a:off x="4477786" y="4096746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203591" y="3935361"/>
            <a:ext cx="3440365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응답이 배열일 경우 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가장 최근</a:t>
            </a:r>
            <a:r>
              <a:rPr lang="en-US" altLang="ko-KR" sz="1500" dirty="0"/>
              <a:t> </a:t>
            </a:r>
            <a:r>
              <a:rPr lang="ko-KR" altLang="en-US" sz="1500" dirty="0"/>
              <a:t>항목</a:t>
            </a:r>
            <a:r>
              <a:rPr lang="en-US" altLang="ko-KR" sz="1500" dirty="0"/>
              <a:t>(</a:t>
            </a:r>
            <a:r>
              <a:rPr lang="en-US" altLang="ko-KR" sz="1500" dirty="0" err="1"/>
              <a:t>createdAt</a:t>
            </a:r>
            <a:r>
              <a:rPr lang="en-US" altLang="ko-KR" sz="1500" dirty="0"/>
              <a:t>) </a:t>
            </a:r>
            <a:r>
              <a:rPr lang="ko-KR" altLang="en-US" sz="1500" dirty="0"/>
              <a:t>정렬 후</a:t>
            </a:r>
            <a:r>
              <a:rPr lang="en-US" altLang="ko-KR" sz="1500" dirty="0"/>
              <a:t/>
            </a:r>
            <a:br>
              <a:rPr lang="en-US" altLang="ko-KR" sz="1500" dirty="0"/>
            </a:br>
            <a:r>
              <a:rPr lang="ko-KR" altLang="en-US" sz="1500" dirty="0"/>
              <a:t>최신 결과만 추출해 저장</a:t>
            </a:r>
            <a:r>
              <a:rPr lang="en-US" altLang="ko-KR" sz="1500" dirty="0"/>
              <a:t>(</a:t>
            </a:r>
            <a:r>
              <a:rPr lang="en-US" altLang="ko-KR" sz="1500" dirty="0" err="1"/>
              <a:t>setItems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cxnSp>
        <p:nvCxnSpPr>
          <p:cNvPr id="35" name="직선 화살표 연결선 34"/>
          <p:cNvCxnSpPr/>
          <p:nvPr/>
        </p:nvCxnSpPr>
        <p:spPr>
          <a:xfrm>
            <a:off x="4477786" y="5605998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3829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3B9F02-A8C6-8C4D-C80A-F198D4EAF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C1EDF28A-276A-34CE-C9E3-9398A75F34E8}"/>
              </a:ext>
            </a:extLst>
          </p:cNvPr>
          <p:cNvSpPr/>
          <p:nvPr/>
        </p:nvSpPr>
        <p:spPr>
          <a:xfrm>
            <a:off x="208759" y="242047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주요기능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예약 버튼 클릭 시 동작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00F0B8F0-B341-EB40-893E-E905A16CA933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4F54D21-0FB5-5A87-7E2B-EB0429C52502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FD4B5B22-7168-FCA5-280F-E32E650FE422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ECD07D49-7756-D0EB-7E24-F7BD8C883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4A17EDF8-3583-667E-E44F-32681A7D5269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CA1B14BD-1330-40E5-9647-EF64751BAFD0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2CB9906-24A5-B557-16E3-1346EA322AD4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72171C67-2361-BF5D-0719-57C74DBBD5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4209CC79-9E18-E53E-BF1A-84811049CF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E9765FAF-43C4-6797-4350-E1EA57CDC2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6A7802C-D33A-0D77-DE17-BFA7EB58AC0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812C6196-7257-9995-FC00-53648EA2E7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B6B36990-EDBF-8870-639B-946780E8442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5D83B2D9-C1EB-A681-D59F-83BA862BFD0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AB6BA2B1-005C-EC10-FBC1-C13193693A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BBF22997-7C06-ACAA-77D5-29E2BE5F91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6FA46654-569F-F6F7-50F4-0C8FFFF33B26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FEAEA7E-40E2-49DC-898F-D80B737A5474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16AD2EC1-CFC4-6CE5-B356-59F0A291A7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C4A8C90-26ED-4344-0513-81DF89C7F2FC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9F4ED04-D54E-AE63-EA8F-FFF80F93B39E}"/>
              </a:ext>
            </a:extLst>
          </p:cNvPr>
          <p:cNvCxnSpPr/>
          <p:nvPr/>
        </p:nvCxnSpPr>
        <p:spPr>
          <a:xfrm>
            <a:off x="3926446" y="1954260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4FF426B-96C5-71D5-55DF-41E323CE544A}"/>
              </a:ext>
            </a:extLst>
          </p:cNvPr>
          <p:cNvSpPr txBox="1"/>
          <p:nvPr/>
        </p:nvSpPr>
        <p:spPr>
          <a:xfrm>
            <a:off x="6460582" y="1791561"/>
            <a:ext cx="409439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 err="1"/>
              <a:t>accessToken</a:t>
            </a:r>
            <a:r>
              <a:rPr lang="ko-KR" altLang="en-US" sz="1500" dirty="0"/>
              <a:t>이 없으면 로그인 요청</a:t>
            </a:r>
            <a:endParaRPr lang="en-US" altLang="ko-KR" sz="1500" dirty="0"/>
          </a:p>
          <a:p>
            <a:r>
              <a:rPr lang="ko-KR" altLang="en-US" sz="1500" dirty="0"/>
              <a:t>    생년월일</a:t>
            </a:r>
            <a:r>
              <a:rPr lang="en-US" altLang="ko-KR" sz="1500" dirty="0"/>
              <a:t>, </a:t>
            </a:r>
            <a:r>
              <a:rPr lang="ko-KR" altLang="en-US" sz="1500" dirty="0"/>
              <a:t>연락처</a:t>
            </a:r>
            <a:r>
              <a:rPr lang="en-US" altLang="ko-KR" sz="1500" dirty="0"/>
              <a:t>, </a:t>
            </a:r>
            <a:r>
              <a:rPr lang="ko-KR" altLang="en-US" sz="1500" dirty="0"/>
              <a:t>날짜</a:t>
            </a:r>
            <a:r>
              <a:rPr lang="en-US" altLang="ko-KR" sz="1500" dirty="0"/>
              <a:t>, </a:t>
            </a:r>
            <a:r>
              <a:rPr lang="ko-KR" altLang="en-US" sz="1500" dirty="0"/>
              <a:t>상담사</a:t>
            </a:r>
            <a:r>
              <a:rPr lang="en-US" altLang="ko-KR" sz="1500" dirty="0"/>
              <a:t>, </a:t>
            </a:r>
            <a:r>
              <a:rPr lang="ko-KR" altLang="en-US" sz="1500" dirty="0"/>
              <a:t>시간</a:t>
            </a:r>
            <a:r>
              <a:rPr lang="en-US" altLang="ko-KR" sz="1500" dirty="0"/>
              <a:t> </a:t>
            </a:r>
            <a:r>
              <a:rPr lang="ko-KR" altLang="en-US" sz="1500" dirty="0"/>
              <a:t>확인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15B66F-E447-80B7-F922-5B2C028CB315}"/>
              </a:ext>
            </a:extLst>
          </p:cNvPr>
          <p:cNvSpPr txBox="1"/>
          <p:nvPr/>
        </p:nvSpPr>
        <p:spPr>
          <a:xfrm>
            <a:off x="6482942" y="3972297"/>
            <a:ext cx="474360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성공 시 </a:t>
            </a:r>
            <a:r>
              <a:rPr lang="en-US" altLang="ko-KR" sz="1500" dirty="0"/>
              <a:t>UI </a:t>
            </a:r>
            <a:r>
              <a:rPr lang="ko-KR" altLang="en-US" sz="1500" dirty="0"/>
              <a:t>갱신</a:t>
            </a:r>
            <a:endParaRPr lang="en-US" altLang="ko-KR" sz="1500" dirty="0"/>
          </a:p>
          <a:p>
            <a:r>
              <a:rPr lang="ko-KR" altLang="en-US" sz="1500" dirty="0"/>
              <a:t>    예약 완료” 알림 후 시간 초기화 </a:t>
            </a:r>
            <a:r>
              <a:rPr lang="en-US" altLang="ko-KR" sz="1500" dirty="0"/>
              <a:t>(</a:t>
            </a:r>
            <a:r>
              <a:rPr lang="en-US" altLang="ko-KR" sz="1500" dirty="0" err="1"/>
              <a:t>setTime</a:t>
            </a:r>
            <a:r>
              <a:rPr lang="en-US" altLang="ko-KR" sz="1500" dirty="0"/>
              <a:t>(""))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/>
              <a:t>401: </a:t>
            </a:r>
            <a:r>
              <a:rPr lang="ko-KR" altLang="en-US" sz="1500" dirty="0"/>
              <a:t>로그인 만료</a:t>
            </a:r>
            <a:r>
              <a:rPr lang="en-US" altLang="ko-KR" sz="1500" dirty="0"/>
              <a:t>/409: </a:t>
            </a:r>
            <a:r>
              <a:rPr lang="ko-KR" altLang="en-US" sz="1500" dirty="0"/>
              <a:t>중복 예약</a:t>
            </a:r>
            <a:r>
              <a:rPr lang="en-US" altLang="ko-KR" sz="1500" dirty="0"/>
              <a:t>/</a:t>
            </a:r>
            <a:r>
              <a:rPr lang="ko-KR" altLang="en-US" sz="1500" dirty="0"/>
              <a:t>기타</a:t>
            </a:r>
            <a:r>
              <a:rPr lang="en-US" altLang="ko-KR" sz="1500" dirty="0"/>
              <a:t>:</a:t>
            </a:r>
            <a:r>
              <a:rPr lang="ko-KR" altLang="en-US" sz="1500" dirty="0"/>
              <a:t>일반 오류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0A4F7108-144C-F3FE-A6D8-3ADD509913F1}"/>
              </a:ext>
            </a:extLst>
          </p:cNvPr>
          <p:cNvCxnSpPr/>
          <p:nvPr/>
        </p:nvCxnSpPr>
        <p:spPr>
          <a:xfrm>
            <a:off x="3926446" y="2916728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5C1BBB0-8C17-874B-6CF5-11EB58663CB7}"/>
              </a:ext>
            </a:extLst>
          </p:cNvPr>
          <p:cNvSpPr txBox="1"/>
          <p:nvPr/>
        </p:nvSpPr>
        <p:spPr>
          <a:xfrm>
            <a:off x="6460582" y="2780743"/>
            <a:ext cx="441338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예약 </a:t>
            </a:r>
            <a:r>
              <a:rPr lang="en-US" altLang="ko-KR" sz="1500" dirty="0"/>
              <a:t>DTO </a:t>
            </a:r>
            <a:r>
              <a:rPr lang="ko-KR" altLang="en-US" sz="1500" dirty="0"/>
              <a:t>생성 및 </a:t>
            </a:r>
            <a:r>
              <a:rPr lang="en-US" altLang="ko-KR" sz="1500" dirty="0"/>
              <a:t>API </a:t>
            </a:r>
            <a:r>
              <a:rPr lang="ko-KR" altLang="en-US" sz="1500" dirty="0"/>
              <a:t>요청</a:t>
            </a:r>
            <a:endParaRPr lang="en-US" altLang="ko-KR" sz="1500" dirty="0"/>
          </a:p>
          <a:p>
            <a:r>
              <a:rPr lang="en-US" altLang="ko-KR" sz="1500" dirty="0"/>
              <a:t>    POST /</a:t>
            </a:r>
            <a:r>
              <a:rPr lang="en-US" altLang="ko-KR" sz="1500" dirty="0" err="1"/>
              <a:t>api</a:t>
            </a:r>
            <a:r>
              <a:rPr lang="en-US" altLang="ko-KR" sz="1500" dirty="0"/>
              <a:t>/appointments</a:t>
            </a:r>
            <a:r>
              <a:rPr lang="ko-KR" altLang="en-US" sz="1500" dirty="0"/>
              <a:t>에 예약 데이터 전송</a:t>
            </a:r>
            <a:br>
              <a:rPr lang="ko-KR" altLang="en-US" sz="1500" dirty="0"/>
            </a:br>
            <a:r>
              <a:rPr lang="ko-KR" altLang="en-US" sz="1500" dirty="0"/>
              <a:t>    헤더 </a:t>
            </a:r>
            <a:r>
              <a:rPr lang="en-US" altLang="ko-KR" sz="1500" dirty="0"/>
              <a:t>JWT </a:t>
            </a:r>
            <a:r>
              <a:rPr lang="ko-KR" altLang="en-US" sz="1500" dirty="0"/>
              <a:t>토큰 첨부 </a:t>
            </a:r>
            <a:r>
              <a:rPr lang="en-US" altLang="ko-KR" sz="1500" dirty="0"/>
              <a:t>(Authorization: Bearer)</a:t>
            </a:r>
            <a:endParaRPr lang="ko-KR" altLang="en-US" sz="150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76E7A5B-8A58-5FA3-F528-99F2F44DFB58}"/>
              </a:ext>
            </a:extLst>
          </p:cNvPr>
          <p:cNvCxnSpPr/>
          <p:nvPr/>
        </p:nvCxnSpPr>
        <p:spPr>
          <a:xfrm>
            <a:off x="3926446" y="4108480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56501D82-5DAA-9424-5539-61CFDB37B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696" y="996515"/>
            <a:ext cx="2964883" cy="33853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5B8B753-7417-7F3B-C812-27E7F78C6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696" y="4366671"/>
            <a:ext cx="2964883" cy="208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5111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08C49-9F3A-9B3D-B93B-4827CFBCC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22BBFAF3-0358-8721-B39E-369CDF1FF49A}"/>
              </a:ext>
            </a:extLst>
          </p:cNvPr>
          <p:cNvSpPr/>
          <p:nvPr/>
        </p:nvSpPr>
        <p:spPr>
          <a:xfrm>
            <a:off x="208759" y="242047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주요기능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예약 조회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7FB25A8-E7F8-EEB6-D110-E826DA5C5C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98"/>
          <a:stretch>
            <a:fillRect/>
          </a:stretch>
        </p:blipFill>
        <p:spPr>
          <a:xfrm>
            <a:off x="702858" y="1680044"/>
            <a:ext cx="6260217" cy="4041370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31FA5CFB-59CA-AA6A-0413-C97BF30A9441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BD99E89-2E34-409C-95B1-5110D733C410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73E47D09-960E-6D39-9439-F1680FE95B92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5FB4994-1EDC-09C9-C4DC-CD3B0A570A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9426B762-8DAD-C90C-96F6-80C612817B61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52C330E2-78C8-4F9F-8DDC-BDBDAE7EA320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5236BF4-FC2D-BCC5-CDD3-093B9CA149DB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BCF2127C-93E1-DA23-997A-31A95DDE9A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D6EFA5CC-1062-7203-F807-A12496BCA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2F225CB2-AB1F-3F09-090D-68FEB09EB6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7F97207C-92F2-0982-5CFD-E3454B73B4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67C6707D-EBD8-1738-11AB-4011FD016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AFAD97F3-E135-9423-E8A8-168AEBCFAD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14301990-202B-F07B-ED6C-3D6CEDA6243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31C221F4-335C-2BA1-3982-7F934FC9F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C8DBA441-4F83-FF36-E83C-69F343B9D3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B3BC6AF2-9F96-2617-5DE1-75C6697E7271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5B9A28A-2457-40D0-5AE0-9F0A3B25B9D2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6BBF6985-F0D8-FB6D-9772-123F61DAE7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A0FB488-AFBB-8AAE-4C7E-9852E7BAAF03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C5A1B8C-A7BA-B2B9-F6B8-67129F4705B9}"/>
              </a:ext>
            </a:extLst>
          </p:cNvPr>
          <p:cNvCxnSpPr/>
          <p:nvPr/>
        </p:nvCxnSpPr>
        <p:spPr>
          <a:xfrm>
            <a:off x="4869873" y="1954260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E00BD1F-4D60-A827-B588-3D0745C4296C}"/>
              </a:ext>
            </a:extLst>
          </p:cNvPr>
          <p:cNvSpPr txBox="1"/>
          <p:nvPr/>
        </p:nvSpPr>
        <p:spPr>
          <a:xfrm>
            <a:off x="7404009" y="1791561"/>
            <a:ext cx="386676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선택한 날짜와 상담사</a:t>
            </a:r>
            <a:r>
              <a:rPr lang="en-US" altLang="ko-KR" sz="1500" dirty="0"/>
              <a:t> </a:t>
            </a:r>
          </a:p>
          <a:p>
            <a:r>
              <a:rPr lang="en-US" altLang="ko-KR" sz="1500" dirty="0"/>
              <a:t>     </a:t>
            </a:r>
            <a:r>
              <a:rPr lang="en-US" altLang="ko-KR" sz="1500" dirty="0" err="1"/>
              <a:t>selectedDate,consultant</a:t>
            </a:r>
            <a:r>
              <a:rPr lang="en-US" altLang="ko-KR" sz="1500" dirty="0"/>
              <a:t> </a:t>
            </a:r>
            <a:r>
              <a:rPr lang="ko-KR" altLang="en-US" sz="1500" dirty="0" err="1"/>
              <a:t>변경시</a:t>
            </a:r>
            <a:r>
              <a:rPr lang="ko-KR" altLang="en-US" sz="1500" dirty="0"/>
              <a:t> 재실행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737ABC-51C1-77E5-F4BB-16047D15D38A}"/>
              </a:ext>
            </a:extLst>
          </p:cNvPr>
          <p:cNvSpPr txBox="1"/>
          <p:nvPr/>
        </p:nvSpPr>
        <p:spPr>
          <a:xfrm>
            <a:off x="7426369" y="3972297"/>
            <a:ext cx="4085221" cy="8463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예약된 시간 목록</a:t>
            </a:r>
            <a:r>
              <a:rPr lang="en-US" altLang="ko-KR" sz="1600" dirty="0"/>
              <a:t>(</a:t>
            </a:r>
            <a:r>
              <a:rPr lang="en-US" altLang="ko-KR" dirty="0" err="1"/>
              <a:t>reservedTimes</a:t>
            </a:r>
            <a:r>
              <a:rPr lang="en-US" altLang="ko-KR" sz="1600" dirty="0"/>
              <a:t>)</a:t>
            </a:r>
            <a:r>
              <a:rPr lang="ko-KR" altLang="en-US" sz="1600" dirty="0"/>
              <a:t>저장</a:t>
            </a:r>
            <a:endParaRPr lang="en-US" altLang="ko-KR" sz="1600" dirty="0"/>
          </a:p>
          <a:p>
            <a:r>
              <a:rPr lang="en-US" altLang="ko-KR" sz="1600" dirty="0"/>
              <a:t>    UI</a:t>
            </a:r>
            <a:r>
              <a:rPr lang="ko-KR" altLang="en-US" sz="1600" dirty="0"/>
              <a:t>에서 비활성화 처리</a:t>
            </a:r>
            <a:endParaRPr lang="en-US" altLang="ko-KR" sz="1600" dirty="0"/>
          </a:p>
          <a:p>
            <a:endParaRPr lang="ko-KR" altLang="en-US" sz="15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4E74E534-8340-B69F-200B-FBC4FBDA536C}"/>
              </a:ext>
            </a:extLst>
          </p:cNvPr>
          <p:cNvCxnSpPr>
            <a:cxnSpLocks/>
          </p:cNvCxnSpPr>
          <p:nvPr/>
        </p:nvCxnSpPr>
        <p:spPr>
          <a:xfrm>
            <a:off x="6515100" y="2916728"/>
            <a:ext cx="80702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8CAADA6-1A08-6A3C-FDB0-2C0224380EA5}"/>
              </a:ext>
            </a:extLst>
          </p:cNvPr>
          <p:cNvSpPr txBox="1"/>
          <p:nvPr/>
        </p:nvSpPr>
        <p:spPr>
          <a:xfrm>
            <a:off x="7404009" y="2780743"/>
            <a:ext cx="378821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상담사</a:t>
            </a:r>
            <a:r>
              <a:rPr lang="en-US" altLang="ko-KR" sz="1500" dirty="0"/>
              <a:t>ID </a:t>
            </a:r>
            <a:r>
              <a:rPr lang="ko-KR" altLang="en-US" sz="1500" dirty="0"/>
              <a:t>서버에 요청</a:t>
            </a:r>
            <a:r>
              <a:rPr lang="en-US" altLang="ko-KR" sz="1500" dirty="0"/>
              <a:t/>
            </a:r>
            <a:br>
              <a:rPr lang="en-US" altLang="ko-KR" sz="1500" dirty="0"/>
            </a:br>
            <a:r>
              <a:rPr lang="ko-KR" altLang="en-US" sz="1500" dirty="0"/>
              <a:t>동일 상담사</a:t>
            </a:r>
            <a:r>
              <a:rPr lang="en-US" altLang="ko-KR" sz="1500" dirty="0"/>
              <a:t>(</a:t>
            </a:r>
            <a:r>
              <a:rPr lang="en-US" altLang="ko-KR" sz="1500" dirty="0" err="1"/>
              <a:t>counselorId</a:t>
            </a:r>
            <a:r>
              <a:rPr lang="en-US" altLang="ko-KR" sz="1500" dirty="0"/>
              <a:t>)</a:t>
            </a:r>
            <a:r>
              <a:rPr lang="ko-KR" altLang="en-US" sz="1500" dirty="0"/>
              <a:t> </a:t>
            </a:r>
            <a:endParaRPr lang="en-US" altLang="ko-KR" sz="1500" dirty="0"/>
          </a:p>
          <a:p>
            <a:r>
              <a:rPr lang="ko-KR" altLang="en-US" sz="1500" dirty="0"/>
              <a:t>    예약된 시간</a:t>
            </a:r>
            <a:r>
              <a:rPr lang="en-US" altLang="ko-KR" sz="1500" dirty="0"/>
              <a:t>(</a:t>
            </a:r>
            <a:r>
              <a:rPr lang="en-US" altLang="ko-KR" sz="1500" dirty="0" err="1"/>
              <a:t>appointmentTime</a:t>
            </a:r>
            <a:r>
              <a:rPr lang="en-US" altLang="ko-KR" sz="1500" dirty="0"/>
              <a:t>)</a:t>
            </a:r>
            <a:r>
              <a:rPr lang="ko-KR" altLang="en-US" sz="1500" dirty="0"/>
              <a:t>만 추출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96C1318-2A20-6848-1CD8-4E6F7133432A}"/>
              </a:ext>
            </a:extLst>
          </p:cNvPr>
          <p:cNvCxnSpPr/>
          <p:nvPr/>
        </p:nvCxnSpPr>
        <p:spPr>
          <a:xfrm>
            <a:off x="4869873" y="4108480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7E5ECB1-AAAF-F059-BC0F-EDD71D17C2D3}"/>
              </a:ext>
            </a:extLst>
          </p:cNvPr>
          <p:cNvSpPr txBox="1"/>
          <p:nvPr/>
        </p:nvSpPr>
        <p:spPr>
          <a:xfrm>
            <a:off x="7404009" y="5041772"/>
            <a:ext cx="3715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서버 오류 시</a:t>
            </a:r>
            <a:r>
              <a:rPr lang="en-US" altLang="ko-KR" sz="1400" dirty="0"/>
              <a:t> (</a:t>
            </a:r>
            <a:r>
              <a:rPr lang="en-US" altLang="ko-KR" sz="1600" dirty="0" err="1"/>
              <a:t>setReservedTimes</a:t>
            </a:r>
            <a:r>
              <a:rPr lang="en-US" altLang="ko-KR" sz="1600" dirty="0"/>
              <a:t>([])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     </a:t>
            </a:r>
            <a:r>
              <a:rPr lang="ko-KR" altLang="en-US" sz="1600" dirty="0"/>
              <a:t>콘솔 출력 및 예약목록 초기화</a:t>
            </a:r>
            <a:endParaRPr lang="ko-KR" altLang="en-US" sz="1500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40033AC-2C16-BC9A-7847-38C307938470}"/>
              </a:ext>
            </a:extLst>
          </p:cNvPr>
          <p:cNvCxnSpPr/>
          <p:nvPr/>
        </p:nvCxnSpPr>
        <p:spPr>
          <a:xfrm>
            <a:off x="4847513" y="5177955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8493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EF74D9-A9A2-6E26-C987-BC43AA155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위쪽 모서리 35">
            <a:extLst>
              <a:ext uri="{FF2B5EF4-FFF2-40B4-BE49-F238E27FC236}">
                <a16:creationId xmlns:a16="http://schemas.microsoft.com/office/drawing/2014/main" id="{7974767C-CA01-EA98-C15D-BB9B5A9ADD26}"/>
              </a:ext>
            </a:extLst>
          </p:cNvPr>
          <p:cNvSpPr/>
          <p:nvPr/>
        </p:nvSpPr>
        <p:spPr>
          <a:xfrm>
            <a:off x="208759" y="242047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프로젝트 구현 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– 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주요기능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(</a:t>
            </a:r>
            <a:r>
              <a:rPr lang="ko-KR" altLang="en-US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실시간 주간 시간표 연동</a:t>
            </a:r>
            <a:r>
              <a:rPr lang="en-US" altLang="ko-KR" sz="2400" b="1" kern="0" dirty="0">
                <a:ln w="1587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D17C9C7-B55D-5DB9-EEB2-77387F355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6" y="1915872"/>
            <a:ext cx="5815365" cy="3575096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927BE5A7-8188-3275-7A38-F785150235F7}"/>
              </a:ext>
            </a:extLst>
          </p:cNvPr>
          <p:cNvSpPr/>
          <p:nvPr/>
        </p:nvSpPr>
        <p:spPr>
          <a:xfrm>
            <a:off x="224119" y="242047"/>
            <a:ext cx="454779" cy="444816"/>
          </a:xfrm>
          <a:custGeom>
            <a:avLst/>
            <a:gdLst>
              <a:gd name="connsiteX0" fmla="*/ 558789 w 646025"/>
              <a:gd name="connsiteY0" fmla="*/ 0 h 631872"/>
              <a:gd name="connsiteX1" fmla="*/ 603840 w 646025"/>
              <a:gd name="connsiteY1" fmla="*/ 0 h 631872"/>
              <a:gd name="connsiteX2" fmla="*/ 611032 w 646025"/>
              <a:gd name="connsiteY2" fmla="*/ 13250 h 631872"/>
              <a:gd name="connsiteX3" fmla="*/ 646025 w 646025"/>
              <a:gd name="connsiteY3" fmla="*/ 186578 h 631872"/>
              <a:gd name="connsiteX4" fmla="*/ 200731 w 646025"/>
              <a:gd name="connsiteY4" fmla="*/ 631872 h 631872"/>
              <a:gd name="connsiteX5" fmla="*/ 27403 w 646025"/>
              <a:gd name="connsiteY5" fmla="*/ 596879 h 631872"/>
              <a:gd name="connsiteX6" fmla="*/ 0 w 646025"/>
              <a:gd name="connsiteY6" fmla="*/ 582005 h 631872"/>
              <a:gd name="connsiteX7" fmla="*/ 0 w 646025"/>
              <a:gd name="connsiteY7" fmla="*/ 536954 h 631872"/>
              <a:gd name="connsiteX8" fmla="*/ 42884 w 646025"/>
              <a:gd name="connsiteY8" fmla="*/ 560230 h 631872"/>
              <a:gd name="connsiteX9" fmla="*/ 200731 w 646025"/>
              <a:gd name="connsiteY9" fmla="*/ 592098 h 631872"/>
              <a:gd name="connsiteX10" fmla="*/ 606251 w 646025"/>
              <a:gd name="connsiteY10" fmla="*/ 186578 h 631872"/>
              <a:gd name="connsiteX11" fmla="*/ 574383 w 646025"/>
              <a:gd name="connsiteY11" fmla="*/ 28731 h 631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6025" h="631872">
                <a:moveTo>
                  <a:pt x="558789" y="0"/>
                </a:moveTo>
                <a:lnTo>
                  <a:pt x="603840" y="0"/>
                </a:lnTo>
                <a:lnTo>
                  <a:pt x="611032" y="13250"/>
                </a:lnTo>
                <a:cubicBezTo>
                  <a:pt x="633565" y="66524"/>
                  <a:pt x="646025" y="125096"/>
                  <a:pt x="646025" y="186578"/>
                </a:cubicBezTo>
                <a:cubicBezTo>
                  <a:pt x="646025" y="432507"/>
                  <a:pt x="446660" y="631872"/>
                  <a:pt x="200731" y="631872"/>
                </a:cubicBezTo>
                <a:cubicBezTo>
                  <a:pt x="139249" y="631872"/>
                  <a:pt x="80677" y="619412"/>
                  <a:pt x="27403" y="596879"/>
                </a:cubicBezTo>
                <a:lnTo>
                  <a:pt x="0" y="582005"/>
                </a:lnTo>
                <a:lnTo>
                  <a:pt x="0" y="536954"/>
                </a:lnTo>
                <a:lnTo>
                  <a:pt x="42884" y="560230"/>
                </a:lnTo>
                <a:cubicBezTo>
                  <a:pt x="91400" y="580751"/>
                  <a:pt x="144740" y="592098"/>
                  <a:pt x="200731" y="592098"/>
                </a:cubicBezTo>
                <a:cubicBezTo>
                  <a:pt x="424694" y="592098"/>
                  <a:pt x="606251" y="410541"/>
                  <a:pt x="606251" y="186578"/>
                </a:cubicBezTo>
                <a:cubicBezTo>
                  <a:pt x="606251" y="130587"/>
                  <a:pt x="594904" y="77247"/>
                  <a:pt x="574383" y="28731"/>
                </a:cubicBezTo>
                <a:close/>
              </a:path>
            </a:pathLst>
          </a:cu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42A83C6-53CA-3B90-D2D6-EEF1D34C75F4}"/>
              </a:ext>
            </a:extLst>
          </p:cNvPr>
          <p:cNvGrpSpPr/>
          <p:nvPr/>
        </p:nvGrpSpPr>
        <p:grpSpPr>
          <a:xfrm>
            <a:off x="407622" y="342009"/>
            <a:ext cx="344854" cy="344854"/>
            <a:chOff x="1734193" y="2846724"/>
            <a:chExt cx="429876" cy="429876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D34C522D-7F14-4E13-3F23-BB2C15E98647}"/>
                </a:ext>
              </a:extLst>
            </p:cNvPr>
            <p:cNvSpPr/>
            <p:nvPr/>
          </p:nvSpPr>
          <p:spPr>
            <a:xfrm>
              <a:off x="1734193" y="2846724"/>
              <a:ext cx="429876" cy="42987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85000">
                  <a:srgbClr val="E9F3FC"/>
                </a:gs>
                <a:gs pos="85000">
                  <a:srgbClr val="4E5DA7"/>
                </a:gs>
              </a:gsLst>
              <a:lin ang="54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88900" dist="38100" dir="5400000" algn="t" rotWithShape="0">
                <a:srgbClr val="489BFB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2925" latinLnBrk="0">
                <a:defRPr/>
              </a:pPr>
              <a:endParaRPr lang="en-US" altLang="ko-KR" sz="700" kern="0" dirty="0">
                <a:solidFill>
                  <a:srgbClr val="44546A">
                    <a:lumMod val="75000"/>
                  </a:srgbClr>
                </a:solidFill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AA6552C-2BAF-7701-3265-99D806C1C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8319" y="2897499"/>
              <a:ext cx="319746" cy="319746"/>
            </a:xfrm>
            <a:prstGeom prst="rect">
              <a:avLst/>
            </a:prstGeom>
          </p:spPr>
        </p:pic>
      </p:grpSp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A70E6644-4B99-1E72-4EA8-2921A4CDF467}"/>
              </a:ext>
            </a:extLst>
          </p:cNvPr>
          <p:cNvSpPr/>
          <p:nvPr/>
        </p:nvSpPr>
        <p:spPr>
          <a:xfrm>
            <a:off x="11417857" y="7096"/>
            <a:ext cx="774143" cy="774143"/>
          </a:xfrm>
          <a:prstGeom prst="round1Rect">
            <a:avLst>
              <a:gd name="adj" fmla="val 0"/>
            </a:avLst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9" name="사각형: 둥근 한쪽 모서리 18">
            <a:extLst>
              <a:ext uri="{FF2B5EF4-FFF2-40B4-BE49-F238E27FC236}">
                <a16:creationId xmlns:a16="http://schemas.microsoft.com/office/drawing/2014/main" id="{CC62F2BD-CD25-3B54-55AA-150B727E1211}"/>
              </a:ext>
            </a:extLst>
          </p:cNvPr>
          <p:cNvSpPr/>
          <p:nvPr/>
        </p:nvSpPr>
        <p:spPr>
          <a:xfrm>
            <a:off x="11417858" y="244949"/>
            <a:ext cx="550023" cy="524196"/>
          </a:xfrm>
          <a:prstGeom prst="round1Rect">
            <a:avLst>
              <a:gd name="adj" fmla="val 46680"/>
            </a:avLst>
          </a:prstGeom>
          <a:solidFill>
            <a:srgbClr val="FF9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4455CDF-B008-DB94-D5BB-530740227BA3}"/>
              </a:ext>
            </a:extLst>
          </p:cNvPr>
          <p:cNvGrpSpPr/>
          <p:nvPr/>
        </p:nvGrpSpPr>
        <p:grpSpPr>
          <a:xfrm>
            <a:off x="10212030" y="438221"/>
            <a:ext cx="1550689" cy="169277"/>
            <a:chOff x="10142180" y="469971"/>
            <a:chExt cx="1550689" cy="169277"/>
          </a:xfrm>
        </p:grpSpPr>
        <p:grpSp>
          <p:nvGrpSpPr>
            <p:cNvPr id="21" name="Group 8">
              <a:extLst>
                <a:ext uri="{FF2B5EF4-FFF2-40B4-BE49-F238E27FC236}">
                  <a16:creationId xmlns:a16="http://schemas.microsoft.com/office/drawing/2014/main" id="{AFFAF002-D11D-7CE6-4FF4-4D0C96633E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78019" y="498283"/>
              <a:ext cx="100047" cy="106209"/>
              <a:chOff x="4594" y="900"/>
              <a:chExt cx="276" cy="293"/>
            </a:xfrm>
            <a:solidFill>
              <a:schemeClr val="bg1"/>
            </a:solidFill>
          </p:grpSpPr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21613CF0-15CA-64CC-5593-CABAAA125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900"/>
                <a:ext cx="102" cy="91"/>
              </a:xfrm>
              <a:custGeom>
                <a:avLst/>
                <a:gdLst>
                  <a:gd name="T0" fmla="*/ 72 w 307"/>
                  <a:gd name="T1" fmla="*/ 263 h 273"/>
                  <a:gd name="T2" fmla="*/ 91 w 307"/>
                  <a:gd name="T3" fmla="*/ 236 h 273"/>
                  <a:gd name="T4" fmla="*/ 139 w 307"/>
                  <a:gd name="T5" fmla="*/ 187 h 273"/>
                  <a:gd name="T6" fmla="*/ 193 w 307"/>
                  <a:gd name="T7" fmla="*/ 148 h 273"/>
                  <a:gd name="T8" fmla="*/ 255 w 307"/>
                  <a:gd name="T9" fmla="*/ 119 h 273"/>
                  <a:gd name="T10" fmla="*/ 290 w 307"/>
                  <a:gd name="T11" fmla="*/ 110 h 273"/>
                  <a:gd name="T12" fmla="*/ 299 w 307"/>
                  <a:gd name="T13" fmla="*/ 106 h 273"/>
                  <a:gd name="T14" fmla="*/ 305 w 307"/>
                  <a:gd name="T15" fmla="*/ 97 h 273"/>
                  <a:gd name="T16" fmla="*/ 307 w 307"/>
                  <a:gd name="T17" fmla="*/ 87 h 273"/>
                  <a:gd name="T18" fmla="*/ 303 w 307"/>
                  <a:gd name="T19" fmla="*/ 77 h 273"/>
                  <a:gd name="T20" fmla="*/ 292 w 307"/>
                  <a:gd name="T21" fmla="*/ 60 h 273"/>
                  <a:gd name="T22" fmla="*/ 263 w 307"/>
                  <a:gd name="T23" fmla="*/ 33 h 273"/>
                  <a:gd name="T24" fmla="*/ 227 w 307"/>
                  <a:gd name="T25" fmla="*/ 13 h 273"/>
                  <a:gd name="T26" fmla="*/ 186 w 307"/>
                  <a:gd name="T27" fmla="*/ 1 h 273"/>
                  <a:gd name="T28" fmla="*/ 165 w 307"/>
                  <a:gd name="T29" fmla="*/ 0 h 273"/>
                  <a:gd name="T30" fmla="*/ 131 w 307"/>
                  <a:gd name="T31" fmla="*/ 3 h 273"/>
                  <a:gd name="T32" fmla="*/ 72 w 307"/>
                  <a:gd name="T33" fmla="*/ 27 h 273"/>
                  <a:gd name="T34" fmla="*/ 27 w 307"/>
                  <a:gd name="T35" fmla="*/ 72 h 273"/>
                  <a:gd name="T36" fmla="*/ 3 w 307"/>
                  <a:gd name="T37" fmla="*/ 131 h 273"/>
                  <a:gd name="T38" fmla="*/ 0 w 307"/>
                  <a:gd name="T39" fmla="*/ 164 h 273"/>
                  <a:gd name="T40" fmla="*/ 1 w 307"/>
                  <a:gd name="T41" fmla="*/ 192 h 273"/>
                  <a:gd name="T42" fmla="*/ 20 w 307"/>
                  <a:gd name="T43" fmla="*/ 243 h 273"/>
                  <a:gd name="T44" fmla="*/ 36 w 307"/>
                  <a:gd name="T45" fmla="*/ 266 h 273"/>
                  <a:gd name="T46" fmla="*/ 43 w 307"/>
                  <a:gd name="T47" fmla="*/ 273 h 273"/>
                  <a:gd name="T48" fmla="*/ 53 w 307"/>
                  <a:gd name="T49" fmla="*/ 273 h 273"/>
                  <a:gd name="T50" fmla="*/ 65 w 307"/>
                  <a:gd name="T51" fmla="*/ 271 h 273"/>
                  <a:gd name="T52" fmla="*/ 72 w 307"/>
                  <a:gd name="T53" fmla="*/ 26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3">
                    <a:moveTo>
                      <a:pt x="72" y="263"/>
                    </a:moveTo>
                    <a:lnTo>
                      <a:pt x="91" y="236"/>
                    </a:lnTo>
                    <a:lnTo>
                      <a:pt x="139" y="187"/>
                    </a:lnTo>
                    <a:lnTo>
                      <a:pt x="193" y="148"/>
                    </a:lnTo>
                    <a:lnTo>
                      <a:pt x="255" y="119"/>
                    </a:lnTo>
                    <a:lnTo>
                      <a:pt x="290" y="110"/>
                    </a:lnTo>
                    <a:lnTo>
                      <a:pt x="299" y="106"/>
                    </a:lnTo>
                    <a:lnTo>
                      <a:pt x="305" y="97"/>
                    </a:lnTo>
                    <a:lnTo>
                      <a:pt x="307" y="87"/>
                    </a:lnTo>
                    <a:lnTo>
                      <a:pt x="303" y="77"/>
                    </a:lnTo>
                    <a:lnTo>
                      <a:pt x="292" y="60"/>
                    </a:lnTo>
                    <a:lnTo>
                      <a:pt x="263" y="33"/>
                    </a:lnTo>
                    <a:lnTo>
                      <a:pt x="227" y="13"/>
                    </a:lnTo>
                    <a:lnTo>
                      <a:pt x="186" y="1"/>
                    </a:lnTo>
                    <a:lnTo>
                      <a:pt x="165" y="0"/>
                    </a:lnTo>
                    <a:lnTo>
                      <a:pt x="131" y="3"/>
                    </a:lnTo>
                    <a:lnTo>
                      <a:pt x="72" y="27"/>
                    </a:lnTo>
                    <a:lnTo>
                      <a:pt x="27" y="72"/>
                    </a:lnTo>
                    <a:lnTo>
                      <a:pt x="3" y="131"/>
                    </a:lnTo>
                    <a:lnTo>
                      <a:pt x="0" y="164"/>
                    </a:lnTo>
                    <a:lnTo>
                      <a:pt x="1" y="192"/>
                    </a:lnTo>
                    <a:lnTo>
                      <a:pt x="20" y="243"/>
                    </a:lnTo>
                    <a:lnTo>
                      <a:pt x="36" y="266"/>
                    </a:lnTo>
                    <a:lnTo>
                      <a:pt x="43" y="273"/>
                    </a:lnTo>
                    <a:lnTo>
                      <a:pt x="53" y="273"/>
                    </a:lnTo>
                    <a:lnTo>
                      <a:pt x="65" y="271"/>
                    </a:lnTo>
                    <a:lnTo>
                      <a:pt x="72" y="2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209232D6-2927-737E-E3F5-1AB260CEB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8" y="900"/>
                <a:ext cx="102" cy="90"/>
              </a:xfrm>
              <a:custGeom>
                <a:avLst/>
                <a:gdLst>
                  <a:gd name="T0" fmla="*/ 143 w 307"/>
                  <a:gd name="T1" fmla="*/ 0 h 271"/>
                  <a:gd name="T2" fmla="*/ 121 w 307"/>
                  <a:gd name="T3" fmla="*/ 1 h 271"/>
                  <a:gd name="T4" fmla="*/ 81 w 307"/>
                  <a:gd name="T5" fmla="*/ 11 h 271"/>
                  <a:gd name="T6" fmla="*/ 46 w 307"/>
                  <a:gd name="T7" fmla="*/ 31 h 271"/>
                  <a:gd name="T8" fmla="*/ 16 w 307"/>
                  <a:gd name="T9" fmla="*/ 60 h 271"/>
                  <a:gd name="T10" fmla="*/ 4 w 307"/>
                  <a:gd name="T11" fmla="*/ 76 h 271"/>
                  <a:gd name="T12" fmla="*/ 0 w 307"/>
                  <a:gd name="T13" fmla="*/ 86 h 271"/>
                  <a:gd name="T14" fmla="*/ 3 w 307"/>
                  <a:gd name="T15" fmla="*/ 96 h 271"/>
                  <a:gd name="T16" fmla="*/ 9 w 307"/>
                  <a:gd name="T17" fmla="*/ 106 h 271"/>
                  <a:gd name="T18" fmla="*/ 19 w 307"/>
                  <a:gd name="T19" fmla="*/ 110 h 271"/>
                  <a:gd name="T20" fmla="*/ 52 w 307"/>
                  <a:gd name="T21" fmla="*/ 119 h 271"/>
                  <a:gd name="T22" fmla="*/ 115 w 307"/>
                  <a:gd name="T23" fmla="*/ 148 h 271"/>
                  <a:gd name="T24" fmla="*/ 170 w 307"/>
                  <a:gd name="T25" fmla="*/ 187 h 271"/>
                  <a:gd name="T26" fmla="*/ 218 w 307"/>
                  <a:gd name="T27" fmla="*/ 234 h 271"/>
                  <a:gd name="T28" fmla="*/ 237 w 307"/>
                  <a:gd name="T29" fmla="*/ 261 h 271"/>
                  <a:gd name="T30" fmla="*/ 245 w 307"/>
                  <a:gd name="T31" fmla="*/ 270 h 271"/>
                  <a:gd name="T32" fmla="*/ 255 w 307"/>
                  <a:gd name="T33" fmla="*/ 271 h 271"/>
                  <a:gd name="T34" fmla="*/ 266 w 307"/>
                  <a:gd name="T35" fmla="*/ 270 h 271"/>
                  <a:gd name="T36" fmla="*/ 274 w 307"/>
                  <a:gd name="T37" fmla="*/ 263 h 271"/>
                  <a:gd name="T38" fmla="*/ 289 w 307"/>
                  <a:gd name="T39" fmla="*/ 241 h 271"/>
                  <a:gd name="T40" fmla="*/ 306 w 307"/>
                  <a:gd name="T41" fmla="*/ 191 h 271"/>
                  <a:gd name="T42" fmla="*/ 307 w 307"/>
                  <a:gd name="T43" fmla="*/ 164 h 271"/>
                  <a:gd name="T44" fmla="*/ 306 w 307"/>
                  <a:gd name="T45" fmla="*/ 131 h 271"/>
                  <a:gd name="T46" fmla="*/ 280 w 307"/>
                  <a:gd name="T47" fmla="*/ 72 h 271"/>
                  <a:gd name="T48" fmla="*/ 235 w 307"/>
                  <a:gd name="T49" fmla="*/ 27 h 271"/>
                  <a:gd name="T50" fmla="*/ 178 w 307"/>
                  <a:gd name="T51" fmla="*/ 3 h 271"/>
                  <a:gd name="T52" fmla="*/ 143 w 307"/>
                  <a:gd name="T53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7" h="271">
                    <a:moveTo>
                      <a:pt x="143" y="0"/>
                    </a:moveTo>
                    <a:lnTo>
                      <a:pt x="121" y="1"/>
                    </a:lnTo>
                    <a:lnTo>
                      <a:pt x="81" y="11"/>
                    </a:lnTo>
                    <a:lnTo>
                      <a:pt x="46" y="31"/>
                    </a:lnTo>
                    <a:lnTo>
                      <a:pt x="16" y="60"/>
                    </a:lnTo>
                    <a:lnTo>
                      <a:pt x="4" y="76"/>
                    </a:lnTo>
                    <a:lnTo>
                      <a:pt x="0" y="86"/>
                    </a:lnTo>
                    <a:lnTo>
                      <a:pt x="3" y="96"/>
                    </a:lnTo>
                    <a:lnTo>
                      <a:pt x="9" y="106"/>
                    </a:lnTo>
                    <a:lnTo>
                      <a:pt x="19" y="110"/>
                    </a:lnTo>
                    <a:lnTo>
                      <a:pt x="52" y="119"/>
                    </a:lnTo>
                    <a:lnTo>
                      <a:pt x="115" y="148"/>
                    </a:lnTo>
                    <a:lnTo>
                      <a:pt x="170" y="187"/>
                    </a:lnTo>
                    <a:lnTo>
                      <a:pt x="218" y="234"/>
                    </a:lnTo>
                    <a:lnTo>
                      <a:pt x="237" y="261"/>
                    </a:lnTo>
                    <a:lnTo>
                      <a:pt x="245" y="270"/>
                    </a:lnTo>
                    <a:lnTo>
                      <a:pt x="255" y="271"/>
                    </a:lnTo>
                    <a:lnTo>
                      <a:pt x="266" y="270"/>
                    </a:lnTo>
                    <a:lnTo>
                      <a:pt x="274" y="263"/>
                    </a:lnTo>
                    <a:lnTo>
                      <a:pt x="289" y="241"/>
                    </a:lnTo>
                    <a:lnTo>
                      <a:pt x="306" y="191"/>
                    </a:lnTo>
                    <a:lnTo>
                      <a:pt x="307" y="164"/>
                    </a:lnTo>
                    <a:lnTo>
                      <a:pt x="306" y="131"/>
                    </a:lnTo>
                    <a:lnTo>
                      <a:pt x="280" y="72"/>
                    </a:lnTo>
                    <a:lnTo>
                      <a:pt x="235" y="27"/>
                    </a:lnTo>
                    <a:lnTo>
                      <a:pt x="178" y="3"/>
                    </a:lnTo>
                    <a:lnTo>
                      <a:pt x="14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2F338C20-C03A-1E46-F694-6AF1FD3912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12" y="947"/>
                <a:ext cx="241" cy="246"/>
              </a:xfrm>
              <a:custGeom>
                <a:avLst/>
                <a:gdLst>
                  <a:gd name="T0" fmla="*/ 722 w 725"/>
                  <a:gd name="T1" fmla="*/ 313 h 737"/>
                  <a:gd name="T2" fmla="*/ 679 w 725"/>
                  <a:gd name="T3" fmla="*/ 187 h 737"/>
                  <a:gd name="T4" fmla="*/ 604 w 725"/>
                  <a:gd name="T5" fmla="*/ 90 h 737"/>
                  <a:gd name="T6" fmla="*/ 459 w 725"/>
                  <a:gd name="T7" fmla="*/ 13 h 737"/>
                  <a:gd name="T8" fmla="*/ 390 w 725"/>
                  <a:gd name="T9" fmla="*/ 1 h 737"/>
                  <a:gd name="T10" fmla="*/ 334 w 725"/>
                  <a:gd name="T11" fmla="*/ 1 h 737"/>
                  <a:gd name="T12" fmla="*/ 263 w 725"/>
                  <a:gd name="T13" fmla="*/ 13 h 737"/>
                  <a:gd name="T14" fmla="*/ 120 w 725"/>
                  <a:gd name="T15" fmla="*/ 92 h 737"/>
                  <a:gd name="T16" fmla="*/ 45 w 725"/>
                  <a:gd name="T17" fmla="*/ 188 h 737"/>
                  <a:gd name="T18" fmla="*/ 3 w 725"/>
                  <a:gd name="T19" fmla="*/ 313 h 737"/>
                  <a:gd name="T20" fmla="*/ 2 w 725"/>
                  <a:gd name="T21" fmla="*/ 399 h 737"/>
                  <a:gd name="T22" fmla="*/ 51 w 725"/>
                  <a:gd name="T23" fmla="*/ 543 h 737"/>
                  <a:gd name="T24" fmla="*/ 123 w 725"/>
                  <a:gd name="T25" fmla="*/ 630 h 737"/>
                  <a:gd name="T26" fmla="*/ 84 w 725"/>
                  <a:gd name="T27" fmla="*/ 687 h 737"/>
                  <a:gd name="T28" fmla="*/ 103 w 725"/>
                  <a:gd name="T29" fmla="*/ 729 h 737"/>
                  <a:gd name="T30" fmla="*/ 126 w 725"/>
                  <a:gd name="T31" fmla="*/ 737 h 737"/>
                  <a:gd name="T32" fmla="*/ 153 w 725"/>
                  <a:gd name="T33" fmla="*/ 727 h 737"/>
                  <a:gd name="T34" fmla="*/ 189 w 725"/>
                  <a:gd name="T35" fmla="*/ 677 h 737"/>
                  <a:gd name="T36" fmla="*/ 316 w 725"/>
                  <a:gd name="T37" fmla="*/ 719 h 737"/>
                  <a:gd name="T38" fmla="*/ 409 w 725"/>
                  <a:gd name="T39" fmla="*/ 719 h 737"/>
                  <a:gd name="T40" fmla="*/ 536 w 725"/>
                  <a:gd name="T41" fmla="*/ 677 h 737"/>
                  <a:gd name="T42" fmla="*/ 572 w 725"/>
                  <a:gd name="T43" fmla="*/ 727 h 737"/>
                  <a:gd name="T44" fmla="*/ 599 w 725"/>
                  <a:gd name="T45" fmla="*/ 737 h 737"/>
                  <a:gd name="T46" fmla="*/ 622 w 725"/>
                  <a:gd name="T47" fmla="*/ 729 h 737"/>
                  <a:gd name="T48" fmla="*/ 640 w 725"/>
                  <a:gd name="T49" fmla="*/ 687 h 737"/>
                  <a:gd name="T50" fmla="*/ 602 w 725"/>
                  <a:gd name="T51" fmla="*/ 630 h 737"/>
                  <a:gd name="T52" fmla="*/ 674 w 725"/>
                  <a:gd name="T53" fmla="*/ 543 h 737"/>
                  <a:gd name="T54" fmla="*/ 723 w 725"/>
                  <a:gd name="T55" fmla="*/ 399 h 737"/>
                  <a:gd name="T56" fmla="*/ 363 w 725"/>
                  <a:gd name="T57" fmla="*/ 619 h 737"/>
                  <a:gd name="T58" fmla="*/ 285 w 725"/>
                  <a:gd name="T59" fmla="*/ 608 h 737"/>
                  <a:gd name="T60" fmla="*/ 197 w 725"/>
                  <a:gd name="T61" fmla="*/ 561 h 737"/>
                  <a:gd name="T62" fmla="*/ 133 w 725"/>
                  <a:gd name="T63" fmla="*/ 484 h 737"/>
                  <a:gd name="T64" fmla="*/ 103 w 725"/>
                  <a:gd name="T65" fmla="*/ 386 h 737"/>
                  <a:gd name="T66" fmla="*/ 103 w 725"/>
                  <a:gd name="T67" fmla="*/ 328 h 737"/>
                  <a:gd name="T68" fmla="*/ 133 w 725"/>
                  <a:gd name="T69" fmla="*/ 237 h 737"/>
                  <a:gd name="T70" fmla="*/ 188 w 725"/>
                  <a:gd name="T71" fmla="*/ 166 h 737"/>
                  <a:gd name="T72" fmla="*/ 292 w 725"/>
                  <a:gd name="T73" fmla="*/ 110 h 737"/>
                  <a:gd name="T74" fmla="*/ 342 w 725"/>
                  <a:gd name="T75" fmla="*/ 102 h 737"/>
                  <a:gd name="T76" fmla="*/ 381 w 725"/>
                  <a:gd name="T77" fmla="*/ 102 h 737"/>
                  <a:gd name="T78" fmla="*/ 431 w 725"/>
                  <a:gd name="T79" fmla="*/ 109 h 737"/>
                  <a:gd name="T80" fmla="*/ 536 w 725"/>
                  <a:gd name="T81" fmla="*/ 166 h 737"/>
                  <a:gd name="T82" fmla="*/ 592 w 725"/>
                  <a:gd name="T83" fmla="*/ 237 h 737"/>
                  <a:gd name="T84" fmla="*/ 622 w 725"/>
                  <a:gd name="T85" fmla="*/ 328 h 737"/>
                  <a:gd name="T86" fmla="*/ 622 w 725"/>
                  <a:gd name="T87" fmla="*/ 386 h 737"/>
                  <a:gd name="T88" fmla="*/ 592 w 725"/>
                  <a:gd name="T89" fmla="*/ 484 h 737"/>
                  <a:gd name="T90" fmla="*/ 529 w 725"/>
                  <a:gd name="T91" fmla="*/ 561 h 737"/>
                  <a:gd name="T92" fmla="*/ 441 w 725"/>
                  <a:gd name="T93" fmla="*/ 608 h 737"/>
                  <a:gd name="T94" fmla="*/ 363 w 725"/>
                  <a:gd name="T95" fmla="*/ 619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25" h="737">
                    <a:moveTo>
                      <a:pt x="725" y="361"/>
                    </a:moveTo>
                    <a:lnTo>
                      <a:pt x="722" y="313"/>
                    </a:lnTo>
                    <a:lnTo>
                      <a:pt x="699" y="225"/>
                    </a:lnTo>
                    <a:lnTo>
                      <a:pt x="679" y="187"/>
                    </a:lnTo>
                    <a:lnTo>
                      <a:pt x="659" y="151"/>
                    </a:lnTo>
                    <a:lnTo>
                      <a:pt x="604" y="90"/>
                    </a:lnTo>
                    <a:lnTo>
                      <a:pt x="536" y="44"/>
                    </a:lnTo>
                    <a:lnTo>
                      <a:pt x="459" y="13"/>
                    </a:lnTo>
                    <a:lnTo>
                      <a:pt x="418" y="4"/>
                    </a:lnTo>
                    <a:lnTo>
                      <a:pt x="390" y="1"/>
                    </a:lnTo>
                    <a:lnTo>
                      <a:pt x="363" y="0"/>
                    </a:lnTo>
                    <a:lnTo>
                      <a:pt x="334" y="1"/>
                    </a:lnTo>
                    <a:lnTo>
                      <a:pt x="305" y="5"/>
                    </a:lnTo>
                    <a:lnTo>
                      <a:pt x="263" y="13"/>
                    </a:lnTo>
                    <a:lnTo>
                      <a:pt x="187" y="44"/>
                    </a:lnTo>
                    <a:lnTo>
                      <a:pt x="120" y="92"/>
                    </a:lnTo>
                    <a:lnTo>
                      <a:pt x="67" y="152"/>
                    </a:lnTo>
                    <a:lnTo>
                      <a:pt x="45" y="188"/>
                    </a:lnTo>
                    <a:lnTo>
                      <a:pt x="25" y="227"/>
                    </a:lnTo>
                    <a:lnTo>
                      <a:pt x="3" y="313"/>
                    </a:lnTo>
                    <a:lnTo>
                      <a:pt x="0" y="361"/>
                    </a:lnTo>
                    <a:lnTo>
                      <a:pt x="2" y="399"/>
                    </a:lnTo>
                    <a:lnTo>
                      <a:pt x="19" y="476"/>
                    </a:lnTo>
                    <a:lnTo>
                      <a:pt x="51" y="543"/>
                    </a:lnTo>
                    <a:lnTo>
                      <a:pt x="96" y="604"/>
                    </a:lnTo>
                    <a:lnTo>
                      <a:pt x="123" y="630"/>
                    </a:lnTo>
                    <a:lnTo>
                      <a:pt x="93" y="673"/>
                    </a:lnTo>
                    <a:lnTo>
                      <a:pt x="84" y="687"/>
                    </a:lnTo>
                    <a:lnTo>
                      <a:pt x="90" y="719"/>
                    </a:lnTo>
                    <a:lnTo>
                      <a:pt x="103" y="729"/>
                    </a:lnTo>
                    <a:lnTo>
                      <a:pt x="113" y="736"/>
                    </a:lnTo>
                    <a:lnTo>
                      <a:pt x="126" y="737"/>
                    </a:lnTo>
                    <a:lnTo>
                      <a:pt x="136" y="736"/>
                    </a:lnTo>
                    <a:lnTo>
                      <a:pt x="153" y="727"/>
                    </a:lnTo>
                    <a:lnTo>
                      <a:pt x="159" y="720"/>
                    </a:lnTo>
                    <a:lnTo>
                      <a:pt x="189" y="677"/>
                    </a:lnTo>
                    <a:lnTo>
                      <a:pt x="230" y="696"/>
                    </a:lnTo>
                    <a:lnTo>
                      <a:pt x="316" y="719"/>
                    </a:lnTo>
                    <a:lnTo>
                      <a:pt x="363" y="720"/>
                    </a:lnTo>
                    <a:lnTo>
                      <a:pt x="409" y="719"/>
                    </a:lnTo>
                    <a:lnTo>
                      <a:pt x="495" y="696"/>
                    </a:lnTo>
                    <a:lnTo>
                      <a:pt x="536" y="677"/>
                    </a:lnTo>
                    <a:lnTo>
                      <a:pt x="566" y="720"/>
                    </a:lnTo>
                    <a:lnTo>
                      <a:pt x="572" y="727"/>
                    </a:lnTo>
                    <a:lnTo>
                      <a:pt x="589" y="736"/>
                    </a:lnTo>
                    <a:lnTo>
                      <a:pt x="599" y="737"/>
                    </a:lnTo>
                    <a:lnTo>
                      <a:pt x="612" y="736"/>
                    </a:lnTo>
                    <a:lnTo>
                      <a:pt x="622" y="729"/>
                    </a:lnTo>
                    <a:lnTo>
                      <a:pt x="635" y="719"/>
                    </a:lnTo>
                    <a:lnTo>
                      <a:pt x="640" y="687"/>
                    </a:lnTo>
                    <a:lnTo>
                      <a:pt x="633" y="673"/>
                    </a:lnTo>
                    <a:lnTo>
                      <a:pt x="602" y="630"/>
                    </a:lnTo>
                    <a:lnTo>
                      <a:pt x="630" y="604"/>
                    </a:lnTo>
                    <a:lnTo>
                      <a:pt x="674" y="543"/>
                    </a:lnTo>
                    <a:lnTo>
                      <a:pt x="706" y="476"/>
                    </a:lnTo>
                    <a:lnTo>
                      <a:pt x="723" y="399"/>
                    </a:lnTo>
                    <a:lnTo>
                      <a:pt x="725" y="361"/>
                    </a:lnTo>
                    <a:close/>
                    <a:moveTo>
                      <a:pt x="363" y="619"/>
                    </a:moveTo>
                    <a:lnTo>
                      <a:pt x="335" y="619"/>
                    </a:lnTo>
                    <a:lnTo>
                      <a:pt x="285" y="608"/>
                    </a:lnTo>
                    <a:lnTo>
                      <a:pt x="239" y="589"/>
                    </a:lnTo>
                    <a:lnTo>
                      <a:pt x="197" y="561"/>
                    </a:lnTo>
                    <a:lnTo>
                      <a:pt x="161" y="526"/>
                    </a:lnTo>
                    <a:lnTo>
                      <a:pt x="133" y="484"/>
                    </a:lnTo>
                    <a:lnTo>
                      <a:pt x="113" y="438"/>
                    </a:lnTo>
                    <a:lnTo>
                      <a:pt x="103" y="386"/>
                    </a:lnTo>
                    <a:lnTo>
                      <a:pt x="101" y="361"/>
                    </a:lnTo>
                    <a:lnTo>
                      <a:pt x="103" y="328"/>
                    </a:lnTo>
                    <a:lnTo>
                      <a:pt x="120" y="266"/>
                    </a:lnTo>
                    <a:lnTo>
                      <a:pt x="133" y="237"/>
                    </a:lnTo>
                    <a:lnTo>
                      <a:pt x="149" y="211"/>
                    </a:lnTo>
                    <a:lnTo>
                      <a:pt x="188" y="166"/>
                    </a:lnTo>
                    <a:lnTo>
                      <a:pt x="237" y="133"/>
                    </a:lnTo>
                    <a:lnTo>
                      <a:pt x="292" y="110"/>
                    </a:lnTo>
                    <a:lnTo>
                      <a:pt x="322" y="105"/>
                    </a:lnTo>
                    <a:lnTo>
                      <a:pt x="342" y="102"/>
                    </a:lnTo>
                    <a:lnTo>
                      <a:pt x="363" y="100"/>
                    </a:lnTo>
                    <a:lnTo>
                      <a:pt x="381" y="102"/>
                    </a:lnTo>
                    <a:lnTo>
                      <a:pt x="400" y="103"/>
                    </a:lnTo>
                    <a:lnTo>
                      <a:pt x="431" y="109"/>
                    </a:lnTo>
                    <a:lnTo>
                      <a:pt x="487" y="132"/>
                    </a:lnTo>
                    <a:lnTo>
                      <a:pt x="536" y="166"/>
                    </a:lnTo>
                    <a:lnTo>
                      <a:pt x="576" y="211"/>
                    </a:lnTo>
                    <a:lnTo>
                      <a:pt x="592" y="237"/>
                    </a:lnTo>
                    <a:lnTo>
                      <a:pt x="605" y="264"/>
                    </a:lnTo>
                    <a:lnTo>
                      <a:pt x="622" y="328"/>
                    </a:lnTo>
                    <a:lnTo>
                      <a:pt x="624" y="361"/>
                    </a:lnTo>
                    <a:lnTo>
                      <a:pt x="622" y="386"/>
                    </a:lnTo>
                    <a:lnTo>
                      <a:pt x="612" y="438"/>
                    </a:lnTo>
                    <a:lnTo>
                      <a:pt x="592" y="484"/>
                    </a:lnTo>
                    <a:lnTo>
                      <a:pt x="563" y="526"/>
                    </a:lnTo>
                    <a:lnTo>
                      <a:pt x="529" y="561"/>
                    </a:lnTo>
                    <a:lnTo>
                      <a:pt x="487" y="589"/>
                    </a:lnTo>
                    <a:lnTo>
                      <a:pt x="441" y="608"/>
                    </a:lnTo>
                    <a:lnTo>
                      <a:pt x="389" y="619"/>
                    </a:lnTo>
                    <a:lnTo>
                      <a:pt x="363" y="6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75C0C17D-AC73-68D0-47B9-DCD3ADD702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1006"/>
                <a:ext cx="70" cy="99"/>
              </a:xfrm>
              <a:custGeom>
                <a:avLst/>
                <a:gdLst>
                  <a:gd name="T0" fmla="*/ 194 w 209"/>
                  <a:gd name="T1" fmla="*/ 245 h 298"/>
                  <a:gd name="T2" fmla="*/ 95 w 209"/>
                  <a:gd name="T3" fmla="*/ 183 h 298"/>
                  <a:gd name="T4" fmla="*/ 91 w 209"/>
                  <a:gd name="T5" fmla="*/ 167 h 298"/>
                  <a:gd name="T6" fmla="*/ 78 w 209"/>
                  <a:gd name="T7" fmla="*/ 156 h 298"/>
                  <a:gd name="T8" fmla="*/ 83 w 209"/>
                  <a:gd name="T9" fmla="*/ 31 h 298"/>
                  <a:gd name="T10" fmla="*/ 82 w 209"/>
                  <a:gd name="T11" fmla="*/ 19 h 298"/>
                  <a:gd name="T12" fmla="*/ 66 w 209"/>
                  <a:gd name="T13" fmla="*/ 3 h 298"/>
                  <a:gd name="T14" fmla="*/ 54 w 209"/>
                  <a:gd name="T15" fmla="*/ 0 h 298"/>
                  <a:gd name="T16" fmla="*/ 43 w 209"/>
                  <a:gd name="T17" fmla="*/ 2 h 298"/>
                  <a:gd name="T18" fmla="*/ 27 w 209"/>
                  <a:gd name="T19" fmla="*/ 18 h 298"/>
                  <a:gd name="T20" fmla="*/ 26 w 209"/>
                  <a:gd name="T21" fmla="*/ 29 h 298"/>
                  <a:gd name="T22" fmla="*/ 20 w 209"/>
                  <a:gd name="T23" fmla="*/ 153 h 298"/>
                  <a:gd name="T24" fmla="*/ 11 w 209"/>
                  <a:gd name="T25" fmla="*/ 160 h 298"/>
                  <a:gd name="T26" fmla="*/ 1 w 209"/>
                  <a:gd name="T27" fmla="*/ 180 h 298"/>
                  <a:gd name="T28" fmla="*/ 0 w 209"/>
                  <a:gd name="T29" fmla="*/ 192 h 298"/>
                  <a:gd name="T30" fmla="*/ 1 w 209"/>
                  <a:gd name="T31" fmla="*/ 202 h 298"/>
                  <a:gd name="T32" fmla="*/ 8 w 209"/>
                  <a:gd name="T33" fmla="*/ 219 h 298"/>
                  <a:gd name="T34" fmla="*/ 21 w 209"/>
                  <a:gd name="T35" fmla="*/ 232 h 298"/>
                  <a:gd name="T36" fmla="*/ 39 w 209"/>
                  <a:gd name="T37" fmla="*/ 239 h 298"/>
                  <a:gd name="T38" fmla="*/ 49 w 209"/>
                  <a:gd name="T39" fmla="*/ 241 h 298"/>
                  <a:gd name="T40" fmla="*/ 59 w 209"/>
                  <a:gd name="T41" fmla="*/ 239 h 298"/>
                  <a:gd name="T42" fmla="*/ 69 w 209"/>
                  <a:gd name="T43" fmla="*/ 235 h 298"/>
                  <a:gd name="T44" fmla="*/ 164 w 209"/>
                  <a:gd name="T45" fmla="*/ 294 h 298"/>
                  <a:gd name="T46" fmla="*/ 171 w 209"/>
                  <a:gd name="T47" fmla="*/ 298 h 298"/>
                  <a:gd name="T48" fmla="*/ 180 w 209"/>
                  <a:gd name="T49" fmla="*/ 298 h 298"/>
                  <a:gd name="T50" fmla="*/ 187 w 209"/>
                  <a:gd name="T51" fmla="*/ 298 h 298"/>
                  <a:gd name="T52" fmla="*/ 199 w 209"/>
                  <a:gd name="T53" fmla="*/ 291 h 298"/>
                  <a:gd name="T54" fmla="*/ 205 w 209"/>
                  <a:gd name="T55" fmla="*/ 285 h 298"/>
                  <a:gd name="T56" fmla="*/ 209 w 209"/>
                  <a:gd name="T57" fmla="*/ 274 h 298"/>
                  <a:gd name="T58" fmla="*/ 203 w 209"/>
                  <a:gd name="T59" fmla="*/ 252 h 298"/>
                  <a:gd name="T60" fmla="*/ 194 w 209"/>
                  <a:gd name="T61" fmla="*/ 24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09" h="298">
                    <a:moveTo>
                      <a:pt x="194" y="245"/>
                    </a:moveTo>
                    <a:lnTo>
                      <a:pt x="95" y="183"/>
                    </a:lnTo>
                    <a:lnTo>
                      <a:pt x="91" y="167"/>
                    </a:lnTo>
                    <a:lnTo>
                      <a:pt x="78" y="156"/>
                    </a:lnTo>
                    <a:lnTo>
                      <a:pt x="83" y="31"/>
                    </a:lnTo>
                    <a:lnTo>
                      <a:pt x="82" y="19"/>
                    </a:lnTo>
                    <a:lnTo>
                      <a:pt x="66" y="3"/>
                    </a:lnTo>
                    <a:lnTo>
                      <a:pt x="54" y="0"/>
                    </a:lnTo>
                    <a:lnTo>
                      <a:pt x="43" y="2"/>
                    </a:lnTo>
                    <a:lnTo>
                      <a:pt x="27" y="18"/>
                    </a:lnTo>
                    <a:lnTo>
                      <a:pt x="26" y="29"/>
                    </a:lnTo>
                    <a:lnTo>
                      <a:pt x="20" y="153"/>
                    </a:lnTo>
                    <a:lnTo>
                      <a:pt x="11" y="160"/>
                    </a:lnTo>
                    <a:lnTo>
                      <a:pt x="1" y="180"/>
                    </a:lnTo>
                    <a:lnTo>
                      <a:pt x="0" y="192"/>
                    </a:lnTo>
                    <a:lnTo>
                      <a:pt x="1" y="202"/>
                    </a:lnTo>
                    <a:lnTo>
                      <a:pt x="8" y="219"/>
                    </a:lnTo>
                    <a:lnTo>
                      <a:pt x="21" y="232"/>
                    </a:lnTo>
                    <a:lnTo>
                      <a:pt x="39" y="239"/>
                    </a:lnTo>
                    <a:lnTo>
                      <a:pt x="49" y="241"/>
                    </a:lnTo>
                    <a:lnTo>
                      <a:pt x="59" y="239"/>
                    </a:lnTo>
                    <a:lnTo>
                      <a:pt x="69" y="235"/>
                    </a:lnTo>
                    <a:lnTo>
                      <a:pt x="164" y="294"/>
                    </a:lnTo>
                    <a:lnTo>
                      <a:pt x="171" y="298"/>
                    </a:lnTo>
                    <a:lnTo>
                      <a:pt x="180" y="298"/>
                    </a:lnTo>
                    <a:lnTo>
                      <a:pt x="187" y="298"/>
                    </a:lnTo>
                    <a:lnTo>
                      <a:pt x="199" y="291"/>
                    </a:lnTo>
                    <a:lnTo>
                      <a:pt x="205" y="285"/>
                    </a:lnTo>
                    <a:lnTo>
                      <a:pt x="209" y="274"/>
                    </a:lnTo>
                    <a:lnTo>
                      <a:pt x="203" y="252"/>
                    </a:lnTo>
                    <a:lnTo>
                      <a:pt x="194" y="2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2" name="Group 19">
              <a:extLst>
                <a:ext uri="{FF2B5EF4-FFF2-40B4-BE49-F238E27FC236}">
                  <a16:creationId xmlns:a16="http://schemas.microsoft.com/office/drawing/2014/main" id="{9B2FFBEF-DC68-3A9A-6ABD-37FAC95461F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893103" y="498283"/>
              <a:ext cx="106209" cy="106209"/>
              <a:chOff x="1747" y="423"/>
              <a:chExt cx="575" cy="575"/>
            </a:xfrm>
            <a:solidFill>
              <a:schemeClr val="bg1"/>
            </a:solidFill>
          </p:grpSpPr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55ABAB39-E7FB-F95A-1117-9789DBFD8FC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899" y="577"/>
                <a:ext cx="271" cy="270"/>
              </a:xfrm>
              <a:custGeom>
                <a:avLst/>
                <a:gdLst>
                  <a:gd name="T0" fmla="*/ 148 w 811"/>
                  <a:gd name="T1" fmla="*/ 0 h 811"/>
                  <a:gd name="T2" fmla="*/ 65 w 811"/>
                  <a:gd name="T3" fmla="*/ 24 h 811"/>
                  <a:gd name="T4" fmla="*/ 1 w 811"/>
                  <a:gd name="T5" fmla="*/ 118 h 811"/>
                  <a:gd name="T6" fmla="*/ 0 w 811"/>
                  <a:gd name="T7" fmla="*/ 663 h 811"/>
                  <a:gd name="T8" fmla="*/ 24 w 811"/>
                  <a:gd name="T9" fmla="*/ 746 h 811"/>
                  <a:gd name="T10" fmla="*/ 118 w 811"/>
                  <a:gd name="T11" fmla="*/ 808 h 811"/>
                  <a:gd name="T12" fmla="*/ 663 w 811"/>
                  <a:gd name="T13" fmla="*/ 811 h 811"/>
                  <a:gd name="T14" fmla="*/ 746 w 811"/>
                  <a:gd name="T15" fmla="*/ 787 h 811"/>
                  <a:gd name="T16" fmla="*/ 810 w 811"/>
                  <a:gd name="T17" fmla="*/ 693 h 811"/>
                  <a:gd name="T18" fmla="*/ 811 w 811"/>
                  <a:gd name="T19" fmla="*/ 148 h 811"/>
                  <a:gd name="T20" fmla="*/ 787 w 811"/>
                  <a:gd name="T21" fmla="*/ 65 h 811"/>
                  <a:gd name="T22" fmla="*/ 693 w 811"/>
                  <a:gd name="T23" fmla="*/ 1 h 811"/>
                  <a:gd name="T24" fmla="*/ 405 w 811"/>
                  <a:gd name="T25" fmla="*/ 673 h 811"/>
                  <a:gd name="T26" fmla="*/ 326 w 811"/>
                  <a:gd name="T27" fmla="*/ 661 h 811"/>
                  <a:gd name="T28" fmla="*/ 235 w 811"/>
                  <a:gd name="T29" fmla="*/ 611 h 811"/>
                  <a:gd name="T30" fmla="*/ 170 w 811"/>
                  <a:gd name="T31" fmla="*/ 533 h 811"/>
                  <a:gd name="T32" fmla="*/ 140 w 811"/>
                  <a:gd name="T33" fmla="*/ 432 h 811"/>
                  <a:gd name="T34" fmla="*/ 140 w 811"/>
                  <a:gd name="T35" fmla="*/ 377 h 811"/>
                  <a:gd name="T36" fmla="*/ 170 w 811"/>
                  <a:gd name="T37" fmla="*/ 278 h 811"/>
                  <a:gd name="T38" fmla="*/ 235 w 811"/>
                  <a:gd name="T39" fmla="*/ 199 h 811"/>
                  <a:gd name="T40" fmla="*/ 326 w 811"/>
                  <a:gd name="T41" fmla="*/ 150 h 811"/>
                  <a:gd name="T42" fmla="*/ 405 w 811"/>
                  <a:gd name="T43" fmla="*/ 138 h 811"/>
                  <a:gd name="T44" fmla="*/ 486 w 811"/>
                  <a:gd name="T45" fmla="*/ 150 h 811"/>
                  <a:gd name="T46" fmla="*/ 575 w 811"/>
                  <a:gd name="T47" fmla="*/ 199 h 811"/>
                  <a:gd name="T48" fmla="*/ 641 w 811"/>
                  <a:gd name="T49" fmla="*/ 278 h 811"/>
                  <a:gd name="T50" fmla="*/ 671 w 811"/>
                  <a:gd name="T51" fmla="*/ 377 h 811"/>
                  <a:gd name="T52" fmla="*/ 671 w 811"/>
                  <a:gd name="T53" fmla="*/ 432 h 811"/>
                  <a:gd name="T54" fmla="*/ 641 w 811"/>
                  <a:gd name="T55" fmla="*/ 533 h 811"/>
                  <a:gd name="T56" fmla="*/ 575 w 811"/>
                  <a:gd name="T57" fmla="*/ 611 h 811"/>
                  <a:gd name="T58" fmla="*/ 486 w 811"/>
                  <a:gd name="T59" fmla="*/ 661 h 811"/>
                  <a:gd name="T60" fmla="*/ 405 w 811"/>
                  <a:gd name="T61" fmla="*/ 673 h 811"/>
                  <a:gd name="T62" fmla="*/ 669 w 811"/>
                  <a:gd name="T63" fmla="*/ 193 h 811"/>
                  <a:gd name="T64" fmla="*/ 628 w 811"/>
                  <a:gd name="T65" fmla="*/ 166 h 811"/>
                  <a:gd name="T66" fmla="*/ 618 w 811"/>
                  <a:gd name="T67" fmla="*/ 130 h 811"/>
                  <a:gd name="T68" fmla="*/ 628 w 811"/>
                  <a:gd name="T69" fmla="*/ 95 h 811"/>
                  <a:gd name="T70" fmla="*/ 669 w 811"/>
                  <a:gd name="T71" fmla="*/ 68 h 811"/>
                  <a:gd name="T72" fmla="*/ 695 w 811"/>
                  <a:gd name="T73" fmla="*/ 68 h 811"/>
                  <a:gd name="T74" fmla="*/ 733 w 811"/>
                  <a:gd name="T75" fmla="*/ 95 h 811"/>
                  <a:gd name="T76" fmla="*/ 745 w 811"/>
                  <a:gd name="T77" fmla="*/ 130 h 811"/>
                  <a:gd name="T78" fmla="*/ 733 w 811"/>
                  <a:gd name="T79" fmla="*/ 166 h 811"/>
                  <a:gd name="T80" fmla="*/ 695 w 811"/>
                  <a:gd name="T81" fmla="*/ 193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11" h="811">
                    <a:moveTo>
                      <a:pt x="663" y="0"/>
                    </a:moveTo>
                    <a:lnTo>
                      <a:pt x="148" y="0"/>
                    </a:lnTo>
                    <a:lnTo>
                      <a:pt x="118" y="1"/>
                    </a:lnTo>
                    <a:lnTo>
                      <a:pt x="65" y="24"/>
                    </a:lnTo>
                    <a:lnTo>
                      <a:pt x="24" y="65"/>
                    </a:lnTo>
                    <a:lnTo>
                      <a:pt x="1" y="118"/>
                    </a:lnTo>
                    <a:lnTo>
                      <a:pt x="0" y="148"/>
                    </a:lnTo>
                    <a:lnTo>
                      <a:pt x="0" y="663"/>
                    </a:lnTo>
                    <a:lnTo>
                      <a:pt x="1" y="693"/>
                    </a:lnTo>
                    <a:lnTo>
                      <a:pt x="24" y="746"/>
                    </a:lnTo>
                    <a:lnTo>
                      <a:pt x="65" y="787"/>
                    </a:lnTo>
                    <a:lnTo>
                      <a:pt x="118" y="808"/>
                    </a:lnTo>
                    <a:lnTo>
                      <a:pt x="148" y="811"/>
                    </a:lnTo>
                    <a:lnTo>
                      <a:pt x="663" y="811"/>
                    </a:lnTo>
                    <a:lnTo>
                      <a:pt x="693" y="808"/>
                    </a:lnTo>
                    <a:lnTo>
                      <a:pt x="746" y="787"/>
                    </a:lnTo>
                    <a:lnTo>
                      <a:pt x="787" y="746"/>
                    </a:lnTo>
                    <a:lnTo>
                      <a:pt x="810" y="693"/>
                    </a:lnTo>
                    <a:lnTo>
                      <a:pt x="811" y="663"/>
                    </a:lnTo>
                    <a:lnTo>
                      <a:pt x="811" y="148"/>
                    </a:lnTo>
                    <a:lnTo>
                      <a:pt x="810" y="118"/>
                    </a:lnTo>
                    <a:lnTo>
                      <a:pt x="787" y="65"/>
                    </a:lnTo>
                    <a:lnTo>
                      <a:pt x="746" y="24"/>
                    </a:lnTo>
                    <a:lnTo>
                      <a:pt x="693" y="1"/>
                    </a:lnTo>
                    <a:lnTo>
                      <a:pt x="663" y="0"/>
                    </a:lnTo>
                    <a:close/>
                    <a:moveTo>
                      <a:pt x="405" y="673"/>
                    </a:moveTo>
                    <a:lnTo>
                      <a:pt x="377" y="671"/>
                    </a:lnTo>
                    <a:lnTo>
                      <a:pt x="326" y="661"/>
                    </a:lnTo>
                    <a:lnTo>
                      <a:pt x="278" y="640"/>
                    </a:lnTo>
                    <a:lnTo>
                      <a:pt x="235" y="611"/>
                    </a:lnTo>
                    <a:lnTo>
                      <a:pt x="199" y="575"/>
                    </a:lnTo>
                    <a:lnTo>
                      <a:pt x="170" y="533"/>
                    </a:lnTo>
                    <a:lnTo>
                      <a:pt x="150" y="484"/>
                    </a:lnTo>
                    <a:lnTo>
                      <a:pt x="140" y="432"/>
                    </a:lnTo>
                    <a:lnTo>
                      <a:pt x="138" y="405"/>
                    </a:lnTo>
                    <a:lnTo>
                      <a:pt x="140" y="377"/>
                    </a:lnTo>
                    <a:lnTo>
                      <a:pt x="150" y="326"/>
                    </a:lnTo>
                    <a:lnTo>
                      <a:pt x="170" y="278"/>
                    </a:lnTo>
                    <a:lnTo>
                      <a:pt x="199" y="235"/>
                    </a:lnTo>
                    <a:lnTo>
                      <a:pt x="235" y="199"/>
                    </a:lnTo>
                    <a:lnTo>
                      <a:pt x="278" y="170"/>
                    </a:lnTo>
                    <a:lnTo>
                      <a:pt x="326" y="150"/>
                    </a:lnTo>
                    <a:lnTo>
                      <a:pt x="377" y="138"/>
                    </a:lnTo>
                    <a:lnTo>
                      <a:pt x="405" y="138"/>
                    </a:lnTo>
                    <a:lnTo>
                      <a:pt x="432" y="138"/>
                    </a:lnTo>
                    <a:lnTo>
                      <a:pt x="486" y="150"/>
                    </a:lnTo>
                    <a:lnTo>
                      <a:pt x="533" y="170"/>
                    </a:lnTo>
                    <a:lnTo>
                      <a:pt x="575" y="199"/>
                    </a:lnTo>
                    <a:lnTo>
                      <a:pt x="612" y="235"/>
                    </a:lnTo>
                    <a:lnTo>
                      <a:pt x="641" y="278"/>
                    </a:lnTo>
                    <a:lnTo>
                      <a:pt x="661" y="326"/>
                    </a:lnTo>
                    <a:lnTo>
                      <a:pt x="671" y="377"/>
                    </a:lnTo>
                    <a:lnTo>
                      <a:pt x="673" y="405"/>
                    </a:lnTo>
                    <a:lnTo>
                      <a:pt x="671" y="432"/>
                    </a:lnTo>
                    <a:lnTo>
                      <a:pt x="661" y="484"/>
                    </a:lnTo>
                    <a:lnTo>
                      <a:pt x="641" y="533"/>
                    </a:lnTo>
                    <a:lnTo>
                      <a:pt x="612" y="575"/>
                    </a:lnTo>
                    <a:lnTo>
                      <a:pt x="575" y="611"/>
                    </a:lnTo>
                    <a:lnTo>
                      <a:pt x="533" y="640"/>
                    </a:lnTo>
                    <a:lnTo>
                      <a:pt x="486" y="661"/>
                    </a:lnTo>
                    <a:lnTo>
                      <a:pt x="432" y="671"/>
                    </a:lnTo>
                    <a:lnTo>
                      <a:pt x="405" y="673"/>
                    </a:lnTo>
                    <a:close/>
                    <a:moveTo>
                      <a:pt x="682" y="193"/>
                    </a:moveTo>
                    <a:lnTo>
                      <a:pt x="669" y="193"/>
                    </a:lnTo>
                    <a:lnTo>
                      <a:pt x="646" y="183"/>
                    </a:lnTo>
                    <a:lnTo>
                      <a:pt x="628" y="166"/>
                    </a:lnTo>
                    <a:lnTo>
                      <a:pt x="620" y="143"/>
                    </a:lnTo>
                    <a:lnTo>
                      <a:pt x="618" y="130"/>
                    </a:lnTo>
                    <a:lnTo>
                      <a:pt x="620" y="117"/>
                    </a:lnTo>
                    <a:lnTo>
                      <a:pt x="628" y="95"/>
                    </a:lnTo>
                    <a:lnTo>
                      <a:pt x="646" y="78"/>
                    </a:lnTo>
                    <a:lnTo>
                      <a:pt x="669" y="68"/>
                    </a:lnTo>
                    <a:lnTo>
                      <a:pt x="682" y="66"/>
                    </a:lnTo>
                    <a:lnTo>
                      <a:pt x="695" y="68"/>
                    </a:lnTo>
                    <a:lnTo>
                      <a:pt x="716" y="78"/>
                    </a:lnTo>
                    <a:lnTo>
                      <a:pt x="733" y="95"/>
                    </a:lnTo>
                    <a:lnTo>
                      <a:pt x="744" y="117"/>
                    </a:lnTo>
                    <a:lnTo>
                      <a:pt x="745" y="130"/>
                    </a:lnTo>
                    <a:lnTo>
                      <a:pt x="744" y="143"/>
                    </a:lnTo>
                    <a:lnTo>
                      <a:pt x="733" y="166"/>
                    </a:lnTo>
                    <a:lnTo>
                      <a:pt x="716" y="183"/>
                    </a:lnTo>
                    <a:lnTo>
                      <a:pt x="695" y="193"/>
                    </a:lnTo>
                    <a:lnTo>
                      <a:pt x="682" y="1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11A824AE-A031-0CA3-0BAC-1248B9D0A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660"/>
                <a:ext cx="103" cy="103"/>
              </a:xfrm>
              <a:custGeom>
                <a:avLst/>
                <a:gdLst>
                  <a:gd name="T0" fmla="*/ 154 w 308"/>
                  <a:gd name="T1" fmla="*/ 0 h 308"/>
                  <a:gd name="T2" fmla="*/ 124 w 308"/>
                  <a:gd name="T3" fmla="*/ 3 h 308"/>
                  <a:gd name="T4" fmla="*/ 67 w 308"/>
                  <a:gd name="T5" fmla="*/ 26 h 308"/>
                  <a:gd name="T6" fmla="*/ 26 w 308"/>
                  <a:gd name="T7" fmla="*/ 67 h 308"/>
                  <a:gd name="T8" fmla="*/ 3 w 308"/>
                  <a:gd name="T9" fmla="*/ 122 h 308"/>
                  <a:gd name="T10" fmla="*/ 0 w 308"/>
                  <a:gd name="T11" fmla="*/ 154 h 308"/>
                  <a:gd name="T12" fmla="*/ 3 w 308"/>
                  <a:gd name="T13" fmla="*/ 185 h 308"/>
                  <a:gd name="T14" fmla="*/ 26 w 308"/>
                  <a:gd name="T15" fmla="*/ 240 h 308"/>
                  <a:gd name="T16" fmla="*/ 67 w 308"/>
                  <a:gd name="T17" fmla="*/ 283 h 308"/>
                  <a:gd name="T18" fmla="*/ 124 w 308"/>
                  <a:gd name="T19" fmla="*/ 307 h 308"/>
                  <a:gd name="T20" fmla="*/ 154 w 308"/>
                  <a:gd name="T21" fmla="*/ 308 h 308"/>
                  <a:gd name="T22" fmla="*/ 186 w 308"/>
                  <a:gd name="T23" fmla="*/ 307 h 308"/>
                  <a:gd name="T24" fmla="*/ 242 w 308"/>
                  <a:gd name="T25" fmla="*/ 283 h 308"/>
                  <a:gd name="T26" fmla="*/ 284 w 308"/>
                  <a:gd name="T27" fmla="*/ 240 h 308"/>
                  <a:gd name="T28" fmla="*/ 307 w 308"/>
                  <a:gd name="T29" fmla="*/ 185 h 308"/>
                  <a:gd name="T30" fmla="*/ 308 w 308"/>
                  <a:gd name="T31" fmla="*/ 154 h 308"/>
                  <a:gd name="T32" fmla="*/ 307 w 308"/>
                  <a:gd name="T33" fmla="*/ 122 h 308"/>
                  <a:gd name="T34" fmla="*/ 284 w 308"/>
                  <a:gd name="T35" fmla="*/ 67 h 308"/>
                  <a:gd name="T36" fmla="*/ 242 w 308"/>
                  <a:gd name="T37" fmla="*/ 26 h 308"/>
                  <a:gd name="T38" fmla="*/ 186 w 308"/>
                  <a:gd name="T39" fmla="*/ 3 h 308"/>
                  <a:gd name="T40" fmla="*/ 154 w 308"/>
                  <a:gd name="T41" fmla="*/ 0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8" h="308">
                    <a:moveTo>
                      <a:pt x="154" y="0"/>
                    </a:moveTo>
                    <a:lnTo>
                      <a:pt x="124" y="3"/>
                    </a:lnTo>
                    <a:lnTo>
                      <a:pt x="67" y="26"/>
                    </a:lnTo>
                    <a:lnTo>
                      <a:pt x="26" y="67"/>
                    </a:lnTo>
                    <a:lnTo>
                      <a:pt x="3" y="122"/>
                    </a:lnTo>
                    <a:lnTo>
                      <a:pt x="0" y="154"/>
                    </a:lnTo>
                    <a:lnTo>
                      <a:pt x="3" y="185"/>
                    </a:lnTo>
                    <a:lnTo>
                      <a:pt x="26" y="240"/>
                    </a:lnTo>
                    <a:lnTo>
                      <a:pt x="67" y="283"/>
                    </a:lnTo>
                    <a:lnTo>
                      <a:pt x="124" y="307"/>
                    </a:lnTo>
                    <a:lnTo>
                      <a:pt x="154" y="308"/>
                    </a:lnTo>
                    <a:lnTo>
                      <a:pt x="186" y="307"/>
                    </a:lnTo>
                    <a:lnTo>
                      <a:pt x="242" y="283"/>
                    </a:lnTo>
                    <a:lnTo>
                      <a:pt x="284" y="240"/>
                    </a:lnTo>
                    <a:lnTo>
                      <a:pt x="307" y="185"/>
                    </a:lnTo>
                    <a:lnTo>
                      <a:pt x="308" y="154"/>
                    </a:lnTo>
                    <a:lnTo>
                      <a:pt x="307" y="122"/>
                    </a:lnTo>
                    <a:lnTo>
                      <a:pt x="284" y="67"/>
                    </a:lnTo>
                    <a:lnTo>
                      <a:pt x="242" y="26"/>
                    </a:lnTo>
                    <a:lnTo>
                      <a:pt x="186" y="3"/>
                    </a:lnTo>
                    <a:lnTo>
                      <a:pt x="15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6B67A043-8C1A-F8C3-C687-18D629C5C0F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747" y="423"/>
                <a:ext cx="575" cy="575"/>
              </a:xfrm>
              <a:custGeom>
                <a:avLst/>
                <a:gdLst>
                  <a:gd name="T0" fmla="*/ 819 w 1725"/>
                  <a:gd name="T1" fmla="*/ 2 h 1725"/>
                  <a:gd name="T2" fmla="*/ 647 w 1725"/>
                  <a:gd name="T3" fmla="*/ 28 h 1725"/>
                  <a:gd name="T4" fmla="*/ 489 w 1725"/>
                  <a:gd name="T5" fmla="*/ 85 h 1725"/>
                  <a:gd name="T6" fmla="*/ 346 w 1725"/>
                  <a:gd name="T7" fmla="*/ 172 h 1725"/>
                  <a:gd name="T8" fmla="*/ 223 w 1725"/>
                  <a:gd name="T9" fmla="*/ 283 h 1725"/>
                  <a:gd name="T10" fmla="*/ 124 w 1725"/>
                  <a:gd name="T11" fmla="*/ 415 h 1725"/>
                  <a:gd name="T12" fmla="*/ 52 w 1725"/>
                  <a:gd name="T13" fmla="*/ 567 h 1725"/>
                  <a:gd name="T14" fmla="*/ 10 w 1725"/>
                  <a:gd name="T15" fmla="*/ 731 h 1725"/>
                  <a:gd name="T16" fmla="*/ 0 w 1725"/>
                  <a:gd name="T17" fmla="*/ 863 h 1725"/>
                  <a:gd name="T18" fmla="*/ 10 w 1725"/>
                  <a:gd name="T19" fmla="*/ 994 h 1725"/>
                  <a:gd name="T20" fmla="*/ 52 w 1725"/>
                  <a:gd name="T21" fmla="*/ 1159 h 1725"/>
                  <a:gd name="T22" fmla="*/ 124 w 1725"/>
                  <a:gd name="T23" fmla="*/ 1310 h 1725"/>
                  <a:gd name="T24" fmla="*/ 223 w 1725"/>
                  <a:gd name="T25" fmla="*/ 1443 h 1725"/>
                  <a:gd name="T26" fmla="*/ 346 w 1725"/>
                  <a:gd name="T27" fmla="*/ 1553 h 1725"/>
                  <a:gd name="T28" fmla="*/ 489 w 1725"/>
                  <a:gd name="T29" fmla="*/ 1640 h 1725"/>
                  <a:gd name="T30" fmla="*/ 647 w 1725"/>
                  <a:gd name="T31" fmla="*/ 1698 h 1725"/>
                  <a:gd name="T32" fmla="*/ 819 w 1725"/>
                  <a:gd name="T33" fmla="*/ 1724 h 1725"/>
                  <a:gd name="T34" fmla="*/ 907 w 1725"/>
                  <a:gd name="T35" fmla="*/ 1724 h 1725"/>
                  <a:gd name="T36" fmla="*/ 1078 w 1725"/>
                  <a:gd name="T37" fmla="*/ 1698 h 1725"/>
                  <a:gd name="T38" fmla="*/ 1237 w 1725"/>
                  <a:gd name="T39" fmla="*/ 1640 h 1725"/>
                  <a:gd name="T40" fmla="*/ 1379 w 1725"/>
                  <a:gd name="T41" fmla="*/ 1553 h 1725"/>
                  <a:gd name="T42" fmla="*/ 1500 w 1725"/>
                  <a:gd name="T43" fmla="*/ 1443 h 1725"/>
                  <a:gd name="T44" fmla="*/ 1600 w 1725"/>
                  <a:gd name="T45" fmla="*/ 1310 h 1725"/>
                  <a:gd name="T46" fmla="*/ 1673 w 1725"/>
                  <a:gd name="T47" fmla="*/ 1159 h 1725"/>
                  <a:gd name="T48" fmla="*/ 1715 w 1725"/>
                  <a:gd name="T49" fmla="*/ 994 h 1725"/>
                  <a:gd name="T50" fmla="*/ 1725 w 1725"/>
                  <a:gd name="T51" fmla="*/ 863 h 1725"/>
                  <a:gd name="T52" fmla="*/ 1715 w 1725"/>
                  <a:gd name="T53" fmla="*/ 731 h 1725"/>
                  <a:gd name="T54" fmla="*/ 1673 w 1725"/>
                  <a:gd name="T55" fmla="*/ 567 h 1725"/>
                  <a:gd name="T56" fmla="*/ 1600 w 1725"/>
                  <a:gd name="T57" fmla="*/ 415 h 1725"/>
                  <a:gd name="T58" fmla="*/ 1500 w 1725"/>
                  <a:gd name="T59" fmla="*/ 283 h 1725"/>
                  <a:gd name="T60" fmla="*/ 1379 w 1725"/>
                  <a:gd name="T61" fmla="*/ 172 h 1725"/>
                  <a:gd name="T62" fmla="*/ 1237 w 1725"/>
                  <a:gd name="T63" fmla="*/ 85 h 1725"/>
                  <a:gd name="T64" fmla="*/ 1078 w 1725"/>
                  <a:gd name="T65" fmla="*/ 28 h 1725"/>
                  <a:gd name="T66" fmla="*/ 907 w 1725"/>
                  <a:gd name="T67" fmla="*/ 2 h 1725"/>
                  <a:gd name="T68" fmla="*/ 1381 w 1725"/>
                  <a:gd name="T69" fmla="*/ 1123 h 1725"/>
                  <a:gd name="T70" fmla="*/ 1369 w 1725"/>
                  <a:gd name="T71" fmla="*/ 1201 h 1725"/>
                  <a:gd name="T72" fmla="*/ 1322 w 1725"/>
                  <a:gd name="T73" fmla="*/ 1288 h 1725"/>
                  <a:gd name="T74" fmla="*/ 1244 w 1725"/>
                  <a:gd name="T75" fmla="*/ 1352 h 1725"/>
                  <a:gd name="T76" fmla="*/ 1146 w 1725"/>
                  <a:gd name="T77" fmla="*/ 1383 h 1725"/>
                  <a:gd name="T78" fmla="*/ 605 w 1725"/>
                  <a:gd name="T79" fmla="*/ 1383 h 1725"/>
                  <a:gd name="T80" fmla="*/ 527 w 1725"/>
                  <a:gd name="T81" fmla="*/ 1372 h 1725"/>
                  <a:gd name="T82" fmla="*/ 438 w 1725"/>
                  <a:gd name="T83" fmla="*/ 1324 h 1725"/>
                  <a:gd name="T84" fmla="*/ 375 w 1725"/>
                  <a:gd name="T85" fmla="*/ 1247 h 1725"/>
                  <a:gd name="T86" fmla="*/ 344 w 1725"/>
                  <a:gd name="T87" fmla="*/ 1149 h 1725"/>
                  <a:gd name="T88" fmla="*/ 343 w 1725"/>
                  <a:gd name="T89" fmla="*/ 608 h 1725"/>
                  <a:gd name="T90" fmla="*/ 355 w 1725"/>
                  <a:gd name="T91" fmla="*/ 531 h 1725"/>
                  <a:gd name="T92" fmla="*/ 404 w 1725"/>
                  <a:gd name="T93" fmla="*/ 441 h 1725"/>
                  <a:gd name="T94" fmla="*/ 480 w 1725"/>
                  <a:gd name="T95" fmla="*/ 378 h 1725"/>
                  <a:gd name="T96" fmla="*/ 578 w 1725"/>
                  <a:gd name="T97" fmla="*/ 348 h 1725"/>
                  <a:gd name="T98" fmla="*/ 1120 w 1725"/>
                  <a:gd name="T99" fmla="*/ 346 h 1725"/>
                  <a:gd name="T100" fmla="*/ 1198 w 1725"/>
                  <a:gd name="T101" fmla="*/ 358 h 1725"/>
                  <a:gd name="T102" fmla="*/ 1286 w 1725"/>
                  <a:gd name="T103" fmla="*/ 407 h 1725"/>
                  <a:gd name="T104" fmla="*/ 1350 w 1725"/>
                  <a:gd name="T105" fmla="*/ 483 h 1725"/>
                  <a:gd name="T106" fmla="*/ 1381 w 1725"/>
                  <a:gd name="T107" fmla="*/ 581 h 1725"/>
                  <a:gd name="T108" fmla="*/ 1381 w 1725"/>
                  <a:gd name="T109" fmla="*/ 1123 h 1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25" h="1725">
                    <a:moveTo>
                      <a:pt x="862" y="0"/>
                    </a:moveTo>
                    <a:lnTo>
                      <a:pt x="819" y="2"/>
                    </a:lnTo>
                    <a:lnTo>
                      <a:pt x="731" y="10"/>
                    </a:lnTo>
                    <a:lnTo>
                      <a:pt x="647" y="28"/>
                    </a:lnTo>
                    <a:lnTo>
                      <a:pt x="566" y="52"/>
                    </a:lnTo>
                    <a:lnTo>
                      <a:pt x="489" y="85"/>
                    </a:lnTo>
                    <a:lnTo>
                      <a:pt x="415" y="126"/>
                    </a:lnTo>
                    <a:lnTo>
                      <a:pt x="346" y="172"/>
                    </a:lnTo>
                    <a:lnTo>
                      <a:pt x="282" y="225"/>
                    </a:lnTo>
                    <a:lnTo>
                      <a:pt x="223" y="283"/>
                    </a:lnTo>
                    <a:lnTo>
                      <a:pt x="172" y="346"/>
                    </a:lnTo>
                    <a:lnTo>
                      <a:pt x="124" y="415"/>
                    </a:lnTo>
                    <a:lnTo>
                      <a:pt x="85" y="489"/>
                    </a:lnTo>
                    <a:lnTo>
                      <a:pt x="52" y="567"/>
                    </a:lnTo>
                    <a:lnTo>
                      <a:pt x="27" y="647"/>
                    </a:lnTo>
                    <a:lnTo>
                      <a:pt x="10" y="731"/>
                    </a:lnTo>
                    <a:lnTo>
                      <a:pt x="1" y="819"/>
                    </a:lnTo>
                    <a:lnTo>
                      <a:pt x="0" y="863"/>
                    </a:lnTo>
                    <a:lnTo>
                      <a:pt x="1" y="907"/>
                    </a:lnTo>
                    <a:lnTo>
                      <a:pt x="10" y="994"/>
                    </a:lnTo>
                    <a:lnTo>
                      <a:pt x="27" y="1078"/>
                    </a:lnTo>
                    <a:lnTo>
                      <a:pt x="52" y="1159"/>
                    </a:lnTo>
                    <a:lnTo>
                      <a:pt x="85" y="1237"/>
                    </a:lnTo>
                    <a:lnTo>
                      <a:pt x="124" y="1310"/>
                    </a:lnTo>
                    <a:lnTo>
                      <a:pt x="172" y="1379"/>
                    </a:lnTo>
                    <a:lnTo>
                      <a:pt x="223" y="1443"/>
                    </a:lnTo>
                    <a:lnTo>
                      <a:pt x="282" y="1502"/>
                    </a:lnTo>
                    <a:lnTo>
                      <a:pt x="346" y="1553"/>
                    </a:lnTo>
                    <a:lnTo>
                      <a:pt x="415" y="1601"/>
                    </a:lnTo>
                    <a:lnTo>
                      <a:pt x="489" y="1640"/>
                    </a:lnTo>
                    <a:lnTo>
                      <a:pt x="566" y="1673"/>
                    </a:lnTo>
                    <a:lnTo>
                      <a:pt x="647" y="1698"/>
                    </a:lnTo>
                    <a:lnTo>
                      <a:pt x="731" y="1715"/>
                    </a:lnTo>
                    <a:lnTo>
                      <a:pt x="819" y="1724"/>
                    </a:lnTo>
                    <a:lnTo>
                      <a:pt x="862" y="1725"/>
                    </a:lnTo>
                    <a:lnTo>
                      <a:pt x="907" y="1724"/>
                    </a:lnTo>
                    <a:lnTo>
                      <a:pt x="994" y="1715"/>
                    </a:lnTo>
                    <a:lnTo>
                      <a:pt x="1078" y="1698"/>
                    </a:lnTo>
                    <a:lnTo>
                      <a:pt x="1159" y="1673"/>
                    </a:lnTo>
                    <a:lnTo>
                      <a:pt x="1237" y="1640"/>
                    </a:lnTo>
                    <a:lnTo>
                      <a:pt x="1310" y="1601"/>
                    </a:lnTo>
                    <a:lnTo>
                      <a:pt x="1379" y="1553"/>
                    </a:lnTo>
                    <a:lnTo>
                      <a:pt x="1443" y="1502"/>
                    </a:lnTo>
                    <a:lnTo>
                      <a:pt x="1500" y="1443"/>
                    </a:lnTo>
                    <a:lnTo>
                      <a:pt x="1554" y="1379"/>
                    </a:lnTo>
                    <a:lnTo>
                      <a:pt x="1600" y="1310"/>
                    </a:lnTo>
                    <a:lnTo>
                      <a:pt x="1640" y="1237"/>
                    </a:lnTo>
                    <a:lnTo>
                      <a:pt x="1673" y="1159"/>
                    </a:lnTo>
                    <a:lnTo>
                      <a:pt x="1698" y="1078"/>
                    </a:lnTo>
                    <a:lnTo>
                      <a:pt x="1715" y="994"/>
                    </a:lnTo>
                    <a:lnTo>
                      <a:pt x="1724" y="907"/>
                    </a:lnTo>
                    <a:lnTo>
                      <a:pt x="1725" y="863"/>
                    </a:lnTo>
                    <a:lnTo>
                      <a:pt x="1724" y="819"/>
                    </a:lnTo>
                    <a:lnTo>
                      <a:pt x="1715" y="731"/>
                    </a:lnTo>
                    <a:lnTo>
                      <a:pt x="1698" y="647"/>
                    </a:lnTo>
                    <a:lnTo>
                      <a:pt x="1673" y="567"/>
                    </a:lnTo>
                    <a:lnTo>
                      <a:pt x="1640" y="489"/>
                    </a:lnTo>
                    <a:lnTo>
                      <a:pt x="1600" y="415"/>
                    </a:lnTo>
                    <a:lnTo>
                      <a:pt x="1554" y="346"/>
                    </a:lnTo>
                    <a:lnTo>
                      <a:pt x="1500" y="283"/>
                    </a:lnTo>
                    <a:lnTo>
                      <a:pt x="1443" y="225"/>
                    </a:lnTo>
                    <a:lnTo>
                      <a:pt x="1379" y="172"/>
                    </a:lnTo>
                    <a:lnTo>
                      <a:pt x="1310" y="126"/>
                    </a:lnTo>
                    <a:lnTo>
                      <a:pt x="1237" y="85"/>
                    </a:lnTo>
                    <a:lnTo>
                      <a:pt x="1159" y="52"/>
                    </a:lnTo>
                    <a:lnTo>
                      <a:pt x="1078" y="28"/>
                    </a:lnTo>
                    <a:lnTo>
                      <a:pt x="994" y="10"/>
                    </a:lnTo>
                    <a:lnTo>
                      <a:pt x="907" y="2"/>
                    </a:lnTo>
                    <a:lnTo>
                      <a:pt x="862" y="0"/>
                    </a:lnTo>
                    <a:close/>
                    <a:moveTo>
                      <a:pt x="1381" y="1123"/>
                    </a:moveTo>
                    <a:lnTo>
                      <a:pt x="1381" y="1149"/>
                    </a:lnTo>
                    <a:lnTo>
                      <a:pt x="1369" y="1201"/>
                    </a:lnTo>
                    <a:lnTo>
                      <a:pt x="1350" y="1247"/>
                    </a:lnTo>
                    <a:lnTo>
                      <a:pt x="1322" y="1288"/>
                    </a:lnTo>
                    <a:lnTo>
                      <a:pt x="1286" y="1324"/>
                    </a:lnTo>
                    <a:lnTo>
                      <a:pt x="1244" y="1352"/>
                    </a:lnTo>
                    <a:lnTo>
                      <a:pt x="1198" y="1372"/>
                    </a:lnTo>
                    <a:lnTo>
                      <a:pt x="1146" y="1383"/>
                    </a:lnTo>
                    <a:lnTo>
                      <a:pt x="1120" y="1383"/>
                    </a:lnTo>
                    <a:lnTo>
                      <a:pt x="605" y="1383"/>
                    </a:lnTo>
                    <a:lnTo>
                      <a:pt x="578" y="1383"/>
                    </a:lnTo>
                    <a:lnTo>
                      <a:pt x="527" y="1372"/>
                    </a:lnTo>
                    <a:lnTo>
                      <a:pt x="480" y="1352"/>
                    </a:lnTo>
                    <a:lnTo>
                      <a:pt x="438" y="1324"/>
                    </a:lnTo>
                    <a:lnTo>
                      <a:pt x="404" y="1288"/>
                    </a:lnTo>
                    <a:lnTo>
                      <a:pt x="375" y="1247"/>
                    </a:lnTo>
                    <a:lnTo>
                      <a:pt x="355" y="1201"/>
                    </a:lnTo>
                    <a:lnTo>
                      <a:pt x="344" y="1149"/>
                    </a:lnTo>
                    <a:lnTo>
                      <a:pt x="343" y="1123"/>
                    </a:lnTo>
                    <a:lnTo>
                      <a:pt x="343" y="608"/>
                    </a:lnTo>
                    <a:lnTo>
                      <a:pt x="344" y="581"/>
                    </a:lnTo>
                    <a:lnTo>
                      <a:pt x="355" y="531"/>
                    </a:lnTo>
                    <a:lnTo>
                      <a:pt x="375" y="483"/>
                    </a:lnTo>
                    <a:lnTo>
                      <a:pt x="404" y="441"/>
                    </a:lnTo>
                    <a:lnTo>
                      <a:pt x="438" y="407"/>
                    </a:lnTo>
                    <a:lnTo>
                      <a:pt x="480" y="378"/>
                    </a:lnTo>
                    <a:lnTo>
                      <a:pt x="527" y="358"/>
                    </a:lnTo>
                    <a:lnTo>
                      <a:pt x="578" y="348"/>
                    </a:lnTo>
                    <a:lnTo>
                      <a:pt x="605" y="346"/>
                    </a:lnTo>
                    <a:lnTo>
                      <a:pt x="1120" y="346"/>
                    </a:lnTo>
                    <a:lnTo>
                      <a:pt x="1146" y="348"/>
                    </a:lnTo>
                    <a:lnTo>
                      <a:pt x="1198" y="358"/>
                    </a:lnTo>
                    <a:lnTo>
                      <a:pt x="1244" y="378"/>
                    </a:lnTo>
                    <a:lnTo>
                      <a:pt x="1286" y="407"/>
                    </a:lnTo>
                    <a:lnTo>
                      <a:pt x="1322" y="441"/>
                    </a:lnTo>
                    <a:lnTo>
                      <a:pt x="1350" y="483"/>
                    </a:lnTo>
                    <a:lnTo>
                      <a:pt x="1369" y="531"/>
                    </a:lnTo>
                    <a:lnTo>
                      <a:pt x="1381" y="581"/>
                    </a:lnTo>
                    <a:lnTo>
                      <a:pt x="1381" y="608"/>
                    </a:lnTo>
                    <a:lnTo>
                      <a:pt x="1381" y="11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ko-KR" altLang="en-US" sz="12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3" name="Freeform 30">
              <a:extLst>
                <a:ext uri="{FF2B5EF4-FFF2-40B4-BE49-F238E27FC236}">
                  <a16:creationId xmlns:a16="http://schemas.microsoft.com/office/drawing/2014/main" id="{AD919A74-A230-8024-C3EA-FCC596C8918C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538978" y="450601"/>
              <a:ext cx="106209" cy="201573"/>
            </a:xfrm>
            <a:custGeom>
              <a:avLst/>
              <a:gdLst>
                <a:gd name="T0" fmla="*/ 586 w 851"/>
                <a:gd name="T1" fmla="*/ 92 h 1617"/>
                <a:gd name="T2" fmla="*/ 258 w 851"/>
                <a:gd name="T3" fmla="*/ 0 h 1617"/>
                <a:gd name="T4" fmla="*/ 140 w 851"/>
                <a:gd name="T5" fmla="*/ 92 h 1617"/>
                <a:gd name="T6" fmla="*/ 61 w 851"/>
                <a:gd name="T7" fmla="*/ 117 h 1617"/>
                <a:gd name="T8" fmla="*/ 1 w 851"/>
                <a:gd name="T9" fmla="*/ 205 h 1617"/>
                <a:gd name="T10" fmla="*/ 0 w 851"/>
                <a:gd name="T11" fmla="*/ 1477 h 1617"/>
                <a:gd name="T12" fmla="*/ 23 w 851"/>
                <a:gd name="T13" fmla="*/ 1556 h 1617"/>
                <a:gd name="T14" fmla="*/ 111 w 851"/>
                <a:gd name="T15" fmla="*/ 1615 h 1617"/>
                <a:gd name="T16" fmla="*/ 711 w 851"/>
                <a:gd name="T17" fmla="*/ 1617 h 1617"/>
                <a:gd name="T18" fmla="*/ 790 w 851"/>
                <a:gd name="T19" fmla="*/ 1594 h 1617"/>
                <a:gd name="T20" fmla="*/ 850 w 851"/>
                <a:gd name="T21" fmla="*/ 1506 h 1617"/>
                <a:gd name="T22" fmla="*/ 851 w 851"/>
                <a:gd name="T23" fmla="*/ 233 h 1617"/>
                <a:gd name="T24" fmla="*/ 828 w 851"/>
                <a:gd name="T25" fmla="*/ 154 h 1617"/>
                <a:gd name="T26" fmla="*/ 740 w 851"/>
                <a:gd name="T27" fmla="*/ 95 h 1617"/>
                <a:gd name="T28" fmla="*/ 757 w 851"/>
                <a:gd name="T29" fmla="*/ 1477 h 1617"/>
                <a:gd name="T30" fmla="*/ 750 w 851"/>
                <a:gd name="T31" fmla="*/ 1503 h 1617"/>
                <a:gd name="T32" fmla="*/ 721 w 851"/>
                <a:gd name="T33" fmla="*/ 1523 h 1617"/>
                <a:gd name="T34" fmla="*/ 140 w 851"/>
                <a:gd name="T35" fmla="*/ 1525 h 1617"/>
                <a:gd name="T36" fmla="*/ 114 w 851"/>
                <a:gd name="T37" fmla="*/ 1516 h 1617"/>
                <a:gd name="T38" fmla="*/ 94 w 851"/>
                <a:gd name="T39" fmla="*/ 1487 h 1617"/>
                <a:gd name="T40" fmla="*/ 94 w 851"/>
                <a:gd name="T41" fmla="*/ 233 h 1617"/>
                <a:gd name="T42" fmla="*/ 101 w 851"/>
                <a:gd name="T43" fmla="*/ 206 h 1617"/>
                <a:gd name="T44" fmla="*/ 131 w 851"/>
                <a:gd name="T45" fmla="*/ 187 h 1617"/>
                <a:gd name="T46" fmla="*/ 711 w 851"/>
                <a:gd name="T47" fmla="*/ 186 h 1617"/>
                <a:gd name="T48" fmla="*/ 737 w 851"/>
                <a:gd name="T49" fmla="*/ 194 h 1617"/>
                <a:gd name="T50" fmla="*/ 757 w 851"/>
                <a:gd name="T51" fmla="*/ 223 h 1617"/>
                <a:gd name="T52" fmla="*/ 757 w 851"/>
                <a:gd name="T53" fmla="*/ 1477 h 1617"/>
                <a:gd name="T54" fmla="*/ 144 w 851"/>
                <a:gd name="T55" fmla="*/ 1468 h 1617"/>
                <a:gd name="T56" fmla="*/ 707 w 851"/>
                <a:gd name="T57" fmla="*/ 1264 h 1617"/>
                <a:gd name="T58" fmla="*/ 707 w 851"/>
                <a:gd name="T59" fmla="*/ 1213 h 1617"/>
                <a:gd name="T60" fmla="*/ 144 w 851"/>
                <a:gd name="T61" fmla="*/ 1009 h 1617"/>
                <a:gd name="T62" fmla="*/ 707 w 851"/>
                <a:gd name="T63" fmla="*/ 1213 h 1617"/>
                <a:gd name="T64" fmla="*/ 144 w 851"/>
                <a:gd name="T65" fmla="*/ 958 h 1617"/>
                <a:gd name="T66" fmla="*/ 707 w 851"/>
                <a:gd name="T67" fmla="*/ 754 h 1617"/>
                <a:gd name="T68" fmla="*/ 707 w 851"/>
                <a:gd name="T69" fmla="*/ 703 h 1617"/>
                <a:gd name="T70" fmla="*/ 144 w 851"/>
                <a:gd name="T71" fmla="*/ 499 h 1617"/>
                <a:gd name="T72" fmla="*/ 707 w 851"/>
                <a:gd name="T73" fmla="*/ 703 h 1617"/>
                <a:gd name="T74" fmla="*/ 144 w 851"/>
                <a:gd name="T75" fmla="*/ 448 h 1617"/>
                <a:gd name="T76" fmla="*/ 707 w 851"/>
                <a:gd name="T77" fmla="*/ 243 h 1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1" h="1617">
                  <a:moveTo>
                    <a:pt x="711" y="92"/>
                  </a:moveTo>
                  <a:lnTo>
                    <a:pt x="586" y="92"/>
                  </a:lnTo>
                  <a:lnTo>
                    <a:pt x="586" y="0"/>
                  </a:lnTo>
                  <a:lnTo>
                    <a:pt x="258" y="0"/>
                  </a:lnTo>
                  <a:lnTo>
                    <a:pt x="258" y="92"/>
                  </a:lnTo>
                  <a:lnTo>
                    <a:pt x="140" y="92"/>
                  </a:lnTo>
                  <a:lnTo>
                    <a:pt x="111" y="95"/>
                  </a:lnTo>
                  <a:lnTo>
                    <a:pt x="61" y="117"/>
                  </a:lnTo>
                  <a:lnTo>
                    <a:pt x="23" y="154"/>
                  </a:lnTo>
                  <a:lnTo>
                    <a:pt x="1" y="205"/>
                  </a:lnTo>
                  <a:lnTo>
                    <a:pt x="0" y="233"/>
                  </a:lnTo>
                  <a:lnTo>
                    <a:pt x="0" y="1477"/>
                  </a:lnTo>
                  <a:lnTo>
                    <a:pt x="1" y="1506"/>
                  </a:lnTo>
                  <a:lnTo>
                    <a:pt x="23" y="1556"/>
                  </a:lnTo>
                  <a:lnTo>
                    <a:pt x="61" y="1594"/>
                  </a:lnTo>
                  <a:lnTo>
                    <a:pt x="111" y="1615"/>
                  </a:lnTo>
                  <a:lnTo>
                    <a:pt x="140" y="1617"/>
                  </a:lnTo>
                  <a:lnTo>
                    <a:pt x="711" y="1617"/>
                  </a:lnTo>
                  <a:lnTo>
                    <a:pt x="740" y="1615"/>
                  </a:lnTo>
                  <a:lnTo>
                    <a:pt x="790" y="1594"/>
                  </a:lnTo>
                  <a:lnTo>
                    <a:pt x="828" y="1556"/>
                  </a:lnTo>
                  <a:lnTo>
                    <a:pt x="850" y="1506"/>
                  </a:lnTo>
                  <a:lnTo>
                    <a:pt x="851" y="1477"/>
                  </a:lnTo>
                  <a:lnTo>
                    <a:pt x="851" y="233"/>
                  </a:lnTo>
                  <a:lnTo>
                    <a:pt x="850" y="205"/>
                  </a:lnTo>
                  <a:lnTo>
                    <a:pt x="828" y="154"/>
                  </a:lnTo>
                  <a:lnTo>
                    <a:pt x="790" y="117"/>
                  </a:lnTo>
                  <a:lnTo>
                    <a:pt x="740" y="95"/>
                  </a:lnTo>
                  <a:lnTo>
                    <a:pt x="711" y="92"/>
                  </a:lnTo>
                  <a:close/>
                  <a:moveTo>
                    <a:pt x="757" y="1477"/>
                  </a:moveTo>
                  <a:lnTo>
                    <a:pt x="757" y="1487"/>
                  </a:lnTo>
                  <a:lnTo>
                    <a:pt x="750" y="1503"/>
                  </a:lnTo>
                  <a:lnTo>
                    <a:pt x="737" y="1516"/>
                  </a:lnTo>
                  <a:lnTo>
                    <a:pt x="721" y="1523"/>
                  </a:lnTo>
                  <a:lnTo>
                    <a:pt x="711" y="1525"/>
                  </a:lnTo>
                  <a:lnTo>
                    <a:pt x="140" y="1525"/>
                  </a:lnTo>
                  <a:lnTo>
                    <a:pt x="131" y="1523"/>
                  </a:lnTo>
                  <a:lnTo>
                    <a:pt x="114" y="1516"/>
                  </a:lnTo>
                  <a:lnTo>
                    <a:pt x="101" y="1503"/>
                  </a:lnTo>
                  <a:lnTo>
                    <a:pt x="94" y="1487"/>
                  </a:lnTo>
                  <a:lnTo>
                    <a:pt x="94" y="1477"/>
                  </a:lnTo>
                  <a:lnTo>
                    <a:pt x="94" y="233"/>
                  </a:lnTo>
                  <a:lnTo>
                    <a:pt x="94" y="223"/>
                  </a:lnTo>
                  <a:lnTo>
                    <a:pt x="101" y="206"/>
                  </a:lnTo>
                  <a:lnTo>
                    <a:pt x="114" y="194"/>
                  </a:lnTo>
                  <a:lnTo>
                    <a:pt x="131" y="187"/>
                  </a:lnTo>
                  <a:lnTo>
                    <a:pt x="140" y="186"/>
                  </a:lnTo>
                  <a:lnTo>
                    <a:pt x="711" y="186"/>
                  </a:lnTo>
                  <a:lnTo>
                    <a:pt x="721" y="187"/>
                  </a:lnTo>
                  <a:lnTo>
                    <a:pt x="737" y="194"/>
                  </a:lnTo>
                  <a:lnTo>
                    <a:pt x="750" y="206"/>
                  </a:lnTo>
                  <a:lnTo>
                    <a:pt x="757" y="223"/>
                  </a:lnTo>
                  <a:lnTo>
                    <a:pt x="757" y="233"/>
                  </a:lnTo>
                  <a:lnTo>
                    <a:pt x="757" y="1477"/>
                  </a:lnTo>
                  <a:close/>
                  <a:moveTo>
                    <a:pt x="707" y="1468"/>
                  </a:moveTo>
                  <a:lnTo>
                    <a:pt x="144" y="1468"/>
                  </a:lnTo>
                  <a:lnTo>
                    <a:pt x="144" y="1264"/>
                  </a:lnTo>
                  <a:lnTo>
                    <a:pt x="707" y="1264"/>
                  </a:lnTo>
                  <a:lnTo>
                    <a:pt x="707" y="1468"/>
                  </a:lnTo>
                  <a:close/>
                  <a:moveTo>
                    <a:pt x="707" y="1213"/>
                  </a:moveTo>
                  <a:lnTo>
                    <a:pt x="144" y="1213"/>
                  </a:lnTo>
                  <a:lnTo>
                    <a:pt x="144" y="1009"/>
                  </a:lnTo>
                  <a:lnTo>
                    <a:pt x="707" y="1009"/>
                  </a:lnTo>
                  <a:lnTo>
                    <a:pt x="707" y="1213"/>
                  </a:lnTo>
                  <a:close/>
                  <a:moveTo>
                    <a:pt x="707" y="958"/>
                  </a:moveTo>
                  <a:lnTo>
                    <a:pt x="144" y="958"/>
                  </a:lnTo>
                  <a:lnTo>
                    <a:pt x="144" y="754"/>
                  </a:lnTo>
                  <a:lnTo>
                    <a:pt x="707" y="754"/>
                  </a:lnTo>
                  <a:lnTo>
                    <a:pt x="707" y="958"/>
                  </a:lnTo>
                  <a:close/>
                  <a:moveTo>
                    <a:pt x="707" y="703"/>
                  </a:moveTo>
                  <a:lnTo>
                    <a:pt x="144" y="703"/>
                  </a:lnTo>
                  <a:lnTo>
                    <a:pt x="144" y="499"/>
                  </a:lnTo>
                  <a:lnTo>
                    <a:pt x="707" y="499"/>
                  </a:lnTo>
                  <a:lnTo>
                    <a:pt x="707" y="703"/>
                  </a:lnTo>
                  <a:close/>
                  <a:moveTo>
                    <a:pt x="707" y="448"/>
                  </a:moveTo>
                  <a:lnTo>
                    <a:pt x="144" y="448"/>
                  </a:lnTo>
                  <a:lnTo>
                    <a:pt x="144" y="243"/>
                  </a:lnTo>
                  <a:lnTo>
                    <a:pt x="707" y="243"/>
                  </a:lnTo>
                  <a:lnTo>
                    <a:pt x="707" y="4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41B474B-731A-F556-D743-ABC24C37B577}"/>
                </a:ext>
              </a:extLst>
            </p:cNvPr>
            <p:cNvSpPr/>
            <p:nvPr/>
          </p:nvSpPr>
          <p:spPr>
            <a:xfrm>
              <a:off x="11179339" y="469971"/>
              <a:ext cx="343364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100%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B7F375F1-BE01-BA67-C521-472AAD60E9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70817" y="498283"/>
              <a:ext cx="135897" cy="106209"/>
            </a:xfrm>
            <a:custGeom>
              <a:avLst/>
              <a:gdLst>
                <a:gd name="T0" fmla="*/ 2528 w 5492"/>
                <a:gd name="T1" fmla="*/ 3685 h 4293"/>
                <a:gd name="T2" fmla="*/ 2403 w 5492"/>
                <a:gd name="T3" fmla="*/ 3950 h 4293"/>
                <a:gd name="T4" fmla="*/ 2527 w 5492"/>
                <a:gd name="T5" fmla="*/ 4215 h 4293"/>
                <a:gd name="T6" fmla="*/ 2783 w 5492"/>
                <a:gd name="T7" fmla="*/ 4293 h 4293"/>
                <a:gd name="T8" fmla="*/ 3051 w 5492"/>
                <a:gd name="T9" fmla="*/ 4114 h 4293"/>
                <a:gd name="T10" fmla="*/ 3077 w 5492"/>
                <a:gd name="T11" fmla="*/ 3848 h 4293"/>
                <a:gd name="T12" fmla="*/ 2849 w 5492"/>
                <a:gd name="T13" fmla="*/ 3622 h 4293"/>
                <a:gd name="T14" fmla="*/ 5194 w 5492"/>
                <a:gd name="T15" fmla="*/ 852 h 4293"/>
                <a:gd name="T16" fmla="*/ 4431 w 5492"/>
                <a:gd name="T17" fmla="*/ 373 h 4293"/>
                <a:gd name="T18" fmla="*/ 3574 w 5492"/>
                <a:gd name="T19" fmla="*/ 85 h 4293"/>
                <a:gd name="T20" fmla="*/ 2746 w 5492"/>
                <a:gd name="T21" fmla="*/ 0 h 4293"/>
                <a:gd name="T22" fmla="*/ 1919 w 5492"/>
                <a:gd name="T23" fmla="*/ 85 h 4293"/>
                <a:gd name="T24" fmla="*/ 1060 w 5492"/>
                <a:gd name="T25" fmla="*/ 373 h 4293"/>
                <a:gd name="T26" fmla="*/ 299 w 5492"/>
                <a:gd name="T27" fmla="*/ 852 h 4293"/>
                <a:gd name="T28" fmla="*/ 12 w 5492"/>
                <a:gd name="T29" fmla="*/ 1157 h 4293"/>
                <a:gd name="T30" fmla="*/ 71 w 5492"/>
                <a:gd name="T31" fmla="*/ 1432 h 4293"/>
                <a:gd name="T32" fmla="*/ 288 w 5492"/>
                <a:gd name="T33" fmla="*/ 1543 h 4293"/>
                <a:gd name="T34" fmla="*/ 522 w 5492"/>
                <a:gd name="T35" fmla="*/ 1477 h 4293"/>
                <a:gd name="T36" fmla="*/ 958 w 5492"/>
                <a:gd name="T37" fmla="*/ 1134 h 4293"/>
                <a:gd name="T38" fmla="*/ 1625 w 5492"/>
                <a:gd name="T39" fmla="*/ 813 h 4293"/>
                <a:gd name="T40" fmla="*/ 2746 w 5492"/>
                <a:gd name="T41" fmla="*/ 633 h 4293"/>
                <a:gd name="T42" fmla="*/ 3868 w 5492"/>
                <a:gd name="T43" fmla="*/ 813 h 4293"/>
                <a:gd name="T44" fmla="*/ 4534 w 5492"/>
                <a:gd name="T45" fmla="*/ 1134 h 4293"/>
                <a:gd name="T46" fmla="*/ 4969 w 5492"/>
                <a:gd name="T47" fmla="*/ 1477 h 4293"/>
                <a:gd name="T48" fmla="*/ 5263 w 5492"/>
                <a:gd name="T49" fmla="*/ 1532 h 4293"/>
                <a:gd name="T50" fmla="*/ 5456 w 5492"/>
                <a:gd name="T51" fmla="*/ 1383 h 4293"/>
                <a:gd name="T52" fmla="*/ 5456 w 5492"/>
                <a:gd name="T53" fmla="*/ 1102 h 4293"/>
                <a:gd name="T54" fmla="*/ 2332 w 5492"/>
                <a:gd name="T55" fmla="*/ 1230 h 4293"/>
                <a:gd name="T56" fmla="*/ 1094 w 5492"/>
                <a:gd name="T57" fmla="*/ 1739 h 4293"/>
                <a:gd name="T58" fmla="*/ 698 w 5492"/>
                <a:gd name="T59" fmla="*/ 2148 h 4293"/>
                <a:gd name="T60" fmla="*/ 759 w 5492"/>
                <a:gd name="T61" fmla="*/ 2452 h 4293"/>
                <a:gd name="T62" fmla="*/ 987 w 5492"/>
                <a:gd name="T63" fmla="*/ 2574 h 4293"/>
                <a:gd name="T64" fmla="*/ 1230 w 5492"/>
                <a:gd name="T65" fmla="*/ 2501 h 4293"/>
                <a:gd name="T66" fmla="*/ 1844 w 5492"/>
                <a:gd name="T67" fmla="*/ 2056 h 4293"/>
                <a:gd name="T68" fmla="*/ 2743 w 5492"/>
                <a:gd name="T69" fmla="*/ 1844 h 4293"/>
                <a:gd name="T70" fmla="*/ 3643 w 5492"/>
                <a:gd name="T71" fmla="*/ 2056 h 4293"/>
                <a:gd name="T72" fmla="*/ 4255 w 5492"/>
                <a:gd name="T73" fmla="*/ 2501 h 4293"/>
                <a:gd name="T74" fmla="*/ 4562 w 5492"/>
                <a:gd name="T75" fmla="*/ 2561 h 4293"/>
                <a:gd name="T76" fmla="*/ 4763 w 5492"/>
                <a:gd name="T77" fmla="*/ 2397 h 4293"/>
                <a:gd name="T78" fmla="*/ 4763 w 5492"/>
                <a:gd name="T79" fmla="*/ 2088 h 4293"/>
                <a:gd name="T80" fmla="*/ 4167 w 5492"/>
                <a:gd name="T81" fmla="*/ 1589 h 4293"/>
                <a:gd name="T82" fmla="*/ 2881 w 5492"/>
                <a:gd name="T83" fmla="*/ 1203 h 4293"/>
                <a:gd name="T84" fmla="*/ 2362 w 5492"/>
                <a:gd name="T85" fmla="*/ 2451 h 4293"/>
                <a:gd name="T86" fmla="*/ 1694 w 5492"/>
                <a:gd name="T87" fmla="*/ 2819 h 4293"/>
                <a:gd name="T88" fmla="*/ 1546 w 5492"/>
                <a:gd name="T89" fmla="*/ 3074 h 4293"/>
                <a:gd name="T90" fmla="*/ 1637 w 5492"/>
                <a:gd name="T91" fmla="*/ 3334 h 4293"/>
                <a:gd name="T92" fmla="*/ 1860 w 5492"/>
                <a:gd name="T93" fmla="*/ 3429 h 4293"/>
                <a:gd name="T94" fmla="*/ 2082 w 5492"/>
                <a:gd name="T95" fmla="*/ 3334 h 4293"/>
                <a:gd name="T96" fmla="*/ 2429 w 5492"/>
                <a:gd name="T97" fmla="*/ 3100 h 4293"/>
                <a:gd name="T98" fmla="*/ 2793 w 5492"/>
                <a:gd name="T99" fmla="*/ 3040 h 4293"/>
                <a:gd name="T100" fmla="*/ 3228 w 5492"/>
                <a:gd name="T101" fmla="*/ 3184 h 4293"/>
                <a:gd name="T102" fmla="*/ 3487 w 5492"/>
                <a:gd name="T103" fmla="*/ 3393 h 4293"/>
                <a:gd name="T104" fmla="*/ 3780 w 5492"/>
                <a:gd name="T105" fmla="*/ 3393 h 4293"/>
                <a:gd name="T106" fmla="*/ 3934 w 5492"/>
                <a:gd name="T107" fmla="*/ 3197 h 4293"/>
                <a:gd name="T108" fmla="*/ 3878 w 5492"/>
                <a:gd name="T109" fmla="*/ 2900 h 4293"/>
                <a:gd name="T110" fmla="*/ 3417 w 5492"/>
                <a:gd name="T111" fmla="*/ 2556 h 4293"/>
                <a:gd name="T112" fmla="*/ 2746 w 5492"/>
                <a:gd name="T113" fmla="*/ 2403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492" h="4293">
                  <a:moveTo>
                    <a:pt x="2747" y="3607"/>
                  </a:moveTo>
                  <a:lnTo>
                    <a:pt x="2711" y="3609"/>
                  </a:lnTo>
                  <a:lnTo>
                    <a:pt x="2645" y="3622"/>
                  </a:lnTo>
                  <a:lnTo>
                    <a:pt x="2583" y="3649"/>
                  </a:lnTo>
                  <a:lnTo>
                    <a:pt x="2528" y="3685"/>
                  </a:lnTo>
                  <a:lnTo>
                    <a:pt x="2481" y="3733"/>
                  </a:lnTo>
                  <a:lnTo>
                    <a:pt x="2443" y="3787"/>
                  </a:lnTo>
                  <a:lnTo>
                    <a:pt x="2417" y="3848"/>
                  </a:lnTo>
                  <a:lnTo>
                    <a:pt x="2403" y="3916"/>
                  </a:lnTo>
                  <a:lnTo>
                    <a:pt x="2403" y="3950"/>
                  </a:lnTo>
                  <a:lnTo>
                    <a:pt x="2403" y="3986"/>
                  </a:lnTo>
                  <a:lnTo>
                    <a:pt x="2417" y="4052"/>
                  </a:lnTo>
                  <a:lnTo>
                    <a:pt x="2443" y="4114"/>
                  </a:lnTo>
                  <a:lnTo>
                    <a:pt x="2481" y="4169"/>
                  </a:lnTo>
                  <a:lnTo>
                    <a:pt x="2527" y="4215"/>
                  </a:lnTo>
                  <a:lnTo>
                    <a:pt x="2583" y="4253"/>
                  </a:lnTo>
                  <a:lnTo>
                    <a:pt x="2645" y="4279"/>
                  </a:lnTo>
                  <a:lnTo>
                    <a:pt x="2711" y="4293"/>
                  </a:lnTo>
                  <a:lnTo>
                    <a:pt x="2747" y="4293"/>
                  </a:lnTo>
                  <a:lnTo>
                    <a:pt x="2783" y="4293"/>
                  </a:lnTo>
                  <a:lnTo>
                    <a:pt x="2849" y="4279"/>
                  </a:lnTo>
                  <a:lnTo>
                    <a:pt x="2911" y="4253"/>
                  </a:lnTo>
                  <a:lnTo>
                    <a:pt x="2966" y="4215"/>
                  </a:lnTo>
                  <a:lnTo>
                    <a:pt x="3013" y="4169"/>
                  </a:lnTo>
                  <a:lnTo>
                    <a:pt x="3051" y="4114"/>
                  </a:lnTo>
                  <a:lnTo>
                    <a:pt x="3077" y="4052"/>
                  </a:lnTo>
                  <a:lnTo>
                    <a:pt x="3090" y="3986"/>
                  </a:lnTo>
                  <a:lnTo>
                    <a:pt x="3091" y="3950"/>
                  </a:lnTo>
                  <a:lnTo>
                    <a:pt x="3090" y="3916"/>
                  </a:lnTo>
                  <a:lnTo>
                    <a:pt x="3077" y="3848"/>
                  </a:lnTo>
                  <a:lnTo>
                    <a:pt x="3051" y="3787"/>
                  </a:lnTo>
                  <a:lnTo>
                    <a:pt x="3013" y="3733"/>
                  </a:lnTo>
                  <a:lnTo>
                    <a:pt x="2966" y="3685"/>
                  </a:lnTo>
                  <a:lnTo>
                    <a:pt x="2911" y="3648"/>
                  </a:lnTo>
                  <a:lnTo>
                    <a:pt x="2849" y="3622"/>
                  </a:lnTo>
                  <a:lnTo>
                    <a:pt x="2783" y="3609"/>
                  </a:lnTo>
                  <a:lnTo>
                    <a:pt x="2747" y="3607"/>
                  </a:lnTo>
                  <a:close/>
                  <a:moveTo>
                    <a:pt x="5399" y="1030"/>
                  </a:moveTo>
                  <a:lnTo>
                    <a:pt x="5332" y="968"/>
                  </a:lnTo>
                  <a:lnTo>
                    <a:pt x="5194" y="852"/>
                  </a:lnTo>
                  <a:lnTo>
                    <a:pt x="5050" y="741"/>
                  </a:lnTo>
                  <a:lnTo>
                    <a:pt x="4902" y="638"/>
                  </a:lnTo>
                  <a:lnTo>
                    <a:pt x="4749" y="542"/>
                  </a:lnTo>
                  <a:lnTo>
                    <a:pt x="4592" y="454"/>
                  </a:lnTo>
                  <a:lnTo>
                    <a:pt x="4431" y="373"/>
                  </a:lnTo>
                  <a:lnTo>
                    <a:pt x="4266" y="300"/>
                  </a:lnTo>
                  <a:lnTo>
                    <a:pt x="4098" y="235"/>
                  </a:lnTo>
                  <a:lnTo>
                    <a:pt x="3927" y="178"/>
                  </a:lnTo>
                  <a:lnTo>
                    <a:pt x="3751" y="127"/>
                  </a:lnTo>
                  <a:lnTo>
                    <a:pt x="3574" y="85"/>
                  </a:lnTo>
                  <a:lnTo>
                    <a:pt x="3394" y="52"/>
                  </a:lnTo>
                  <a:lnTo>
                    <a:pt x="3211" y="26"/>
                  </a:lnTo>
                  <a:lnTo>
                    <a:pt x="3026" y="10"/>
                  </a:lnTo>
                  <a:lnTo>
                    <a:pt x="2839" y="2"/>
                  </a:lnTo>
                  <a:lnTo>
                    <a:pt x="2746" y="0"/>
                  </a:lnTo>
                  <a:lnTo>
                    <a:pt x="2652" y="2"/>
                  </a:lnTo>
                  <a:lnTo>
                    <a:pt x="2466" y="10"/>
                  </a:lnTo>
                  <a:lnTo>
                    <a:pt x="2282" y="26"/>
                  </a:lnTo>
                  <a:lnTo>
                    <a:pt x="2099" y="52"/>
                  </a:lnTo>
                  <a:lnTo>
                    <a:pt x="1919" y="85"/>
                  </a:lnTo>
                  <a:lnTo>
                    <a:pt x="1740" y="127"/>
                  </a:lnTo>
                  <a:lnTo>
                    <a:pt x="1566" y="178"/>
                  </a:lnTo>
                  <a:lnTo>
                    <a:pt x="1395" y="235"/>
                  </a:lnTo>
                  <a:lnTo>
                    <a:pt x="1226" y="300"/>
                  </a:lnTo>
                  <a:lnTo>
                    <a:pt x="1060" y="373"/>
                  </a:lnTo>
                  <a:lnTo>
                    <a:pt x="899" y="454"/>
                  </a:lnTo>
                  <a:lnTo>
                    <a:pt x="742" y="542"/>
                  </a:lnTo>
                  <a:lnTo>
                    <a:pt x="590" y="638"/>
                  </a:lnTo>
                  <a:lnTo>
                    <a:pt x="441" y="741"/>
                  </a:lnTo>
                  <a:lnTo>
                    <a:pt x="299" y="852"/>
                  </a:lnTo>
                  <a:lnTo>
                    <a:pt x="160" y="970"/>
                  </a:lnTo>
                  <a:lnTo>
                    <a:pt x="93" y="1030"/>
                  </a:lnTo>
                  <a:lnTo>
                    <a:pt x="71" y="1053"/>
                  </a:lnTo>
                  <a:lnTo>
                    <a:pt x="35" y="1104"/>
                  </a:lnTo>
                  <a:lnTo>
                    <a:pt x="12" y="1157"/>
                  </a:lnTo>
                  <a:lnTo>
                    <a:pt x="0" y="1215"/>
                  </a:lnTo>
                  <a:lnTo>
                    <a:pt x="0" y="1272"/>
                  </a:lnTo>
                  <a:lnTo>
                    <a:pt x="12" y="1328"/>
                  </a:lnTo>
                  <a:lnTo>
                    <a:pt x="35" y="1383"/>
                  </a:lnTo>
                  <a:lnTo>
                    <a:pt x="71" y="1432"/>
                  </a:lnTo>
                  <a:lnTo>
                    <a:pt x="93" y="1455"/>
                  </a:lnTo>
                  <a:lnTo>
                    <a:pt x="117" y="1477"/>
                  </a:lnTo>
                  <a:lnTo>
                    <a:pt x="170" y="1510"/>
                  </a:lnTo>
                  <a:lnTo>
                    <a:pt x="228" y="1532"/>
                  </a:lnTo>
                  <a:lnTo>
                    <a:pt x="288" y="1543"/>
                  </a:lnTo>
                  <a:lnTo>
                    <a:pt x="319" y="1543"/>
                  </a:lnTo>
                  <a:lnTo>
                    <a:pt x="350" y="1543"/>
                  </a:lnTo>
                  <a:lnTo>
                    <a:pt x="411" y="1532"/>
                  </a:lnTo>
                  <a:lnTo>
                    <a:pt x="469" y="1510"/>
                  </a:lnTo>
                  <a:lnTo>
                    <a:pt x="522" y="1477"/>
                  </a:lnTo>
                  <a:lnTo>
                    <a:pt x="546" y="1455"/>
                  </a:lnTo>
                  <a:lnTo>
                    <a:pt x="601" y="1405"/>
                  </a:lnTo>
                  <a:lnTo>
                    <a:pt x="716" y="1308"/>
                  </a:lnTo>
                  <a:lnTo>
                    <a:pt x="834" y="1218"/>
                  </a:lnTo>
                  <a:lnTo>
                    <a:pt x="958" y="1134"/>
                  </a:lnTo>
                  <a:lnTo>
                    <a:pt x="1085" y="1056"/>
                  </a:lnTo>
                  <a:lnTo>
                    <a:pt x="1215" y="986"/>
                  </a:lnTo>
                  <a:lnTo>
                    <a:pt x="1349" y="922"/>
                  </a:lnTo>
                  <a:lnTo>
                    <a:pt x="1485" y="865"/>
                  </a:lnTo>
                  <a:lnTo>
                    <a:pt x="1625" y="813"/>
                  </a:lnTo>
                  <a:lnTo>
                    <a:pt x="1768" y="768"/>
                  </a:lnTo>
                  <a:lnTo>
                    <a:pt x="1985" y="712"/>
                  </a:lnTo>
                  <a:lnTo>
                    <a:pt x="2285" y="662"/>
                  </a:lnTo>
                  <a:lnTo>
                    <a:pt x="2590" y="636"/>
                  </a:lnTo>
                  <a:lnTo>
                    <a:pt x="2746" y="633"/>
                  </a:lnTo>
                  <a:lnTo>
                    <a:pt x="2901" y="636"/>
                  </a:lnTo>
                  <a:lnTo>
                    <a:pt x="3208" y="662"/>
                  </a:lnTo>
                  <a:lnTo>
                    <a:pt x="3506" y="712"/>
                  </a:lnTo>
                  <a:lnTo>
                    <a:pt x="3725" y="768"/>
                  </a:lnTo>
                  <a:lnTo>
                    <a:pt x="3868" y="813"/>
                  </a:lnTo>
                  <a:lnTo>
                    <a:pt x="4007" y="865"/>
                  </a:lnTo>
                  <a:lnTo>
                    <a:pt x="4144" y="922"/>
                  </a:lnTo>
                  <a:lnTo>
                    <a:pt x="4277" y="986"/>
                  </a:lnTo>
                  <a:lnTo>
                    <a:pt x="4408" y="1056"/>
                  </a:lnTo>
                  <a:lnTo>
                    <a:pt x="4534" y="1134"/>
                  </a:lnTo>
                  <a:lnTo>
                    <a:pt x="4657" y="1218"/>
                  </a:lnTo>
                  <a:lnTo>
                    <a:pt x="4776" y="1307"/>
                  </a:lnTo>
                  <a:lnTo>
                    <a:pt x="4890" y="1403"/>
                  </a:lnTo>
                  <a:lnTo>
                    <a:pt x="4946" y="1455"/>
                  </a:lnTo>
                  <a:lnTo>
                    <a:pt x="4969" y="1477"/>
                  </a:lnTo>
                  <a:lnTo>
                    <a:pt x="5023" y="1509"/>
                  </a:lnTo>
                  <a:lnTo>
                    <a:pt x="5082" y="1532"/>
                  </a:lnTo>
                  <a:lnTo>
                    <a:pt x="5142" y="1542"/>
                  </a:lnTo>
                  <a:lnTo>
                    <a:pt x="5203" y="1542"/>
                  </a:lnTo>
                  <a:lnTo>
                    <a:pt x="5263" y="1532"/>
                  </a:lnTo>
                  <a:lnTo>
                    <a:pt x="5322" y="1509"/>
                  </a:lnTo>
                  <a:lnTo>
                    <a:pt x="5375" y="1477"/>
                  </a:lnTo>
                  <a:lnTo>
                    <a:pt x="5399" y="1455"/>
                  </a:lnTo>
                  <a:lnTo>
                    <a:pt x="5422" y="1432"/>
                  </a:lnTo>
                  <a:lnTo>
                    <a:pt x="5456" y="1383"/>
                  </a:lnTo>
                  <a:lnTo>
                    <a:pt x="5481" y="1328"/>
                  </a:lnTo>
                  <a:lnTo>
                    <a:pt x="5492" y="1272"/>
                  </a:lnTo>
                  <a:lnTo>
                    <a:pt x="5492" y="1215"/>
                  </a:lnTo>
                  <a:lnTo>
                    <a:pt x="5481" y="1157"/>
                  </a:lnTo>
                  <a:lnTo>
                    <a:pt x="5456" y="1102"/>
                  </a:lnTo>
                  <a:lnTo>
                    <a:pt x="5422" y="1053"/>
                  </a:lnTo>
                  <a:lnTo>
                    <a:pt x="5399" y="1030"/>
                  </a:lnTo>
                  <a:close/>
                  <a:moveTo>
                    <a:pt x="2743" y="1202"/>
                  </a:moveTo>
                  <a:lnTo>
                    <a:pt x="2604" y="1203"/>
                  </a:lnTo>
                  <a:lnTo>
                    <a:pt x="2332" y="1230"/>
                  </a:lnTo>
                  <a:lnTo>
                    <a:pt x="2066" y="1282"/>
                  </a:lnTo>
                  <a:lnTo>
                    <a:pt x="1807" y="1360"/>
                  </a:lnTo>
                  <a:lnTo>
                    <a:pt x="1557" y="1462"/>
                  </a:lnTo>
                  <a:lnTo>
                    <a:pt x="1320" y="1589"/>
                  </a:lnTo>
                  <a:lnTo>
                    <a:pt x="1094" y="1739"/>
                  </a:lnTo>
                  <a:lnTo>
                    <a:pt x="882" y="1912"/>
                  </a:lnTo>
                  <a:lnTo>
                    <a:pt x="782" y="2008"/>
                  </a:lnTo>
                  <a:lnTo>
                    <a:pt x="759" y="2033"/>
                  </a:lnTo>
                  <a:lnTo>
                    <a:pt x="722" y="2088"/>
                  </a:lnTo>
                  <a:lnTo>
                    <a:pt x="698" y="2148"/>
                  </a:lnTo>
                  <a:lnTo>
                    <a:pt x="686" y="2211"/>
                  </a:lnTo>
                  <a:lnTo>
                    <a:pt x="686" y="2275"/>
                  </a:lnTo>
                  <a:lnTo>
                    <a:pt x="698" y="2337"/>
                  </a:lnTo>
                  <a:lnTo>
                    <a:pt x="722" y="2397"/>
                  </a:lnTo>
                  <a:lnTo>
                    <a:pt x="759" y="2452"/>
                  </a:lnTo>
                  <a:lnTo>
                    <a:pt x="782" y="2478"/>
                  </a:lnTo>
                  <a:lnTo>
                    <a:pt x="808" y="2501"/>
                  </a:lnTo>
                  <a:lnTo>
                    <a:pt x="863" y="2537"/>
                  </a:lnTo>
                  <a:lnTo>
                    <a:pt x="924" y="2561"/>
                  </a:lnTo>
                  <a:lnTo>
                    <a:pt x="987" y="2574"/>
                  </a:lnTo>
                  <a:lnTo>
                    <a:pt x="1019" y="2576"/>
                  </a:lnTo>
                  <a:lnTo>
                    <a:pt x="1052" y="2574"/>
                  </a:lnTo>
                  <a:lnTo>
                    <a:pt x="1115" y="2561"/>
                  </a:lnTo>
                  <a:lnTo>
                    <a:pt x="1176" y="2537"/>
                  </a:lnTo>
                  <a:lnTo>
                    <a:pt x="1230" y="2501"/>
                  </a:lnTo>
                  <a:lnTo>
                    <a:pt x="1256" y="2478"/>
                  </a:lnTo>
                  <a:lnTo>
                    <a:pt x="1331" y="2404"/>
                  </a:lnTo>
                  <a:lnTo>
                    <a:pt x="1493" y="2272"/>
                  </a:lnTo>
                  <a:lnTo>
                    <a:pt x="1664" y="2155"/>
                  </a:lnTo>
                  <a:lnTo>
                    <a:pt x="1844" y="2056"/>
                  </a:lnTo>
                  <a:lnTo>
                    <a:pt x="2033" y="1974"/>
                  </a:lnTo>
                  <a:lnTo>
                    <a:pt x="2229" y="1910"/>
                  </a:lnTo>
                  <a:lnTo>
                    <a:pt x="2432" y="1869"/>
                  </a:lnTo>
                  <a:lnTo>
                    <a:pt x="2638" y="1847"/>
                  </a:lnTo>
                  <a:lnTo>
                    <a:pt x="2743" y="1844"/>
                  </a:lnTo>
                  <a:lnTo>
                    <a:pt x="2848" y="1847"/>
                  </a:lnTo>
                  <a:lnTo>
                    <a:pt x="3055" y="1869"/>
                  </a:lnTo>
                  <a:lnTo>
                    <a:pt x="3257" y="1910"/>
                  </a:lnTo>
                  <a:lnTo>
                    <a:pt x="3453" y="1974"/>
                  </a:lnTo>
                  <a:lnTo>
                    <a:pt x="3643" y="2056"/>
                  </a:lnTo>
                  <a:lnTo>
                    <a:pt x="3823" y="2155"/>
                  </a:lnTo>
                  <a:lnTo>
                    <a:pt x="3994" y="2272"/>
                  </a:lnTo>
                  <a:lnTo>
                    <a:pt x="4154" y="2404"/>
                  </a:lnTo>
                  <a:lnTo>
                    <a:pt x="4230" y="2478"/>
                  </a:lnTo>
                  <a:lnTo>
                    <a:pt x="4255" y="2501"/>
                  </a:lnTo>
                  <a:lnTo>
                    <a:pt x="4311" y="2537"/>
                  </a:lnTo>
                  <a:lnTo>
                    <a:pt x="4372" y="2561"/>
                  </a:lnTo>
                  <a:lnTo>
                    <a:pt x="4435" y="2574"/>
                  </a:lnTo>
                  <a:lnTo>
                    <a:pt x="4500" y="2574"/>
                  </a:lnTo>
                  <a:lnTo>
                    <a:pt x="4562" y="2561"/>
                  </a:lnTo>
                  <a:lnTo>
                    <a:pt x="4622" y="2537"/>
                  </a:lnTo>
                  <a:lnTo>
                    <a:pt x="4678" y="2501"/>
                  </a:lnTo>
                  <a:lnTo>
                    <a:pt x="4703" y="2478"/>
                  </a:lnTo>
                  <a:lnTo>
                    <a:pt x="4727" y="2452"/>
                  </a:lnTo>
                  <a:lnTo>
                    <a:pt x="4763" y="2397"/>
                  </a:lnTo>
                  <a:lnTo>
                    <a:pt x="4788" y="2337"/>
                  </a:lnTo>
                  <a:lnTo>
                    <a:pt x="4801" y="2275"/>
                  </a:lnTo>
                  <a:lnTo>
                    <a:pt x="4801" y="2211"/>
                  </a:lnTo>
                  <a:lnTo>
                    <a:pt x="4788" y="2148"/>
                  </a:lnTo>
                  <a:lnTo>
                    <a:pt x="4763" y="2088"/>
                  </a:lnTo>
                  <a:lnTo>
                    <a:pt x="4727" y="2033"/>
                  </a:lnTo>
                  <a:lnTo>
                    <a:pt x="4703" y="2008"/>
                  </a:lnTo>
                  <a:lnTo>
                    <a:pt x="4603" y="1912"/>
                  </a:lnTo>
                  <a:lnTo>
                    <a:pt x="4392" y="1739"/>
                  </a:lnTo>
                  <a:lnTo>
                    <a:pt x="4167" y="1589"/>
                  </a:lnTo>
                  <a:lnTo>
                    <a:pt x="3928" y="1462"/>
                  </a:lnTo>
                  <a:lnTo>
                    <a:pt x="3679" y="1360"/>
                  </a:lnTo>
                  <a:lnTo>
                    <a:pt x="3421" y="1282"/>
                  </a:lnTo>
                  <a:lnTo>
                    <a:pt x="3155" y="1230"/>
                  </a:lnTo>
                  <a:lnTo>
                    <a:pt x="2881" y="1203"/>
                  </a:lnTo>
                  <a:lnTo>
                    <a:pt x="2743" y="1202"/>
                  </a:lnTo>
                  <a:close/>
                  <a:moveTo>
                    <a:pt x="2746" y="2403"/>
                  </a:moveTo>
                  <a:lnTo>
                    <a:pt x="2668" y="2404"/>
                  </a:lnTo>
                  <a:lnTo>
                    <a:pt x="2514" y="2420"/>
                  </a:lnTo>
                  <a:lnTo>
                    <a:pt x="2362" y="2451"/>
                  </a:lnTo>
                  <a:lnTo>
                    <a:pt x="2217" y="2497"/>
                  </a:lnTo>
                  <a:lnTo>
                    <a:pt x="2076" y="2556"/>
                  </a:lnTo>
                  <a:lnTo>
                    <a:pt x="1940" y="2631"/>
                  </a:lnTo>
                  <a:lnTo>
                    <a:pt x="1814" y="2719"/>
                  </a:lnTo>
                  <a:lnTo>
                    <a:pt x="1694" y="2819"/>
                  </a:lnTo>
                  <a:lnTo>
                    <a:pt x="1637" y="2876"/>
                  </a:lnTo>
                  <a:lnTo>
                    <a:pt x="1615" y="2900"/>
                  </a:lnTo>
                  <a:lnTo>
                    <a:pt x="1580" y="2955"/>
                  </a:lnTo>
                  <a:lnTo>
                    <a:pt x="1557" y="3012"/>
                  </a:lnTo>
                  <a:lnTo>
                    <a:pt x="1546" y="3074"/>
                  </a:lnTo>
                  <a:lnTo>
                    <a:pt x="1546" y="3136"/>
                  </a:lnTo>
                  <a:lnTo>
                    <a:pt x="1557" y="3197"/>
                  </a:lnTo>
                  <a:lnTo>
                    <a:pt x="1580" y="3256"/>
                  </a:lnTo>
                  <a:lnTo>
                    <a:pt x="1615" y="3309"/>
                  </a:lnTo>
                  <a:lnTo>
                    <a:pt x="1637" y="3334"/>
                  </a:lnTo>
                  <a:lnTo>
                    <a:pt x="1661" y="3357"/>
                  </a:lnTo>
                  <a:lnTo>
                    <a:pt x="1713" y="3393"/>
                  </a:lnTo>
                  <a:lnTo>
                    <a:pt x="1769" y="3416"/>
                  </a:lnTo>
                  <a:lnTo>
                    <a:pt x="1830" y="3427"/>
                  </a:lnTo>
                  <a:lnTo>
                    <a:pt x="1860" y="3429"/>
                  </a:lnTo>
                  <a:lnTo>
                    <a:pt x="1890" y="3427"/>
                  </a:lnTo>
                  <a:lnTo>
                    <a:pt x="1949" y="3416"/>
                  </a:lnTo>
                  <a:lnTo>
                    <a:pt x="2005" y="3393"/>
                  </a:lnTo>
                  <a:lnTo>
                    <a:pt x="2057" y="3357"/>
                  </a:lnTo>
                  <a:lnTo>
                    <a:pt x="2082" y="3334"/>
                  </a:lnTo>
                  <a:lnTo>
                    <a:pt x="2115" y="3300"/>
                  </a:lnTo>
                  <a:lnTo>
                    <a:pt x="2187" y="3239"/>
                  </a:lnTo>
                  <a:lnTo>
                    <a:pt x="2263" y="3184"/>
                  </a:lnTo>
                  <a:lnTo>
                    <a:pt x="2344" y="3138"/>
                  </a:lnTo>
                  <a:lnTo>
                    <a:pt x="2429" y="3100"/>
                  </a:lnTo>
                  <a:lnTo>
                    <a:pt x="2517" y="3070"/>
                  </a:lnTo>
                  <a:lnTo>
                    <a:pt x="2607" y="3051"/>
                  </a:lnTo>
                  <a:lnTo>
                    <a:pt x="2699" y="3041"/>
                  </a:lnTo>
                  <a:lnTo>
                    <a:pt x="2746" y="3040"/>
                  </a:lnTo>
                  <a:lnTo>
                    <a:pt x="2793" y="3040"/>
                  </a:lnTo>
                  <a:lnTo>
                    <a:pt x="2885" y="3051"/>
                  </a:lnTo>
                  <a:lnTo>
                    <a:pt x="2976" y="3070"/>
                  </a:lnTo>
                  <a:lnTo>
                    <a:pt x="3064" y="3100"/>
                  </a:lnTo>
                  <a:lnTo>
                    <a:pt x="3147" y="3138"/>
                  </a:lnTo>
                  <a:lnTo>
                    <a:pt x="3228" y="3184"/>
                  </a:lnTo>
                  <a:lnTo>
                    <a:pt x="3304" y="3239"/>
                  </a:lnTo>
                  <a:lnTo>
                    <a:pt x="3376" y="3300"/>
                  </a:lnTo>
                  <a:lnTo>
                    <a:pt x="3411" y="3334"/>
                  </a:lnTo>
                  <a:lnTo>
                    <a:pt x="3434" y="3357"/>
                  </a:lnTo>
                  <a:lnTo>
                    <a:pt x="3487" y="3393"/>
                  </a:lnTo>
                  <a:lnTo>
                    <a:pt x="3543" y="3416"/>
                  </a:lnTo>
                  <a:lnTo>
                    <a:pt x="3603" y="3427"/>
                  </a:lnTo>
                  <a:lnTo>
                    <a:pt x="3663" y="3427"/>
                  </a:lnTo>
                  <a:lnTo>
                    <a:pt x="3722" y="3416"/>
                  </a:lnTo>
                  <a:lnTo>
                    <a:pt x="3780" y="3393"/>
                  </a:lnTo>
                  <a:lnTo>
                    <a:pt x="3832" y="3357"/>
                  </a:lnTo>
                  <a:lnTo>
                    <a:pt x="3855" y="3334"/>
                  </a:lnTo>
                  <a:lnTo>
                    <a:pt x="3878" y="3309"/>
                  </a:lnTo>
                  <a:lnTo>
                    <a:pt x="3912" y="3256"/>
                  </a:lnTo>
                  <a:lnTo>
                    <a:pt x="3934" y="3197"/>
                  </a:lnTo>
                  <a:lnTo>
                    <a:pt x="3945" y="3136"/>
                  </a:lnTo>
                  <a:lnTo>
                    <a:pt x="3945" y="3074"/>
                  </a:lnTo>
                  <a:lnTo>
                    <a:pt x="3934" y="3012"/>
                  </a:lnTo>
                  <a:lnTo>
                    <a:pt x="3912" y="2955"/>
                  </a:lnTo>
                  <a:lnTo>
                    <a:pt x="3878" y="2900"/>
                  </a:lnTo>
                  <a:lnTo>
                    <a:pt x="3855" y="2876"/>
                  </a:lnTo>
                  <a:lnTo>
                    <a:pt x="3798" y="2819"/>
                  </a:lnTo>
                  <a:lnTo>
                    <a:pt x="3679" y="2719"/>
                  </a:lnTo>
                  <a:lnTo>
                    <a:pt x="3551" y="2631"/>
                  </a:lnTo>
                  <a:lnTo>
                    <a:pt x="3417" y="2556"/>
                  </a:lnTo>
                  <a:lnTo>
                    <a:pt x="3276" y="2497"/>
                  </a:lnTo>
                  <a:lnTo>
                    <a:pt x="3130" y="2451"/>
                  </a:lnTo>
                  <a:lnTo>
                    <a:pt x="2979" y="2420"/>
                  </a:lnTo>
                  <a:lnTo>
                    <a:pt x="2825" y="2404"/>
                  </a:lnTo>
                  <a:lnTo>
                    <a:pt x="2746" y="24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ko-KR" altLang="en-US" sz="1200">
                <a:solidFill>
                  <a:prstClr val="white"/>
                </a:solidFill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7FD5079-E914-F5C2-23A0-0DD733E7A024}"/>
                </a:ext>
              </a:extLst>
            </p:cNvPr>
            <p:cNvSpPr/>
            <p:nvPr/>
          </p:nvSpPr>
          <p:spPr>
            <a:xfrm>
              <a:off x="10142180" y="469971"/>
              <a:ext cx="524503" cy="1692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ko-KR" sz="500" kern="0" dirty="0">
                  <a:solidFill>
                    <a:prstClr val="white"/>
                  </a:solidFill>
                </a:rPr>
                <a:t>PPTBIZCAM</a:t>
              </a:r>
              <a:endParaRPr lang="ko-KR" altLang="en-US" sz="1200" dirty="0">
                <a:solidFill>
                  <a:prstClr val="white"/>
                </a:solidFill>
              </a:endParaRPr>
            </a:p>
          </p:txBody>
        </p:sp>
      </p:grp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ADF48B4-4276-EC8B-7B26-3E602E6CE8D0}"/>
              </a:ext>
            </a:extLst>
          </p:cNvPr>
          <p:cNvCxnSpPr/>
          <p:nvPr/>
        </p:nvCxnSpPr>
        <p:spPr>
          <a:xfrm>
            <a:off x="4688412" y="2302300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2F744C4-A608-292D-4A65-696DADDB1DD8}"/>
              </a:ext>
            </a:extLst>
          </p:cNvPr>
          <p:cNvSpPr txBox="1"/>
          <p:nvPr/>
        </p:nvSpPr>
        <p:spPr>
          <a:xfrm>
            <a:off x="7222548" y="2139601"/>
            <a:ext cx="3699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 err="1"/>
              <a:t>weekOffset</a:t>
            </a:r>
            <a:r>
              <a:rPr lang="ko-KR" altLang="en-US" sz="1500" dirty="0"/>
              <a:t>이 바뀔 때 자동으로 호출 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주차 이동 시 실시간 갱신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2B5875-9093-0116-5C77-001689834BD3}"/>
              </a:ext>
            </a:extLst>
          </p:cNvPr>
          <p:cNvSpPr txBox="1"/>
          <p:nvPr/>
        </p:nvSpPr>
        <p:spPr>
          <a:xfrm>
            <a:off x="7244908" y="4320337"/>
            <a:ext cx="37251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서버 응답</a:t>
            </a:r>
            <a:r>
              <a:rPr lang="en-US" altLang="ko-KR" sz="1500" dirty="0"/>
              <a:t>(</a:t>
            </a:r>
            <a:r>
              <a:rPr lang="en-US" altLang="ko-KR" sz="1500" dirty="0" err="1"/>
              <a:t>res.data</a:t>
            </a:r>
            <a:r>
              <a:rPr lang="en-US" altLang="ko-KR" sz="1500" dirty="0"/>
              <a:t>)</a:t>
            </a:r>
            <a:r>
              <a:rPr lang="ko-KR" altLang="en-US" sz="1500" dirty="0"/>
              <a:t>을 </a:t>
            </a:r>
            <a:r>
              <a:rPr lang="en-US" altLang="ko-KR" sz="1500" dirty="0" err="1"/>
              <a:t>weekData</a:t>
            </a:r>
            <a:r>
              <a:rPr lang="en-US" altLang="ko-KR" sz="1500" dirty="0"/>
              <a:t> </a:t>
            </a:r>
            <a:r>
              <a:rPr lang="ko-KR" altLang="en-US" sz="1500" dirty="0"/>
              <a:t>저장 </a:t>
            </a:r>
            <a:endParaRPr lang="en-US" altLang="ko-KR" sz="1500" dirty="0"/>
          </a:p>
          <a:p>
            <a:r>
              <a:rPr lang="en-US" altLang="ko-KR" sz="1500" dirty="0"/>
              <a:t>    UI </a:t>
            </a:r>
            <a:r>
              <a:rPr lang="ko-KR" altLang="en-US" sz="1500" dirty="0"/>
              <a:t>즉시 렌더링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요청 중 </a:t>
            </a:r>
            <a:r>
              <a:rPr lang="en-US" altLang="ko-KR" sz="1500" dirty="0" err="1"/>
              <a:t>setLoading</a:t>
            </a:r>
            <a:r>
              <a:rPr lang="en-US" altLang="ko-KR" sz="1500" dirty="0"/>
              <a:t>(true)</a:t>
            </a:r>
          </a:p>
          <a:p>
            <a:r>
              <a:rPr lang="en-US" altLang="ko-KR" sz="1500" dirty="0"/>
              <a:t>    </a:t>
            </a:r>
            <a:r>
              <a:rPr lang="ko-KR" altLang="en-US" sz="1500" dirty="0"/>
              <a:t>응답 후 </a:t>
            </a:r>
            <a:r>
              <a:rPr lang="en-US" altLang="ko-KR" sz="1500" dirty="0" err="1"/>
              <a:t>setLoading</a:t>
            </a:r>
            <a:r>
              <a:rPr lang="en-US" altLang="ko-KR" sz="1500" dirty="0"/>
              <a:t>(false)</a:t>
            </a:r>
            <a:endParaRPr lang="ko-KR" altLang="en-US" sz="15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30263634-0417-35FE-7718-97563829F018}"/>
              </a:ext>
            </a:extLst>
          </p:cNvPr>
          <p:cNvCxnSpPr/>
          <p:nvPr/>
        </p:nvCxnSpPr>
        <p:spPr>
          <a:xfrm>
            <a:off x="4688412" y="3264768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7FD1113-BF08-57E9-DC27-041AD93C10EC}"/>
              </a:ext>
            </a:extLst>
          </p:cNvPr>
          <p:cNvSpPr txBox="1"/>
          <p:nvPr/>
        </p:nvSpPr>
        <p:spPr>
          <a:xfrm>
            <a:off x="7222548" y="3128783"/>
            <a:ext cx="411414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/>
              <a:t>GET /</a:t>
            </a:r>
            <a:r>
              <a:rPr lang="en-US" altLang="ko-KR" sz="1500" dirty="0" err="1"/>
              <a:t>api</a:t>
            </a:r>
            <a:r>
              <a:rPr lang="en-US" altLang="ko-KR" sz="1500" dirty="0"/>
              <a:t>/timetable/</a:t>
            </a:r>
            <a:r>
              <a:rPr lang="en-US" altLang="ko-KR" sz="1500" dirty="0" err="1"/>
              <a:t>week?startDate</a:t>
            </a:r>
            <a:r>
              <a:rPr lang="en-US" altLang="ko-KR" sz="1500" dirty="0"/>
              <a:t>=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/>
              <a:t>{</a:t>
            </a:r>
            <a:r>
              <a:rPr lang="en-US" altLang="ko-KR" sz="1500" dirty="0" err="1"/>
              <a:t>selectedMonday</a:t>
            </a:r>
            <a:r>
              <a:rPr lang="en-US" altLang="ko-KR" sz="1500" dirty="0"/>
              <a:t>} → </a:t>
            </a:r>
            <a:r>
              <a:rPr lang="en-US" altLang="ko-KR" sz="1500" dirty="0" err="1"/>
              <a:t>withCredentials</a:t>
            </a:r>
            <a:r>
              <a:rPr lang="en-US" altLang="ko-KR" sz="1500" dirty="0"/>
              <a:t>: true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 쿠키 기반 인증 포함한 요청 구조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34BE58C-08F5-FCA6-5D6D-B831C95AD7CF}"/>
              </a:ext>
            </a:extLst>
          </p:cNvPr>
          <p:cNvCxnSpPr/>
          <p:nvPr/>
        </p:nvCxnSpPr>
        <p:spPr>
          <a:xfrm>
            <a:off x="4688412" y="4456520"/>
            <a:ext cx="245225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85047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550A7C-FC58-1D3C-221A-D9A04336B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위쪽 모서리 4">
            <a:extLst>
              <a:ext uri="{FF2B5EF4-FFF2-40B4-BE49-F238E27FC236}">
                <a16:creationId xmlns:a16="http://schemas.microsoft.com/office/drawing/2014/main" id="{B2802604-3D6B-9195-4FCC-FF8215458204}"/>
              </a:ext>
            </a:extLst>
          </p:cNvPr>
          <p:cNvSpPr/>
          <p:nvPr/>
        </p:nvSpPr>
        <p:spPr>
          <a:xfrm>
            <a:off x="224117" y="242048"/>
            <a:ext cx="11743765" cy="6477930"/>
          </a:xfrm>
          <a:prstGeom prst="round2SameRect">
            <a:avLst>
              <a:gd name="adj1" fmla="val 3794"/>
              <a:gd name="adj2" fmla="val 0"/>
            </a:avLst>
          </a:prstGeom>
          <a:gradFill flip="none" rotWithShape="1">
            <a:gsLst>
              <a:gs pos="8000">
                <a:srgbClr val="FFB1B1"/>
              </a:gs>
              <a:gs pos="8000">
                <a:schemeClr val="bg1"/>
              </a:gs>
            </a:gsLst>
            <a:lin ang="5400000" scaled="1"/>
            <a:tileRect/>
          </a:gradFill>
          <a:ln>
            <a:noFill/>
          </a:ln>
          <a:effectLst>
            <a:outerShdw blurRad="152400" dist="63500" dir="18900000" algn="b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0850">
              <a:defRPr/>
            </a:pPr>
            <a:r>
              <a:rPr lang="ko-KR" altLang="en-US" sz="2400" b="1" dirty="0" err="1">
                <a:solidFill>
                  <a:prstClr val="white"/>
                </a:solidFill>
                <a:ea typeface="Tmon몬소리 Black" panose="02000A03000000000000"/>
              </a:rPr>
              <a:t>피부피부씰</a:t>
            </a:r>
            <a:r>
              <a:rPr lang="en-US" altLang="ko-KR" sz="2400" b="1" dirty="0">
                <a:solidFill>
                  <a:prstClr val="white"/>
                </a:solidFill>
                <a:ea typeface="Tmon몬소리 Black" panose="02000A03000000000000"/>
              </a:rPr>
              <a:t>(</a:t>
            </a:r>
            <a:r>
              <a:rPr lang="en-US" altLang="ko-KR" sz="2400" b="1" dirty="0" err="1">
                <a:solidFill>
                  <a:prstClr val="white"/>
                </a:solidFill>
                <a:ea typeface="Tmon몬소리 Black" panose="02000A03000000000000"/>
              </a:rPr>
              <a:t>SkinSeal</a:t>
            </a:r>
            <a:r>
              <a:rPr lang="en-US" altLang="ko-KR" sz="2400" b="1" dirty="0">
                <a:solidFill>
                  <a:prstClr val="white"/>
                </a:solidFill>
                <a:ea typeface="Tmon몬소리 Black" panose="02000A03000000000000"/>
              </a:rPr>
              <a:t>)</a:t>
            </a:r>
            <a:endParaRPr lang="ko-KR" altLang="en-US" sz="2000" dirty="0">
              <a:solidFill>
                <a:prstClr val="whit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F302E0-5C23-42A6-A917-D541F7768B9C}"/>
              </a:ext>
            </a:extLst>
          </p:cNvPr>
          <p:cNvSpPr txBox="1"/>
          <p:nvPr/>
        </p:nvSpPr>
        <p:spPr>
          <a:xfrm>
            <a:off x="2534264" y="2949858"/>
            <a:ext cx="71234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1524000" algn="l"/>
                <a:tab pos="2419350" algn="l"/>
              </a:tabLst>
              <a:defRPr/>
            </a:pPr>
            <a:r>
              <a:rPr lang="ko-KR" altLang="en-US" sz="6000" b="1" kern="0" dirty="0">
                <a:ln w="15875">
                  <a:noFill/>
                </a:ln>
                <a:solidFill>
                  <a:srgbClr val="99CC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감사합니다</a:t>
            </a:r>
            <a:r>
              <a:rPr lang="en-US" altLang="ko-KR" sz="6000" b="1" kern="0" dirty="0">
                <a:ln w="15875">
                  <a:noFill/>
                </a:ln>
                <a:solidFill>
                  <a:srgbClr val="99CCFF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.</a:t>
            </a:r>
          </a:p>
          <a:p>
            <a:pPr algn="ctr">
              <a:tabLst>
                <a:tab pos="1524000" algn="l"/>
                <a:tab pos="2419350" algn="l"/>
              </a:tabLst>
              <a:defRPr/>
            </a:pPr>
            <a:r>
              <a:rPr lang="en-US" altLang="ko-KR" sz="1200" i="1" kern="0" dirty="0">
                <a:ln w="15875">
                  <a:noFill/>
                </a:ln>
                <a:solidFill>
                  <a:prstClr val="white">
                    <a:lumMod val="75000"/>
                  </a:prstClr>
                </a:solidFill>
              </a:rPr>
              <a:t>Enjoy your stylish business and campus life with BIZCAM</a:t>
            </a:r>
            <a:endParaRPr lang="ko-KR" altLang="en-US" sz="4000" dirty="0">
              <a:solidFill>
                <a:prstClr val="white">
                  <a:lumMod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1108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2933</TotalTime>
  <Words>2979</Words>
  <Application>Microsoft Office PowerPoint</Application>
  <PresentationFormat>와이드스크린</PresentationFormat>
  <Paragraphs>1010</Paragraphs>
  <Slides>71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71</vt:i4>
      </vt:variant>
    </vt:vector>
  </HeadingPairs>
  <TitlesOfParts>
    <vt:vector size="76" baseType="lpstr">
      <vt:lpstr>Tmon몬소리 Black</vt:lpstr>
      <vt:lpstr>맑은 고딕</vt:lpstr>
      <vt:lpstr>맑은 고딕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강의1_12</cp:lastModifiedBy>
  <cp:revision>443</cp:revision>
  <dcterms:created xsi:type="dcterms:W3CDTF">2023-05-09T08:17:17Z</dcterms:created>
  <dcterms:modified xsi:type="dcterms:W3CDTF">2025-11-03T02:49:46Z</dcterms:modified>
</cp:coreProperties>
</file>